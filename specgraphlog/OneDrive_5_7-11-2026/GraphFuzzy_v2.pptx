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0"/>
  </p:notesMasterIdLst>
  <p:sldIdLst>
    <p:sldId id="256" r:id="rId2"/>
    <p:sldId id="309" r:id="rId3"/>
    <p:sldId id="263" r:id="rId4"/>
    <p:sldId id="265" r:id="rId5"/>
    <p:sldId id="428" r:id="rId6"/>
    <p:sldId id="521" r:id="rId7"/>
    <p:sldId id="429" r:id="rId8"/>
    <p:sldId id="524" r:id="rId9"/>
    <p:sldId id="431" r:id="rId10"/>
    <p:sldId id="434" r:id="rId11"/>
    <p:sldId id="449" r:id="rId12"/>
    <p:sldId id="430" r:id="rId13"/>
    <p:sldId id="522" r:id="rId14"/>
    <p:sldId id="432" r:id="rId15"/>
    <p:sldId id="433" r:id="rId16"/>
    <p:sldId id="511" r:id="rId17"/>
    <p:sldId id="438" r:id="rId18"/>
    <p:sldId id="448" r:id="rId19"/>
    <p:sldId id="462" r:id="rId20"/>
    <p:sldId id="435" r:id="rId21"/>
    <p:sldId id="436" r:id="rId22"/>
    <p:sldId id="439" r:id="rId23"/>
    <p:sldId id="519" r:id="rId24"/>
    <p:sldId id="531" r:id="rId25"/>
    <p:sldId id="437" r:id="rId26"/>
    <p:sldId id="441" r:id="rId27"/>
    <p:sldId id="525" r:id="rId28"/>
    <p:sldId id="444" r:id="rId29"/>
    <p:sldId id="445" r:id="rId30"/>
    <p:sldId id="442" r:id="rId31"/>
    <p:sldId id="440" r:id="rId32"/>
    <p:sldId id="446" r:id="rId33"/>
    <p:sldId id="447" r:id="rId34"/>
    <p:sldId id="450" r:id="rId35"/>
    <p:sldId id="518" r:id="rId36"/>
    <p:sldId id="512" r:id="rId37"/>
    <p:sldId id="532" r:id="rId38"/>
    <p:sldId id="451" r:id="rId39"/>
    <p:sldId id="452" r:id="rId40"/>
    <p:sldId id="453" r:id="rId41"/>
    <p:sldId id="454" r:id="rId42"/>
    <p:sldId id="455" r:id="rId43"/>
    <p:sldId id="456" r:id="rId44"/>
    <p:sldId id="457" r:id="rId45"/>
    <p:sldId id="458" r:id="rId46"/>
    <p:sldId id="460" r:id="rId47"/>
    <p:sldId id="461" r:id="rId48"/>
    <p:sldId id="534" r:id="rId49"/>
    <p:sldId id="459" r:id="rId50"/>
    <p:sldId id="513" r:id="rId51"/>
    <p:sldId id="514" r:id="rId52"/>
    <p:sldId id="516" r:id="rId53"/>
    <p:sldId id="515" r:id="rId54"/>
    <p:sldId id="537" r:id="rId55"/>
    <p:sldId id="538" r:id="rId56"/>
    <p:sldId id="464" r:id="rId57"/>
    <p:sldId id="517" r:id="rId58"/>
    <p:sldId id="466" r:id="rId59"/>
    <p:sldId id="535" r:id="rId60"/>
    <p:sldId id="536" r:id="rId61"/>
    <p:sldId id="465" r:id="rId62"/>
    <p:sldId id="463" r:id="rId63"/>
    <p:sldId id="467" r:id="rId64"/>
    <p:sldId id="469" r:id="rId65"/>
    <p:sldId id="470" r:id="rId66"/>
    <p:sldId id="471" r:id="rId67"/>
    <p:sldId id="472" r:id="rId68"/>
    <p:sldId id="473" r:id="rId69"/>
    <p:sldId id="474" r:id="rId70"/>
    <p:sldId id="479" r:id="rId71"/>
    <p:sldId id="527" r:id="rId72"/>
    <p:sldId id="528" r:id="rId73"/>
    <p:sldId id="477" r:id="rId74"/>
    <p:sldId id="365" r:id="rId75"/>
    <p:sldId id="366" r:id="rId76"/>
    <p:sldId id="367" r:id="rId77"/>
    <p:sldId id="368" r:id="rId78"/>
    <p:sldId id="539" r:id="rId79"/>
    <p:sldId id="523" r:id="rId80"/>
    <p:sldId id="475" r:id="rId81"/>
    <p:sldId id="476" r:id="rId82"/>
    <p:sldId id="478" r:id="rId83"/>
    <p:sldId id="480" r:id="rId84"/>
    <p:sldId id="481" r:id="rId85"/>
    <p:sldId id="540" r:id="rId86"/>
    <p:sldId id="483" r:id="rId87"/>
    <p:sldId id="497" r:id="rId88"/>
    <p:sldId id="498" r:id="rId89"/>
    <p:sldId id="485" r:id="rId90"/>
    <p:sldId id="529" r:id="rId91"/>
    <p:sldId id="530" r:id="rId92"/>
    <p:sldId id="482" r:id="rId93"/>
    <p:sldId id="489" r:id="rId94"/>
    <p:sldId id="484" r:id="rId95"/>
    <p:sldId id="490" r:id="rId96"/>
    <p:sldId id="486" r:id="rId97"/>
    <p:sldId id="541" r:id="rId98"/>
    <p:sldId id="492" r:id="rId99"/>
    <p:sldId id="562" r:id="rId100"/>
    <p:sldId id="493" r:id="rId101"/>
    <p:sldId id="542" r:id="rId102"/>
    <p:sldId id="543" r:id="rId103"/>
    <p:sldId id="494" r:id="rId104"/>
    <p:sldId id="544" r:id="rId105"/>
    <p:sldId id="545" r:id="rId106"/>
    <p:sldId id="560" r:id="rId107"/>
    <p:sldId id="546" r:id="rId108"/>
    <p:sldId id="547" r:id="rId109"/>
    <p:sldId id="496" r:id="rId110"/>
    <p:sldId id="487" r:id="rId111"/>
    <p:sldId id="488" r:id="rId112"/>
    <p:sldId id="499" r:id="rId113"/>
    <p:sldId id="548" r:id="rId114"/>
    <p:sldId id="500" r:id="rId115"/>
    <p:sldId id="501" r:id="rId116"/>
    <p:sldId id="504" r:id="rId117"/>
    <p:sldId id="503" r:id="rId118"/>
    <p:sldId id="561" r:id="rId119"/>
    <p:sldId id="563" r:id="rId120"/>
    <p:sldId id="549" r:id="rId121"/>
    <p:sldId id="550" r:id="rId122"/>
    <p:sldId id="551" r:id="rId123"/>
    <p:sldId id="557" r:id="rId124"/>
    <p:sldId id="552" r:id="rId125"/>
    <p:sldId id="507" r:id="rId126"/>
    <p:sldId id="553" r:id="rId127"/>
    <p:sldId id="506" r:id="rId128"/>
    <p:sldId id="555" r:id="rId129"/>
    <p:sldId id="508" r:id="rId130"/>
    <p:sldId id="554" r:id="rId131"/>
    <p:sldId id="556" r:id="rId132"/>
    <p:sldId id="559" r:id="rId133"/>
    <p:sldId id="505" r:id="rId134"/>
    <p:sldId id="509" r:id="rId135"/>
    <p:sldId id="510" r:id="rId136"/>
    <p:sldId id="558" r:id="rId137"/>
    <p:sldId id="526" r:id="rId138"/>
    <p:sldId id="307" r:id="rId1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E9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5082" autoAdjust="0"/>
  </p:normalViewPr>
  <p:slideViewPr>
    <p:cSldViewPr snapToGrid="0">
      <p:cViewPr varScale="1">
        <p:scale>
          <a:sx n="92" d="100"/>
          <a:sy n="92" d="100"/>
        </p:scale>
        <p:origin x="13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notesMaster" Target="notesMasters/notesMaster1.xml"/><Relationship Id="rId14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l Dintsis" userId="63c581cc1daad81c" providerId="LiveId" clId="{656FAEA8-EA46-4D92-A24D-D32F6A862FA9}"/>
    <pc:docChg chg="modSld">
      <pc:chgData name="Danil Dintsis" userId="63c581cc1daad81c" providerId="LiveId" clId="{656FAEA8-EA46-4D92-A24D-D32F6A862FA9}" dt="2021-12-10T13:04:33.504" v="3" actId="20577"/>
      <pc:docMkLst>
        <pc:docMk/>
      </pc:docMkLst>
      <pc:sldChg chg="modSp mod">
        <pc:chgData name="Danil Dintsis" userId="63c581cc1daad81c" providerId="LiveId" clId="{656FAEA8-EA46-4D92-A24D-D32F6A862FA9}" dt="2021-12-10T13:04:33.504" v="3" actId="20577"/>
        <pc:sldMkLst>
          <pc:docMk/>
          <pc:sldMk cId="3645517959" sldId="558"/>
        </pc:sldMkLst>
        <pc:spChg chg="mod">
          <ac:chgData name="Danil Dintsis" userId="63c581cc1daad81c" providerId="LiveId" clId="{656FAEA8-EA46-4D92-A24D-D32F6A862FA9}" dt="2021-12-10T13:04:33.504" v="3" actId="20577"/>
          <ac:spMkLst>
            <pc:docMk/>
            <pc:sldMk cId="3645517959" sldId="558"/>
            <ac:spMk id="2" creationId="{9889CBCC-7753-4B46-9ABE-693A57061A58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4" Type="http://schemas.openxmlformats.org/officeDocument/2006/relationships/image" Target="../media/image8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4" Type="http://schemas.openxmlformats.org/officeDocument/2006/relationships/image" Target="../media/image8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A61B88-4B63-4CD9-9B83-9F40F827BBCC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BFE2A09-2983-4549-9778-93CAA8D8A5DA}">
      <dgm:prSet phldrT="[Text]"/>
      <dgm:spPr/>
      <dgm:t>
        <a:bodyPr/>
        <a:lstStyle/>
        <a:p>
          <a:r>
            <a:rPr lang="ru-RU" dirty="0"/>
            <a:t>Ранец</a:t>
          </a:r>
          <a:r>
            <a:rPr lang="en-US" dirty="0"/>
            <a:t> = 50</a:t>
          </a:r>
          <a:r>
            <a:rPr lang="ru-RU" dirty="0"/>
            <a:t> кг</a:t>
          </a:r>
        </a:p>
      </dgm:t>
    </dgm:pt>
    <dgm:pt modelId="{83EDC593-4924-4FA3-82E8-D5CF42BD4A4D}" type="parTrans" cxnId="{BB70DADE-FD97-4A13-A7E9-838CC7557123}">
      <dgm:prSet/>
      <dgm:spPr/>
      <dgm:t>
        <a:bodyPr/>
        <a:lstStyle/>
        <a:p>
          <a:endParaRPr lang="ru-RU"/>
        </a:p>
      </dgm:t>
    </dgm:pt>
    <dgm:pt modelId="{61E7688F-CC3A-4AA2-8ECE-098933901863}" type="sibTrans" cxnId="{BB70DADE-FD97-4A13-A7E9-838CC7557123}">
      <dgm:prSet/>
      <dgm:spPr/>
      <dgm:t>
        <a:bodyPr/>
        <a:lstStyle/>
        <a:p>
          <a:endParaRPr lang="ru-RU"/>
        </a:p>
      </dgm:t>
    </dgm:pt>
    <dgm:pt modelId="{7E1405CD-9FBC-4DC2-9BA4-9672F33E20FC}">
      <dgm:prSet phldrT="[Text]"/>
      <dgm:spPr/>
      <dgm:t>
        <a:bodyPr/>
        <a:lstStyle/>
        <a:p>
          <a:r>
            <a:rPr lang="ru-RU" dirty="0"/>
            <a:t>10кг</a:t>
          </a:r>
        </a:p>
      </dgm:t>
    </dgm:pt>
    <dgm:pt modelId="{99CCFA6D-74F9-44F0-922D-1704D21C836A}" type="parTrans" cxnId="{06295BC1-58BE-48D9-B163-152387F4FB5F}">
      <dgm:prSet/>
      <dgm:spPr/>
      <dgm:t>
        <a:bodyPr/>
        <a:lstStyle/>
        <a:p>
          <a:endParaRPr lang="ru-RU"/>
        </a:p>
      </dgm:t>
    </dgm:pt>
    <dgm:pt modelId="{247B611F-8C5F-4D4C-848F-E4C263DB5EC1}" type="sibTrans" cxnId="{06295BC1-58BE-48D9-B163-152387F4FB5F}">
      <dgm:prSet/>
      <dgm:spPr/>
      <dgm:t>
        <a:bodyPr/>
        <a:lstStyle/>
        <a:p>
          <a:endParaRPr lang="ru-RU"/>
        </a:p>
      </dgm:t>
    </dgm:pt>
    <dgm:pt modelId="{E3E9D959-F32E-4D58-BB5B-AD3BD94760F0}">
      <dgm:prSet phldrT="[Text]"/>
      <dgm:spPr/>
      <dgm:t>
        <a:bodyPr/>
        <a:lstStyle/>
        <a:p>
          <a:r>
            <a:rPr lang="ru-RU" dirty="0"/>
            <a:t>20кг</a:t>
          </a:r>
        </a:p>
      </dgm:t>
    </dgm:pt>
    <dgm:pt modelId="{1588EB82-839B-44AA-88BB-FB02F0229FC5}" type="parTrans" cxnId="{F4FD17BE-8E04-44AD-A36C-34301291122B}">
      <dgm:prSet/>
      <dgm:spPr/>
      <dgm:t>
        <a:bodyPr/>
        <a:lstStyle/>
        <a:p>
          <a:endParaRPr lang="ru-RU"/>
        </a:p>
      </dgm:t>
    </dgm:pt>
    <dgm:pt modelId="{B4934EF0-23DF-4B5E-8605-FEDA37C54416}" type="sibTrans" cxnId="{F4FD17BE-8E04-44AD-A36C-34301291122B}">
      <dgm:prSet/>
      <dgm:spPr/>
      <dgm:t>
        <a:bodyPr/>
        <a:lstStyle/>
        <a:p>
          <a:endParaRPr lang="ru-RU"/>
        </a:p>
      </dgm:t>
    </dgm:pt>
    <dgm:pt modelId="{47115CE7-7681-4538-8D54-AFAE324FF909}">
      <dgm:prSet phldrT="[Text]"/>
      <dgm:spPr/>
      <dgm:t>
        <a:bodyPr/>
        <a:lstStyle/>
        <a:p>
          <a:r>
            <a:rPr lang="ru-RU" dirty="0"/>
            <a:t>30кг</a:t>
          </a:r>
        </a:p>
      </dgm:t>
    </dgm:pt>
    <dgm:pt modelId="{F46228D5-29E7-4B7D-ACA9-5C733A2B1B09}" type="parTrans" cxnId="{486B97A6-9402-4332-928C-800803C874F6}">
      <dgm:prSet/>
      <dgm:spPr/>
      <dgm:t>
        <a:bodyPr/>
        <a:lstStyle/>
        <a:p>
          <a:endParaRPr lang="ru-RU"/>
        </a:p>
      </dgm:t>
    </dgm:pt>
    <dgm:pt modelId="{5D8ACA11-3C66-45C1-9CDD-55145145D481}" type="sibTrans" cxnId="{486B97A6-9402-4332-928C-800803C874F6}">
      <dgm:prSet/>
      <dgm:spPr/>
      <dgm:t>
        <a:bodyPr/>
        <a:lstStyle/>
        <a:p>
          <a:endParaRPr lang="ru-RU"/>
        </a:p>
      </dgm:t>
    </dgm:pt>
    <dgm:pt modelId="{0BC1CFFE-3E2F-4831-B734-756A9C38BB5E}">
      <dgm:prSet phldrT="[Text]"/>
      <dgm:spPr/>
      <dgm:t>
        <a:bodyPr/>
        <a:lstStyle/>
        <a:p>
          <a:r>
            <a:rPr lang="ru-RU" dirty="0"/>
            <a:t>20кг</a:t>
          </a:r>
        </a:p>
      </dgm:t>
    </dgm:pt>
    <dgm:pt modelId="{E1E9A403-73A1-445B-9963-28553F7A3905}" type="parTrans" cxnId="{B6F2A5B3-5069-4366-A069-23502EE16C98}">
      <dgm:prSet/>
      <dgm:spPr/>
      <dgm:t>
        <a:bodyPr/>
        <a:lstStyle/>
        <a:p>
          <a:endParaRPr lang="ru-RU"/>
        </a:p>
      </dgm:t>
    </dgm:pt>
    <dgm:pt modelId="{1A5D0830-A598-4287-A440-4E57E3AEEFBA}" type="sibTrans" cxnId="{B6F2A5B3-5069-4366-A069-23502EE16C98}">
      <dgm:prSet/>
      <dgm:spPr/>
      <dgm:t>
        <a:bodyPr/>
        <a:lstStyle/>
        <a:p>
          <a:endParaRPr lang="ru-RU"/>
        </a:p>
      </dgm:t>
    </dgm:pt>
    <dgm:pt modelId="{0EE27461-A7EC-46FA-85DB-311467944CBD}">
      <dgm:prSet phldrT="[Text]"/>
      <dgm:spPr/>
      <dgm:t>
        <a:bodyPr/>
        <a:lstStyle/>
        <a:p>
          <a:r>
            <a:rPr lang="ru-RU" dirty="0"/>
            <a:t>10 кг</a:t>
          </a:r>
        </a:p>
      </dgm:t>
    </dgm:pt>
    <dgm:pt modelId="{C8C235CA-0247-40D2-A02E-C2C4423796F9}" type="parTrans" cxnId="{3A58C243-4A6C-49C2-BB18-C0B68FBFDC1F}">
      <dgm:prSet/>
      <dgm:spPr/>
      <dgm:t>
        <a:bodyPr/>
        <a:lstStyle/>
        <a:p>
          <a:endParaRPr lang="ru-RU"/>
        </a:p>
      </dgm:t>
    </dgm:pt>
    <dgm:pt modelId="{A823DEE4-6BD6-4461-BCFE-182BB9FCC488}" type="sibTrans" cxnId="{3A58C243-4A6C-49C2-BB18-C0B68FBFDC1F}">
      <dgm:prSet/>
      <dgm:spPr/>
      <dgm:t>
        <a:bodyPr/>
        <a:lstStyle/>
        <a:p>
          <a:endParaRPr lang="ru-RU"/>
        </a:p>
      </dgm:t>
    </dgm:pt>
    <dgm:pt modelId="{A2281CB1-22D0-42E6-BB7F-632C37E2C25E}">
      <dgm:prSet/>
      <dgm:spPr/>
      <dgm:t>
        <a:bodyPr/>
        <a:lstStyle/>
        <a:p>
          <a:endParaRPr lang="ru-RU"/>
        </a:p>
      </dgm:t>
    </dgm:pt>
    <dgm:pt modelId="{3F46DD5C-2EC9-481B-ACA6-B1002783E8B9}" type="parTrans" cxnId="{7ED637B6-148A-4EF4-8DBD-73790455BC03}">
      <dgm:prSet/>
      <dgm:spPr/>
      <dgm:t>
        <a:bodyPr/>
        <a:lstStyle/>
        <a:p>
          <a:endParaRPr lang="ru-RU"/>
        </a:p>
      </dgm:t>
    </dgm:pt>
    <dgm:pt modelId="{55BDA387-2413-4C1E-B546-E06A5AA2F31C}" type="sibTrans" cxnId="{7ED637B6-148A-4EF4-8DBD-73790455BC03}">
      <dgm:prSet/>
      <dgm:spPr/>
      <dgm:t>
        <a:bodyPr/>
        <a:lstStyle/>
        <a:p>
          <a:endParaRPr lang="ru-RU"/>
        </a:p>
      </dgm:t>
    </dgm:pt>
    <dgm:pt modelId="{F6EA6C77-2217-4D3E-BE1B-C0420B77C730}">
      <dgm:prSet/>
      <dgm:spPr/>
      <dgm:t>
        <a:bodyPr/>
        <a:lstStyle/>
        <a:p>
          <a:endParaRPr lang="ru-RU"/>
        </a:p>
      </dgm:t>
    </dgm:pt>
    <dgm:pt modelId="{278871B1-BEFD-4B35-81EB-1D0275E7FE09}" type="parTrans" cxnId="{322C95A2-A924-49ED-8E90-C712B9B074AF}">
      <dgm:prSet/>
      <dgm:spPr/>
      <dgm:t>
        <a:bodyPr/>
        <a:lstStyle/>
        <a:p>
          <a:endParaRPr lang="ru-RU"/>
        </a:p>
      </dgm:t>
    </dgm:pt>
    <dgm:pt modelId="{A6D68B69-AE35-46A7-B1EB-6424E95D0AAC}" type="sibTrans" cxnId="{322C95A2-A924-49ED-8E90-C712B9B074AF}">
      <dgm:prSet/>
      <dgm:spPr/>
      <dgm:t>
        <a:bodyPr/>
        <a:lstStyle/>
        <a:p>
          <a:endParaRPr lang="ru-RU"/>
        </a:p>
      </dgm:t>
    </dgm:pt>
    <dgm:pt modelId="{750D6A52-7F0A-4988-BC27-9F659897B723}">
      <dgm:prSet/>
      <dgm:spPr/>
      <dgm:t>
        <a:bodyPr/>
        <a:lstStyle/>
        <a:p>
          <a:endParaRPr lang="ru-RU"/>
        </a:p>
      </dgm:t>
    </dgm:pt>
    <dgm:pt modelId="{7B8D5328-5351-4DBF-8ABE-A35ABB6793F1}" type="parTrans" cxnId="{AD8575A2-F48A-4D28-8685-46EA64519BB2}">
      <dgm:prSet/>
      <dgm:spPr/>
      <dgm:t>
        <a:bodyPr/>
        <a:lstStyle/>
        <a:p>
          <a:endParaRPr lang="ru-RU"/>
        </a:p>
      </dgm:t>
    </dgm:pt>
    <dgm:pt modelId="{CEB161FB-389B-4B43-9B01-34FB435605BD}" type="sibTrans" cxnId="{AD8575A2-F48A-4D28-8685-46EA64519BB2}">
      <dgm:prSet/>
      <dgm:spPr/>
      <dgm:t>
        <a:bodyPr/>
        <a:lstStyle/>
        <a:p>
          <a:endParaRPr lang="ru-RU"/>
        </a:p>
      </dgm:t>
    </dgm:pt>
    <dgm:pt modelId="{D4981A48-B2C3-45BC-90BD-3AC7F4668385}">
      <dgm:prSet/>
      <dgm:spPr/>
      <dgm:t>
        <a:bodyPr/>
        <a:lstStyle/>
        <a:p>
          <a:endParaRPr lang="ru-RU"/>
        </a:p>
      </dgm:t>
    </dgm:pt>
    <dgm:pt modelId="{95A71725-C030-41B7-9946-CB900A05B8EA}" type="parTrans" cxnId="{4B07177D-6C5A-4CD1-94C1-7436BF3A7855}">
      <dgm:prSet/>
      <dgm:spPr/>
      <dgm:t>
        <a:bodyPr/>
        <a:lstStyle/>
        <a:p>
          <a:endParaRPr lang="ru-RU"/>
        </a:p>
      </dgm:t>
    </dgm:pt>
    <dgm:pt modelId="{8DFE9155-60DA-4257-9022-72C25EF7DE1F}" type="sibTrans" cxnId="{4B07177D-6C5A-4CD1-94C1-7436BF3A7855}">
      <dgm:prSet/>
      <dgm:spPr/>
      <dgm:t>
        <a:bodyPr/>
        <a:lstStyle/>
        <a:p>
          <a:endParaRPr lang="ru-RU"/>
        </a:p>
      </dgm:t>
    </dgm:pt>
    <dgm:pt modelId="{4CE56C23-EC10-42C5-8632-89BC47CBE193}">
      <dgm:prSet/>
      <dgm:spPr/>
      <dgm:t>
        <a:bodyPr/>
        <a:lstStyle/>
        <a:p>
          <a:endParaRPr lang="ru-RU"/>
        </a:p>
      </dgm:t>
    </dgm:pt>
    <dgm:pt modelId="{564A7CAF-9DF0-456A-B5FA-BC430BABC4D1}" type="parTrans" cxnId="{61978F36-0413-42A7-B160-AB85CA1DC709}">
      <dgm:prSet/>
      <dgm:spPr/>
      <dgm:t>
        <a:bodyPr/>
        <a:lstStyle/>
        <a:p>
          <a:endParaRPr lang="ru-RU"/>
        </a:p>
      </dgm:t>
    </dgm:pt>
    <dgm:pt modelId="{E9C709F9-9E23-4DD6-A20C-24F6EA7F9CAA}" type="sibTrans" cxnId="{61978F36-0413-42A7-B160-AB85CA1DC709}">
      <dgm:prSet/>
      <dgm:spPr/>
      <dgm:t>
        <a:bodyPr/>
        <a:lstStyle/>
        <a:p>
          <a:endParaRPr lang="ru-RU"/>
        </a:p>
      </dgm:t>
    </dgm:pt>
    <dgm:pt modelId="{B70B8E1A-E92A-43CF-97BC-80A920D06034}">
      <dgm:prSet/>
      <dgm:spPr/>
      <dgm:t>
        <a:bodyPr/>
        <a:lstStyle/>
        <a:p>
          <a:endParaRPr lang="ru-RU"/>
        </a:p>
      </dgm:t>
    </dgm:pt>
    <dgm:pt modelId="{CFA95237-6DD2-42D1-B779-E291FB6B515B}" type="parTrans" cxnId="{25618982-71F2-4F23-86D2-B4DD4E3567AE}">
      <dgm:prSet/>
      <dgm:spPr/>
      <dgm:t>
        <a:bodyPr/>
        <a:lstStyle/>
        <a:p>
          <a:endParaRPr lang="ru-RU"/>
        </a:p>
      </dgm:t>
    </dgm:pt>
    <dgm:pt modelId="{3765B00B-7659-442E-9995-960578B93C49}" type="sibTrans" cxnId="{25618982-71F2-4F23-86D2-B4DD4E3567AE}">
      <dgm:prSet/>
      <dgm:spPr/>
      <dgm:t>
        <a:bodyPr/>
        <a:lstStyle/>
        <a:p>
          <a:endParaRPr lang="ru-RU"/>
        </a:p>
      </dgm:t>
    </dgm:pt>
    <dgm:pt modelId="{7602CC2F-85FA-4C7D-9206-E21ED5F5D716}">
      <dgm:prSet/>
      <dgm:spPr/>
      <dgm:t>
        <a:bodyPr/>
        <a:lstStyle/>
        <a:p>
          <a:endParaRPr lang="ru-RU"/>
        </a:p>
      </dgm:t>
    </dgm:pt>
    <dgm:pt modelId="{1DA25B77-2AC5-4DC6-AE4D-34109FC300E0}" type="parTrans" cxnId="{0F8B6D8D-2F18-48C6-A250-B32223815C7F}">
      <dgm:prSet/>
      <dgm:spPr/>
      <dgm:t>
        <a:bodyPr/>
        <a:lstStyle/>
        <a:p>
          <a:endParaRPr lang="ru-RU"/>
        </a:p>
      </dgm:t>
    </dgm:pt>
    <dgm:pt modelId="{1F8C617C-328E-41BA-9218-0359D4943F4E}" type="sibTrans" cxnId="{0F8B6D8D-2F18-48C6-A250-B32223815C7F}">
      <dgm:prSet/>
      <dgm:spPr/>
      <dgm:t>
        <a:bodyPr/>
        <a:lstStyle/>
        <a:p>
          <a:endParaRPr lang="ru-RU"/>
        </a:p>
      </dgm:t>
    </dgm:pt>
    <dgm:pt modelId="{1CDFB25A-6D66-4373-A9D2-E9B63BA7071D}">
      <dgm:prSet/>
      <dgm:spPr/>
      <dgm:t>
        <a:bodyPr/>
        <a:lstStyle/>
        <a:p>
          <a:endParaRPr lang="ru-RU"/>
        </a:p>
      </dgm:t>
    </dgm:pt>
    <dgm:pt modelId="{A71C0EF6-9DF1-4AD4-A9CD-05AF41141627}" type="parTrans" cxnId="{81B12F09-95DF-4CD4-A263-D97B844FE355}">
      <dgm:prSet/>
      <dgm:spPr/>
      <dgm:t>
        <a:bodyPr/>
        <a:lstStyle/>
        <a:p>
          <a:endParaRPr lang="ru-RU"/>
        </a:p>
      </dgm:t>
    </dgm:pt>
    <dgm:pt modelId="{29138EED-4259-4227-8206-02FE95CDEF44}" type="sibTrans" cxnId="{81B12F09-95DF-4CD4-A263-D97B844FE355}">
      <dgm:prSet/>
      <dgm:spPr/>
      <dgm:t>
        <a:bodyPr/>
        <a:lstStyle/>
        <a:p>
          <a:endParaRPr lang="ru-RU"/>
        </a:p>
      </dgm:t>
    </dgm:pt>
    <dgm:pt modelId="{62D505AE-25B9-4594-8152-CF6CEF988468}">
      <dgm:prSet/>
      <dgm:spPr/>
      <dgm:t>
        <a:bodyPr/>
        <a:lstStyle/>
        <a:p>
          <a:endParaRPr lang="ru-RU"/>
        </a:p>
      </dgm:t>
    </dgm:pt>
    <dgm:pt modelId="{9643C484-EB83-4020-8599-E9B8F4AC1E40}" type="parTrans" cxnId="{1BB1AB2F-1444-44EA-912C-E0806FDB5FC0}">
      <dgm:prSet/>
      <dgm:spPr/>
      <dgm:t>
        <a:bodyPr/>
        <a:lstStyle/>
        <a:p>
          <a:endParaRPr lang="ru-RU"/>
        </a:p>
      </dgm:t>
    </dgm:pt>
    <dgm:pt modelId="{1AAADF8A-2D7A-4656-93E8-00985424B964}" type="sibTrans" cxnId="{1BB1AB2F-1444-44EA-912C-E0806FDB5FC0}">
      <dgm:prSet/>
      <dgm:spPr/>
      <dgm:t>
        <a:bodyPr/>
        <a:lstStyle/>
        <a:p>
          <a:endParaRPr lang="ru-RU"/>
        </a:p>
      </dgm:t>
    </dgm:pt>
    <dgm:pt modelId="{DBB2F0AC-C957-488D-AD09-4160BF593FAC}">
      <dgm:prSet/>
      <dgm:spPr/>
      <dgm:t>
        <a:bodyPr/>
        <a:lstStyle/>
        <a:p>
          <a:endParaRPr lang="ru-RU"/>
        </a:p>
      </dgm:t>
    </dgm:pt>
    <dgm:pt modelId="{593CA8C2-BFCE-4EE3-96DB-5E9CF5F2EA5C}" type="parTrans" cxnId="{9185EF9F-1F9C-4270-A36C-F5880EDA03BC}">
      <dgm:prSet/>
      <dgm:spPr/>
      <dgm:t>
        <a:bodyPr/>
        <a:lstStyle/>
        <a:p>
          <a:endParaRPr lang="ru-RU"/>
        </a:p>
      </dgm:t>
    </dgm:pt>
    <dgm:pt modelId="{FC2470C3-DC31-4D67-B571-1EC568FF374E}" type="sibTrans" cxnId="{9185EF9F-1F9C-4270-A36C-F5880EDA03BC}">
      <dgm:prSet/>
      <dgm:spPr/>
      <dgm:t>
        <a:bodyPr/>
        <a:lstStyle/>
        <a:p>
          <a:endParaRPr lang="ru-RU"/>
        </a:p>
      </dgm:t>
    </dgm:pt>
    <dgm:pt modelId="{24CBE57F-FE42-472A-A1E8-247B174827E5}" type="pres">
      <dgm:prSet presAssocID="{80A61B88-4B63-4CD9-9B83-9F40F827BB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DA2DFA-69D0-40CC-8DC3-1A1A58E059D5}" type="pres">
      <dgm:prSet presAssocID="{EBFE2A09-2983-4549-9778-93CAA8D8A5DA}" presName="hierRoot1" presStyleCnt="0"/>
      <dgm:spPr/>
    </dgm:pt>
    <dgm:pt modelId="{8EAC4FE0-D28C-4870-9AD3-17B86C52C2E9}" type="pres">
      <dgm:prSet presAssocID="{EBFE2A09-2983-4549-9778-93CAA8D8A5DA}" presName="composite" presStyleCnt="0"/>
      <dgm:spPr/>
    </dgm:pt>
    <dgm:pt modelId="{749E9118-8FE0-490D-8E64-1509EA5BE491}" type="pres">
      <dgm:prSet presAssocID="{EBFE2A09-2983-4549-9778-93CAA8D8A5DA}" presName="image" presStyleLbl="node0" presStyleIdx="0" presStyleCnt="1" custLinFactNeighborX="15860" custLinFactNeighborY="-864"/>
      <dgm:spPr/>
    </dgm:pt>
    <dgm:pt modelId="{EED6B418-7F2E-4758-832B-D8F9477D36EB}" type="pres">
      <dgm:prSet presAssocID="{EBFE2A09-2983-4549-9778-93CAA8D8A5DA}" presName="text" presStyleLbl="revTx" presStyleIdx="0" presStyleCnt="16" custScaleX="133342" custScaleY="58306" custLinFactNeighborX="33620" custLinFactNeighborY="3376">
        <dgm:presLayoutVars>
          <dgm:chPref val="3"/>
        </dgm:presLayoutVars>
      </dgm:prSet>
      <dgm:spPr/>
    </dgm:pt>
    <dgm:pt modelId="{B859BDA3-12DB-45D4-8B2B-9C47C9442D8D}" type="pres">
      <dgm:prSet presAssocID="{EBFE2A09-2983-4549-9778-93CAA8D8A5DA}" presName="hierChild2" presStyleCnt="0"/>
      <dgm:spPr/>
    </dgm:pt>
    <dgm:pt modelId="{F96DD89A-C8B5-4976-A2A4-5C1875C030D3}" type="pres">
      <dgm:prSet presAssocID="{99CCFA6D-74F9-44F0-922D-1704D21C836A}" presName="Name10" presStyleLbl="parChTrans1D2" presStyleIdx="0" presStyleCnt="3"/>
      <dgm:spPr/>
    </dgm:pt>
    <dgm:pt modelId="{8257495D-42DD-48DA-AEC7-01BAD1ECC9CE}" type="pres">
      <dgm:prSet presAssocID="{7E1405CD-9FBC-4DC2-9BA4-9672F33E20FC}" presName="hierRoot2" presStyleCnt="0"/>
      <dgm:spPr/>
    </dgm:pt>
    <dgm:pt modelId="{A6B699B6-E7E2-4A19-8763-EA81E98326BB}" type="pres">
      <dgm:prSet presAssocID="{7E1405CD-9FBC-4DC2-9BA4-9672F33E20FC}" presName="composite2" presStyleCnt="0"/>
      <dgm:spPr/>
    </dgm:pt>
    <dgm:pt modelId="{7DE8EAD2-9D2B-4B25-A420-4D1D85819D51}" type="pres">
      <dgm:prSet presAssocID="{7E1405CD-9FBC-4DC2-9BA4-9672F33E20FC}" presName="image2" presStyleLbl="node2" presStyleIdx="0" presStyleCnt="3"/>
      <dgm:spPr/>
    </dgm:pt>
    <dgm:pt modelId="{C2DC86A6-075C-483C-B2C1-A98A234EA371}" type="pres">
      <dgm:prSet presAssocID="{7E1405CD-9FBC-4DC2-9BA4-9672F33E20FC}" presName="text2" presStyleLbl="revTx" presStyleIdx="1" presStyleCnt="16">
        <dgm:presLayoutVars>
          <dgm:chPref val="3"/>
        </dgm:presLayoutVars>
      </dgm:prSet>
      <dgm:spPr/>
    </dgm:pt>
    <dgm:pt modelId="{92DDD45E-906A-45BD-9B85-CAE5538FA251}" type="pres">
      <dgm:prSet presAssocID="{7E1405CD-9FBC-4DC2-9BA4-9672F33E20FC}" presName="hierChild3" presStyleCnt="0"/>
      <dgm:spPr/>
    </dgm:pt>
    <dgm:pt modelId="{0E690FD6-1CFB-40CF-8A24-8D8EDD4B84E5}" type="pres">
      <dgm:prSet presAssocID="{1588EB82-839B-44AA-88BB-FB02F0229FC5}" presName="Name17" presStyleLbl="parChTrans1D3" presStyleIdx="0" presStyleCnt="6"/>
      <dgm:spPr/>
    </dgm:pt>
    <dgm:pt modelId="{1DB1B18B-DC7A-49A9-A424-D16E0477897A}" type="pres">
      <dgm:prSet presAssocID="{E3E9D959-F32E-4D58-BB5B-AD3BD94760F0}" presName="hierRoot3" presStyleCnt="0"/>
      <dgm:spPr/>
    </dgm:pt>
    <dgm:pt modelId="{18F49F90-1D12-4327-AD38-70E16B47FCC0}" type="pres">
      <dgm:prSet presAssocID="{E3E9D959-F32E-4D58-BB5B-AD3BD94760F0}" presName="composite3" presStyleCnt="0"/>
      <dgm:spPr/>
    </dgm:pt>
    <dgm:pt modelId="{8E08740A-ACE9-4ADF-AC38-1F6D8FF5F2A0}" type="pres">
      <dgm:prSet presAssocID="{E3E9D959-F32E-4D58-BB5B-AD3BD94760F0}" presName="image3" presStyleLbl="node3" presStyleIdx="0" presStyleCnt="6"/>
      <dgm:spPr/>
    </dgm:pt>
    <dgm:pt modelId="{A5FB6577-6AC4-47C2-84F4-C21480AF3091}" type="pres">
      <dgm:prSet presAssocID="{E3E9D959-F32E-4D58-BB5B-AD3BD94760F0}" presName="text3" presStyleLbl="revTx" presStyleIdx="2" presStyleCnt="16">
        <dgm:presLayoutVars>
          <dgm:chPref val="3"/>
        </dgm:presLayoutVars>
      </dgm:prSet>
      <dgm:spPr/>
    </dgm:pt>
    <dgm:pt modelId="{8409E2AA-6889-4D3E-882A-591A9258CD97}" type="pres">
      <dgm:prSet presAssocID="{E3E9D959-F32E-4D58-BB5B-AD3BD94760F0}" presName="hierChild4" presStyleCnt="0"/>
      <dgm:spPr/>
    </dgm:pt>
    <dgm:pt modelId="{F8373A36-218C-40FB-A674-2A47B06B5221}" type="pres">
      <dgm:prSet presAssocID="{CFA95237-6DD2-42D1-B779-E291FB6B515B}" presName="Name23" presStyleLbl="parChTrans1D4" presStyleIdx="0" presStyleCnt="6"/>
      <dgm:spPr/>
    </dgm:pt>
    <dgm:pt modelId="{420EF367-8ABB-4BF4-9299-9C083E774816}" type="pres">
      <dgm:prSet presAssocID="{B70B8E1A-E92A-43CF-97BC-80A920D06034}" presName="hierRoot4" presStyleCnt="0"/>
      <dgm:spPr/>
    </dgm:pt>
    <dgm:pt modelId="{D0D4E06F-0CF3-4726-864E-694B18B698D0}" type="pres">
      <dgm:prSet presAssocID="{B70B8E1A-E92A-43CF-97BC-80A920D06034}" presName="composite4" presStyleCnt="0"/>
      <dgm:spPr/>
    </dgm:pt>
    <dgm:pt modelId="{329964B8-F879-4271-82DF-0B62F04D2E21}" type="pres">
      <dgm:prSet presAssocID="{B70B8E1A-E92A-43CF-97BC-80A920D06034}" presName="image4" presStyleLbl="node4" presStyleIdx="0" presStyleCnt="6"/>
      <dgm:spPr/>
    </dgm:pt>
    <dgm:pt modelId="{3F748BAB-4FFF-4EFD-B1CF-22956BFC67BA}" type="pres">
      <dgm:prSet presAssocID="{B70B8E1A-E92A-43CF-97BC-80A920D06034}" presName="text4" presStyleLbl="revTx" presStyleIdx="3" presStyleCnt="16">
        <dgm:presLayoutVars>
          <dgm:chPref val="3"/>
        </dgm:presLayoutVars>
      </dgm:prSet>
      <dgm:spPr/>
    </dgm:pt>
    <dgm:pt modelId="{231A264D-F118-48C5-8C1B-3ACB428B7362}" type="pres">
      <dgm:prSet presAssocID="{B70B8E1A-E92A-43CF-97BC-80A920D06034}" presName="hierChild5" presStyleCnt="0"/>
      <dgm:spPr/>
    </dgm:pt>
    <dgm:pt modelId="{BA9EC803-4DEA-4EFD-9CE2-E7905B6B3FE8}" type="pres">
      <dgm:prSet presAssocID="{F46228D5-29E7-4B7D-ACA9-5C733A2B1B09}" presName="Name17" presStyleLbl="parChTrans1D3" presStyleIdx="1" presStyleCnt="6"/>
      <dgm:spPr/>
    </dgm:pt>
    <dgm:pt modelId="{FB1E3117-606D-4679-BB27-19B6D9CF0545}" type="pres">
      <dgm:prSet presAssocID="{47115CE7-7681-4538-8D54-AFAE324FF909}" presName="hierRoot3" presStyleCnt="0"/>
      <dgm:spPr/>
    </dgm:pt>
    <dgm:pt modelId="{68DC996C-5651-49A1-BB8C-B30E6BE79D11}" type="pres">
      <dgm:prSet presAssocID="{47115CE7-7681-4538-8D54-AFAE324FF909}" presName="composite3" presStyleCnt="0"/>
      <dgm:spPr/>
    </dgm:pt>
    <dgm:pt modelId="{08AAAF30-A45A-4BDB-8C6F-937939875675}" type="pres">
      <dgm:prSet presAssocID="{47115CE7-7681-4538-8D54-AFAE324FF909}" presName="image3" presStyleLbl="node3" presStyleIdx="1" presStyleCnt="6"/>
      <dgm:spPr/>
    </dgm:pt>
    <dgm:pt modelId="{5B769DB7-7CC8-40D7-B014-8D7F5F2CB90E}" type="pres">
      <dgm:prSet presAssocID="{47115CE7-7681-4538-8D54-AFAE324FF909}" presName="text3" presStyleLbl="revTx" presStyleIdx="4" presStyleCnt="16">
        <dgm:presLayoutVars>
          <dgm:chPref val="3"/>
        </dgm:presLayoutVars>
      </dgm:prSet>
      <dgm:spPr/>
    </dgm:pt>
    <dgm:pt modelId="{B543FB28-68F7-4DE3-9AEB-AE58FBB217A8}" type="pres">
      <dgm:prSet presAssocID="{47115CE7-7681-4538-8D54-AFAE324FF909}" presName="hierChild4" presStyleCnt="0"/>
      <dgm:spPr/>
    </dgm:pt>
    <dgm:pt modelId="{E5AE977D-10AD-421D-A419-E8B0B7AF9CB6}" type="pres">
      <dgm:prSet presAssocID="{564A7CAF-9DF0-456A-B5FA-BC430BABC4D1}" presName="Name23" presStyleLbl="parChTrans1D4" presStyleIdx="1" presStyleCnt="6"/>
      <dgm:spPr/>
    </dgm:pt>
    <dgm:pt modelId="{3109B0A9-9984-4EE1-B684-763D14024C4C}" type="pres">
      <dgm:prSet presAssocID="{4CE56C23-EC10-42C5-8632-89BC47CBE193}" presName="hierRoot4" presStyleCnt="0"/>
      <dgm:spPr/>
    </dgm:pt>
    <dgm:pt modelId="{D6836355-ACBE-499A-9BEB-34255FF584AE}" type="pres">
      <dgm:prSet presAssocID="{4CE56C23-EC10-42C5-8632-89BC47CBE193}" presName="composite4" presStyleCnt="0"/>
      <dgm:spPr/>
    </dgm:pt>
    <dgm:pt modelId="{DE85BA8B-1681-44A1-BFE3-71EBF0CF2CCD}" type="pres">
      <dgm:prSet presAssocID="{4CE56C23-EC10-42C5-8632-89BC47CBE193}" presName="image4" presStyleLbl="node4" presStyleIdx="1" presStyleCnt="6"/>
      <dgm:spPr/>
    </dgm:pt>
    <dgm:pt modelId="{0CB4003B-4EB6-4003-8754-006EEEDEC6F6}" type="pres">
      <dgm:prSet presAssocID="{4CE56C23-EC10-42C5-8632-89BC47CBE193}" presName="text4" presStyleLbl="revTx" presStyleIdx="5" presStyleCnt="16">
        <dgm:presLayoutVars>
          <dgm:chPref val="3"/>
        </dgm:presLayoutVars>
      </dgm:prSet>
      <dgm:spPr/>
    </dgm:pt>
    <dgm:pt modelId="{75A69B52-4C19-411D-8449-A080B7D5A700}" type="pres">
      <dgm:prSet presAssocID="{4CE56C23-EC10-42C5-8632-89BC47CBE193}" presName="hierChild5" presStyleCnt="0"/>
      <dgm:spPr/>
    </dgm:pt>
    <dgm:pt modelId="{00EDDF60-040F-4F8B-9BDA-1EC610D15A78}" type="pres">
      <dgm:prSet presAssocID="{E1E9A403-73A1-445B-9963-28553F7A3905}" presName="Name10" presStyleLbl="parChTrans1D2" presStyleIdx="1" presStyleCnt="3"/>
      <dgm:spPr/>
    </dgm:pt>
    <dgm:pt modelId="{FBCC068D-CD08-421B-BB56-57645FF521C2}" type="pres">
      <dgm:prSet presAssocID="{0BC1CFFE-3E2F-4831-B734-756A9C38BB5E}" presName="hierRoot2" presStyleCnt="0"/>
      <dgm:spPr/>
    </dgm:pt>
    <dgm:pt modelId="{86BC6AFE-261C-472C-8159-D73827371D92}" type="pres">
      <dgm:prSet presAssocID="{0BC1CFFE-3E2F-4831-B734-756A9C38BB5E}" presName="composite2" presStyleCnt="0"/>
      <dgm:spPr/>
    </dgm:pt>
    <dgm:pt modelId="{2F521E0B-71D1-4C25-A063-63D5561FBFC9}" type="pres">
      <dgm:prSet presAssocID="{0BC1CFFE-3E2F-4831-B734-756A9C38BB5E}" presName="image2" presStyleLbl="node2" presStyleIdx="1" presStyleCnt="3"/>
      <dgm:spPr/>
    </dgm:pt>
    <dgm:pt modelId="{453085C8-BF73-48E9-9EBA-02045E24E890}" type="pres">
      <dgm:prSet presAssocID="{0BC1CFFE-3E2F-4831-B734-756A9C38BB5E}" presName="text2" presStyleLbl="revTx" presStyleIdx="6" presStyleCnt="16">
        <dgm:presLayoutVars>
          <dgm:chPref val="3"/>
        </dgm:presLayoutVars>
      </dgm:prSet>
      <dgm:spPr/>
    </dgm:pt>
    <dgm:pt modelId="{CC3771D0-B29D-492C-BB45-5374FEDB8EC3}" type="pres">
      <dgm:prSet presAssocID="{0BC1CFFE-3E2F-4831-B734-756A9C38BB5E}" presName="hierChild3" presStyleCnt="0"/>
      <dgm:spPr/>
    </dgm:pt>
    <dgm:pt modelId="{C94CA8CC-F54C-4523-B66A-46875DDEB2B5}" type="pres">
      <dgm:prSet presAssocID="{C8C235CA-0247-40D2-A02E-C2C4423796F9}" presName="Name17" presStyleLbl="parChTrans1D3" presStyleIdx="2" presStyleCnt="6"/>
      <dgm:spPr/>
    </dgm:pt>
    <dgm:pt modelId="{A4DCD14C-267F-431D-92E7-EF3D36BE7035}" type="pres">
      <dgm:prSet presAssocID="{0EE27461-A7EC-46FA-85DB-311467944CBD}" presName="hierRoot3" presStyleCnt="0"/>
      <dgm:spPr/>
    </dgm:pt>
    <dgm:pt modelId="{EB44E9B7-A705-4A8A-8125-91F2F5BAE40F}" type="pres">
      <dgm:prSet presAssocID="{0EE27461-A7EC-46FA-85DB-311467944CBD}" presName="composite3" presStyleCnt="0"/>
      <dgm:spPr/>
    </dgm:pt>
    <dgm:pt modelId="{4E9F4ECD-5D6E-46D0-95EB-69D943D11FD3}" type="pres">
      <dgm:prSet presAssocID="{0EE27461-A7EC-46FA-85DB-311467944CBD}" presName="image3" presStyleLbl="node3" presStyleIdx="2" presStyleCnt="6"/>
      <dgm:spPr/>
    </dgm:pt>
    <dgm:pt modelId="{EA13E7C2-E9EA-4052-8238-2D9C734DC371}" type="pres">
      <dgm:prSet presAssocID="{0EE27461-A7EC-46FA-85DB-311467944CBD}" presName="text3" presStyleLbl="revTx" presStyleIdx="7" presStyleCnt="16" custLinFactNeighborX="865" custLinFactNeighborY="13343">
        <dgm:presLayoutVars>
          <dgm:chPref val="3"/>
        </dgm:presLayoutVars>
      </dgm:prSet>
      <dgm:spPr/>
    </dgm:pt>
    <dgm:pt modelId="{F3CBF788-84D5-4D53-BAF3-3844EAAD1B96}" type="pres">
      <dgm:prSet presAssocID="{0EE27461-A7EC-46FA-85DB-311467944CBD}" presName="hierChild4" presStyleCnt="0"/>
      <dgm:spPr/>
    </dgm:pt>
    <dgm:pt modelId="{910C396D-0CE3-446E-A4AD-2F8E480471D0}" type="pres">
      <dgm:prSet presAssocID="{1DA25B77-2AC5-4DC6-AE4D-34109FC300E0}" presName="Name23" presStyleLbl="parChTrans1D4" presStyleIdx="2" presStyleCnt="6"/>
      <dgm:spPr/>
    </dgm:pt>
    <dgm:pt modelId="{DD492349-3BC0-423A-8760-52FB61B2728F}" type="pres">
      <dgm:prSet presAssocID="{7602CC2F-85FA-4C7D-9206-E21ED5F5D716}" presName="hierRoot4" presStyleCnt="0"/>
      <dgm:spPr/>
    </dgm:pt>
    <dgm:pt modelId="{2A3E72E5-AA2A-41C8-A190-EA2D25702D34}" type="pres">
      <dgm:prSet presAssocID="{7602CC2F-85FA-4C7D-9206-E21ED5F5D716}" presName="composite4" presStyleCnt="0"/>
      <dgm:spPr/>
    </dgm:pt>
    <dgm:pt modelId="{C746EE18-02D7-47A8-8435-D14896E9D417}" type="pres">
      <dgm:prSet presAssocID="{7602CC2F-85FA-4C7D-9206-E21ED5F5D716}" presName="image4" presStyleLbl="node4" presStyleIdx="2" presStyleCnt="6"/>
      <dgm:spPr/>
    </dgm:pt>
    <dgm:pt modelId="{382FBA4E-20FE-4989-9DE1-E0C04740AA74}" type="pres">
      <dgm:prSet presAssocID="{7602CC2F-85FA-4C7D-9206-E21ED5F5D716}" presName="text4" presStyleLbl="revTx" presStyleIdx="8" presStyleCnt="16">
        <dgm:presLayoutVars>
          <dgm:chPref val="3"/>
        </dgm:presLayoutVars>
      </dgm:prSet>
      <dgm:spPr/>
    </dgm:pt>
    <dgm:pt modelId="{F6B8580F-CDE7-4F0D-8A2B-05B78E8DF089}" type="pres">
      <dgm:prSet presAssocID="{7602CC2F-85FA-4C7D-9206-E21ED5F5D716}" presName="hierChild5" presStyleCnt="0"/>
      <dgm:spPr/>
    </dgm:pt>
    <dgm:pt modelId="{B8BF6428-C0DA-4AF4-8EA6-E1833B8759E7}" type="pres">
      <dgm:prSet presAssocID="{278871B1-BEFD-4B35-81EB-1D0275E7FE09}" presName="Name17" presStyleLbl="parChTrans1D3" presStyleIdx="3" presStyleCnt="6"/>
      <dgm:spPr/>
    </dgm:pt>
    <dgm:pt modelId="{A6C21A9D-A0BE-4DD5-A6AF-5C7C6F0B5166}" type="pres">
      <dgm:prSet presAssocID="{F6EA6C77-2217-4D3E-BE1B-C0420B77C730}" presName="hierRoot3" presStyleCnt="0"/>
      <dgm:spPr/>
    </dgm:pt>
    <dgm:pt modelId="{B67055C1-8FDC-41CE-9C27-13B79CC93781}" type="pres">
      <dgm:prSet presAssocID="{F6EA6C77-2217-4D3E-BE1B-C0420B77C730}" presName="composite3" presStyleCnt="0"/>
      <dgm:spPr/>
    </dgm:pt>
    <dgm:pt modelId="{D79E062F-5398-4F0A-A448-A5C48C4F0857}" type="pres">
      <dgm:prSet presAssocID="{F6EA6C77-2217-4D3E-BE1B-C0420B77C730}" presName="image3" presStyleLbl="node3" presStyleIdx="3" presStyleCnt="6"/>
      <dgm:spPr/>
    </dgm:pt>
    <dgm:pt modelId="{CFAEED46-3158-4900-8090-8F268222F669}" type="pres">
      <dgm:prSet presAssocID="{F6EA6C77-2217-4D3E-BE1B-C0420B77C730}" presName="text3" presStyleLbl="revTx" presStyleIdx="9" presStyleCnt="16">
        <dgm:presLayoutVars>
          <dgm:chPref val="3"/>
        </dgm:presLayoutVars>
      </dgm:prSet>
      <dgm:spPr/>
    </dgm:pt>
    <dgm:pt modelId="{55BEF097-7BC6-4E92-B6F9-541B19C11DFD}" type="pres">
      <dgm:prSet presAssocID="{F6EA6C77-2217-4D3E-BE1B-C0420B77C730}" presName="hierChild4" presStyleCnt="0"/>
      <dgm:spPr/>
    </dgm:pt>
    <dgm:pt modelId="{3629F2EF-7D71-451D-847A-234FC9C7CFC9}" type="pres">
      <dgm:prSet presAssocID="{A71C0EF6-9DF1-4AD4-A9CD-05AF41141627}" presName="Name23" presStyleLbl="parChTrans1D4" presStyleIdx="3" presStyleCnt="6"/>
      <dgm:spPr/>
    </dgm:pt>
    <dgm:pt modelId="{AF891E4D-75FA-4B5C-A32E-91254D5584E1}" type="pres">
      <dgm:prSet presAssocID="{1CDFB25A-6D66-4373-A9D2-E9B63BA7071D}" presName="hierRoot4" presStyleCnt="0"/>
      <dgm:spPr/>
    </dgm:pt>
    <dgm:pt modelId="{30FB2C7B-983F-4616-91CF-38C8B53BF3FA}" type="pres">
      <dgm:prSet presAssocID="{1CDFB25A-6D66-4373-A9D2-E9B63BA7071D}" presName="composite4" presStyleCnt="0"/>
      <dgm:spPr/>
    </dgm:pt>
    <dgm:pt modelId="{524CF180-7B83-431D-A9F1-95A01E7D3F49}" type="pres">
      <dgm:prSet presAssocID="{1CDFB25A-6D66-4373-A9D2-E9B63BA7071D}" presName="image4" presStyleLbl="node4" presStyleIdx="3" presStyleCnt="6"/>
      <dgm:spPr>
        <a:prstGeom prst="mathMultiply">
          <a:avLst/>
        </a:prstGeom>
      </dgm:spPr>
    </dgm:pt>
    <dgm:pt modelId="{7411E51F-C64F-4486-A600-85E8B3E31E64}" type="pres">
      <dgm:prSet presAssocID="{1CDFB25A-6D66-4373-A9D2-E9B63BA7071D}" presName="text4" presStyleLbl="revTx" presStyleIdx="10" presStyleCnt="16">
        <dgm:presLayoutVars>
          <dgm:chPref val="3"/>
        </dgm:presLayoutVars>
      </dgm:prSet>
      <dgm:spPr/>
    </dgm:pt>
    <dgm:pt modelId="{F916CDD3-A88C-445E-A304-9C3ECDABF3FF}" type="pres">
      <dgm:prSet presAssocID="{1CDFB25A-6D66-4373-A9D2-E9B63BA7071D}" presName="hierChild5" presStyleCnt="0"/>
      <dgm:spPr/>
    </dgm:pt>
    <dgm:pt modelId="{67B41B49-5058-442C-B7E0-CD4AB78A2E2F}" type="pres">
      <dgm:prSet presAssocID="{3F46DD5C-2EC9-481B-ACA6-B1002783E8B9}" presName="Name10" presStyleLbl="parChTrans1D2" presStyleIdx="2" presStyleCnt="3"/>
      <dgm:spPr/>
    </dgm:pt>
    <dgm:pt modelId="{256F18DF-CE44-44F7-9CBC-DCD20B87B72A}" type="pres">
      <dgm:prSet presAssocID="{A2281CB1-22D0-42E6-BB7F-632C37E2C25E}" presName="hierRoot2" presStyleCnt="0"/>
      <dgm:spPr/>
    </dgm:pt>
    <dgm:pt modelId="{CA84DB38-FB7F-4C66-9D51-5B0F1BD29ED0}" type="pres">
      <dgm:prSet presAssocID="{A2281CB1-22D0-42E6-BB7F-632C37E2C25E}" presName="composite2" presStyleCnt="0"/>
      <dgm:spPr/>
    </dgm:pt>
    <dgm:pt modelId="{82F2788D-6E13-423F-907F-3D260894041F}" type="pres">
      <dgm:prSet presAssocID="{A2281CB1-22D0-42E6-BB7F-632C37E2C25E}" presName="image2" presStyleLbl="node2" presStyleIdx="2" presStyleCnt="3"/>
      <dgm:spPr/>
    </dgm:pt>
    <dgm:pt modelId="{1F171F5C-50AD-4488-B5A3-287F39929F1A}" type="pres">
      <dgm:prSet presAssocID="{A2281CB1-22D0-42E6-BB7F-632C37E2C25E}" presName="text2" presStyleLbl="revTx" presStyleIdx="11" presStyleCnt="16">
        <dgm:presLayoutVars>
          <dgm:chPref val="3"/>
        </dgm:presLayoutVars>
      </dgm:prSet>
      <dgm:spPr/>
    </dgm:pt>
    <dgm:pt modelId="{1DB84455-9DE1-43BD-8B1E-A598C1910DFC}" type="pres">
      <dgm:prSet presAssocID="{A2281CB1-22D0-42E6-BB7F-632C37E2C25E}" presName="hierChild3" presStyleCnt="0"/>
      <dgm:spPr/>
    </dgm:pt>
    <dgm:pt modelId="{3A44B83B-A02A-42B2-9B5A-686EFDE2628E}" type="pres">
      <dgm:prSet presAssocID="{7B8D5328-5351-4DBF-8ABE-A35ABB6793F1}" presName="Name17" presStyleLbl="parChTrans1D3" presStyleIdx="4" presStyleCnt="6"/>
      <dgm:spPr/>
    </dgm:pt>
    <dgm:pt modelId="{052420C3-B054-4518-8F29-7CB84CAC4714}" type="pres">
      <dgm:prSet presAssocID="{750D6A52-7F0A-4988-BC27-9F659897B723}" presName="hierRoot3" presStyleCnt="0"/>
      <dgm:spPr/>
    </dgm:pt>
    <dgm:pt modelId="{C7FBE93D-5945-4DC1-B7F4-6ADB31CAAD82}" type="pres">
      <dgm:prSet presAssocID="{750D6A52-7F0A-4988-BC27-9F659897B723}" presName="composite3" presStyleCnt="0"/>
      <dgm:spPr/>
    </dgm:pt>
    <dgm:pt modelId="{041B3700-2A5E-4B9D-A633-732B5884F379}" type="pres">
      <dgm:prSet presAssocID="{750D6A52-7F0A-4988-BC27-9F659897B723}" presName="image3" presStyleLbl="node3" presStyleIdx="4" presStyleCnt="6"/>
      <dgm:spPr/>
    </dgm:pt>
    <dgm:pt modelId="{107B5CCC-5966-43FE-8731-3C7568A67476}" type="pres">
      <dgm:prSet presAssocID="{750D6A52-7F0A-4988-BC27-9F659897B723}" presName="text3" presStyleLbl="revTx" presStyleIdx="12" presStyleCnt="16">
        <dgm:presLayoutVars>
          <dgm:chPref val="3"/>
        </dgm:presLayoutVars>
      </dgm:prSet>
      <dgm:spPr/>
    </dgm:pt>
    <dgm:pt modelId="{9433E7F5-1613-4057-B00C-B9A97EADC182}" type="pres">
      <dgm:prSet presAssocID="{750D6A52-7F0A-4988-BC27-9F659897B723}" presName="hierChild4" presStyleCnt="0"/>
      <dgm:spPr/>
    </dgm:pt>
    <dgm:pt modelId="{31A2B9B0-69B8-49DD-8737-55F6BE42716A}" type="pres">
      <dgm:prSet presAssocID="{9643C484-EB83-4020-8599-E9B8F4AC1E40}" presName="Name23" presStyleLbl="parChTrans1D4" presStyleIdx="4" presStyleCnt="6"/>
      <dgm:spPr/>
    </dgm:pt>
    <dgm:pt modelId="{5A57982F-CEF2-412D-9805-408E6AF8A573}" type="pres">
      <dgm:prSet presAssocID="{62D505AE-25B9-4594-8152-CF6CEF988468}" presName="hierRoot4" presStyleCnt="0"/>
      <dgm:spPr/>
    </dgm:pt>
    <dgm:pt modelId="{59E79E15-49D0-40E1-A4BB-CC230CA63D61}" type="pres">
      <dgm:prSet presAssocID="{62D505AE-25B9-4594-8152-CF6CEF988468}" presName="composite4" presStyleCnt="0"/>
      <dgm:spPr/>
    </dgm:pt>
    <dgm:pt modelId="{579261AF-40EC-4B84-8F47-A1903BEF9773}" type="pres">
      <dgm:prSet presAssocID="{62D505AE-25B9-4594-8152-CF6CEF988468}" presName="image4" presStyleLbl="node4" presStyleIdx="4" presStyleCnt="6"/>
      <dgm:spPr>
        <a:prstGeom prst="mathMultiply">
          <a:avLst/>
        </a:prstGeom>
      </dgm:spPr>
    </dgm:pt>
    <dgm:pt modelId="{ADE9B185-162D-4B49-85E4-C9332583AB35}" type="pres">
      <dgm:prSet presAssocID="{62D505AE-25B9-4594-8152-CF6CEF988468}" presName="text4" presStyleLbl="revTx" presStyleIdx="13" presStyleCnt="16">
        <dgm:presLayoutVars>
          <dgm:chPref val="3"/>
        </dgm:presLayoutVars>
      </dgm:prSet>
      <dgm:spPr/>
    </dgm:pt>
    <dgm:pt modelId="{42375117-5637-4A8E-BA81-79E4525E19B9}" type="pres">
      <dgm:prSet presAssocID="{62D505AE-25B9-4594-8152-CF6CEF988468}" presName="hierChild5" presStyleCnt="0"/>
      <dgm:spPr/>
    </dgm:pt>
    <dgm:pt modelId="{23F4BB7C-F72D-4829-8315-555FDF5F4D6F}" type="pres">
      <dgm:prSet presAssocID="{95A71725-C030-41B7-9946-CB900A05B8EA}" presName="Name17" presStyleLbl="parChTrans1D3" presStyleIdx="5" presStyleCnt="6"/>
      <dgm:spPr/>
    </dgm:pt>
    <dgm:pt modelId="{33689D66-5768-4757-9C91-5C0CF723730F}" type="pres">
      <dgm:prSet presAssocID="{D4981A48-B2C3-45BC-90BD-3AC7F4668385}" presName="hierRoot3" presStyleCnt="0"/>
      <dgm:spPr/>
    </dgm:pt>
    <dgm:pt modelId="{03A93520-16DA-4C0C-91D8-BBCDDF988C1F}" type="pres">
      <dgm:prSet presAssocID="{D4981A48-B2C3-45BC-90BD-3AC7F4668385}" presName="composite3" presStyleCnt="0"/>
      <dgm:spPr/>
    </dgm:pt>
    <dgm:pt modelId="{5BC55C57-E100-4F40-B211-4FE6F3D36D5F}" type="pres">
      <dgm:prSet presAssocID="{D4981A48-B2C3-45BC-90BD-3AC7F4668385}" presName="image3" presStyleLbl="node3" presStyleIdx="5" presStyleCnt="6"/>
      <dgm:spPr/>
    </dgm:pt>
    <dgm:pt modelId="{FDA84F20-5D55-4347-977F-FA601A52D9A5}" type="pres">
      <dgm:prSet presAssocID="{D4981A48-B2C3-45BC-90BD-3AC7F4668385}" presName="text3" presStyleLbl="revTx" presStyleIdx="14" presStyleCnt="16">
        <dgm:presLayoutVars>
          <dgm:chPref val="3"/>
        </dgm:presLayoutVars>
      </dgm:prSet>
      <dgm:spPr/>
    </dgm:pt>
    <dgm:pt modelId="{F121613D-D65D-4381-8D85-1C4D24C1C635}" type="pres">
      <dgm:prSet presAssocID="{D4981A48-B2C3-45BC-90BD-3AC7F4668385}" presName="hierChild4" presStyleCnt="0"/>
      <dgm:spPr/>
    </dgm:pt>
    <dgm:pt modelId="{7E35A0D7-0556-4DAE-B374-6001EFFBD975}" type="pres">
      <dgm:prSet presAssocID="{593CA8C2-BFCE-4EE3-96DB-5E9CF5F2EA5C}" presName="Name23" presStyleLbl="parChTrans1D4" presStyleIdx="5" presStyleCnt="6"/>
      <dgm:spPr/>
    </dgm:pt>
    <dgm:pt modelId="{DA955808-B4B3-4069-8C8B-D14BF036050F}" type="pres">
      <dgm:prSet presAssocID="{DBB2F0AC-C957-488D-AD09-4160BF593FAC}" presName="hierRoot4" presStyleCnt="0"/>
      <dgm:spPr/>
    </dgm:pt>
    <dgm:pt modelId="{9F2B02FF-BA2E-4E6E-B732-1EDDEB034AF6}" type="pres">
      <dgm:prSet presAssocID="{DBB2F0AC-C957-488D-AD09-4160BF593FAC}" presName="composite4" presStyleCnt="0"/>
      <dgm:spPr/>
    </dgm:pt>
    <dgm:pt modelId="{150FD50D-93D3-4127-BF4F-A2F4227B8D58}" type="pres">
      <dgm:prSet presAssocID="{DBB2F0AC-C957-488D-AD09-4160BF593FAC}" presName="image4" presStyleLbl="node4" presStyleIdx="5" presStyleCnt="6"/>
      <dgm:spPr/>
    </dgm:pt>
    <dgm:pt modelId="{B7B70EBB-6B05-4611-B763-C182968EF533}" type="pres">
      <dgm:prSet presAssocID="{DBB2F0AC-C957-488D-AD09-4160BF593FAC}" presName="text4" presStyleLbl="revTx" presStyleIdx="15" presStyleCnt="16">
        <dgm:presLayoutVars>
          <dgm:chPref val="3"/>
        </dgm:presLayoutVars>
      </dgm:prSet>
      <dgm:spPr/>
    </dgm:pt>
    <dgm:pt modelId="{5323AAD8-C5A2-4046-943C-F802128E469E}" type="pres">
      <dgm:prSet presAssocID="{DBB2F0AC-C957-488D-AD09-4160BF593FAC}" presName="hierChild5" presStyleCnt="0"/>
      <dgm:spPr/>
    </dgm:pt>
  </dgm:ptLst>
  <dgm:cxnLst>
    <dgm:cxn modelId="{A04EF703-C10D-41F7-9CB2-B3ABED0A0DEC}" type="presOf" srcId="{EBFE2A09-2983-4549-9778-93CAA8D8A5DA}" destId="{EED6B418-7F2E-4758-832B-D8F9477D36EB}" srcOrd="0" destOrd="0" presId="urn:microsoft.com/office/officeart/2009/layout/CirclePictureHierarchy"/>
    <dgm:cxn modelId="{81B12F09-95DF-4CD4-A263-D97B844FE355}" srcId="{F6EA6C77-2217-4D3E-BE1B-C0420B77C730}" destId="{1CDFB25A-6D66-4373-A9D2-E9B63BA7071D}" srcOrd="0" destOrd="0" parTransId="{A71C0EF6-9DF1-4AD4-A9CD-05AF41141627}" sibTransId="{29138EED-4259-4227-8206-02FE95CDEF44}"/>
    <dgm:cxn modelId="{ADF9EA13-D65A-4141-9D62-18DBB4250929}" type="presOf" srcId="{9643C484-EB83-4020-8599-E9B8F4AC1E40}" destId="{31A2B9B0-69B8-49DD-8737-55F6BE42716A}" srcOrd="0" destOrd="0" presId="urn:microsoft.com/office/officeart/2009/layout/CirclePictureHierarchy"/>
    <dgm:cxn modelId="{FB9DBB1C-3297-43A4-AAA5-E42F2D62660B}" type="presOf" srcId="{80A61B88-4B63-4CD9-9B83-9F40F827BBCC}" destId="{24CBE57F-FE42-472A-A1E8-247B174827E5}" srcOrd="0" destOrd="0" presId="urn:microsoft.com/office/officeart/2009/layout/CirclePictureHierarchy"/>
    <dgm:cxn modelId="{BC878F1D-FC7A-476B-B84A-59823000865C}" type="presOf" srcId="{47115CE7-7681-4538-8D54-AFAE324FF909}" destId="{5B769DB7-7CC8-40D7-B014-8D7F5F2CB90E}" srcOrd="0" destOrd="0" presId="urn:microsoft.com/office/officeart/2009/layout/CirclePictureHierarchy"/>
    <dgm:cxn modelId="{143B941D-CB3E-4B4A-85A6-FE9461665405}" type="presOf" srcId="{C8C235CA-0247-40D2-A02E-C2C4423796F9}" destId="{C94CA8CC-F54C-4523-B66A-46875DDEB2B5}" srcOrd="0" destOrd="0" presId="urn:microsoft.com/office/officeart/2009/layout/CirclePictureHierarchy"/>
    <dgm:cxn modelId="{1BB1AB2F-1444-44EA-912C-E0806FDB5FC0}" srcId="{750D6A52-7F0A-4988-BC27-9F659897B723}" destId="{62D505AE-25B9-4594-8152-CF6CEF988468}" srcOrd="0" destOrd="0" parTransId="{9643C484-EB83-4020-8599-E9B8F4AC1E40}" sibTransId="{1AAADF8A-2D7A-4656-93E8-00985424B964}"/>
    <dgm:cxn modelId="{61978F36-0413-42A7-B160-AB85CA1DC709}" srcId="{47115CE7-7681-4538-8D54-AFAE324FF909}" destId="{4CE56C23-EC10-42C5-8632-89BC47CBE193}" srcOrd="0" destOrd="0" parTransId="{564A7CAF-9DF0-456A-B5FA-BC430BABC4D1}" sibTransId="{E9C709F9-9E23-4DD6-A20C-24F6EA7F9CAA}"/>
    <dgm:cxn modelId="{75A42839-6227-4D68-A415-F76F5412D7F1}" type="presOf" srcId="{99CCFA6D-74F9-44F0-922D-1704D21C836A}" destId="{F96DD89A-C8B5-4976-A2A4-5C1875C030D3}" srcOrd="0" destOrd="0" presId="urn:microsoft.com/office/officeart/2009/layout/CirclePictureHierarchy"/>
    <dgm:cxn modelId="{30C32D60-F5C1-4C35-AA18-6946DBAC7A22}" type="presOf" srcId="{F6EA6C77-2217-4D3E-BE1B-C0420B77C730}" destId="{CFAEED46-3158-4900-8090-8F268222F669}" srcOrd="0" destOrd="0" presId="urn:microsoft.com/office/officeart/2009/layout/CirclePictureHierarchy"/>
    <dgm:cxn modelId="{3A58C243-4A6C-49C2-BB18-C0B68FBFDC1F}" srcId="{0BC1CFFE-3E2F-4831-B734-756A9C38BB5E}" destId="{0EE27461-A7EC-46FA-85DB-311467944CBD}" srcOrd="0" destOrd="0" parTransId="{C8C235CA-0247-40D2-A02E-C2C4423796F9}" sibTransId="{A823DEE4-6BD6-4461-BCFE-182BB9FCC488}"/>
    <dgm:cxn modelId="{569FD24A-C8ED-4FC1-B968-27F4606C750A}" type="presOf" srcId="{B70B8E1A-E92A-43CF-97BC-80A920D06034}" destId="{3F748BAB-4FFF-4EFD-B1CF-22956BFC67BA}" srcOrd="0" destOrd="0" presId="urn:microsoft.com/office/officeart/2009/layout/CirclePictureHierarchy"/>
    <dgm:cxn modelId="{1672BA4B-C517-4636-B7FA-501E0629B65E}" type="presOf" srcId="{F46228D5-29E7-4B7D-ACA9-5C733A2B1B09}" destId="{BA9EC803-4DEA-4EFD-9CE2-E7905B6B3FE8}" srcOrd="0" destOrd="0" presId="urn:microsoft.com/office/officeart/2009/layout/CirclePictureHierarchy"/>
    <dgm:cxn modelId="{64430B4F-9344-4DBE-BA6D-DAA980182218}" type="presOf" srcId="{DBB2F0AC-C957-488D-AD09-4160BF593FAC}" destId="{B7B70EBB-6B05-4611-B763-C182968EF533}" srcOrd="0" destOrd="0" presId="urn:microsoft.com/office/officeart/2009/layout/CirclePictureHierarchy"/>
    <dgm:cxn modelId="{46EB1B71-8216-406F-AA7F-31C2634DDCA8}" type="presOf" srcId="{3F46DD5C-2EC9-481B-ACA6-B1002783E8B9}" destId="{67B41B49-5058-442C-B7E0-CD4AB78A2E2F}" srcOrd="0" destOrd="0" presId="urn:microsoft.com/office/officeart/2009/layout/CirclePictureHierarchy"/>
    <dgm:cxn modelId="{6370DE73-4497-46BF-A59D-81A5114A4772}" type="presOf" srcId="{CFA95237-6DD2-42D1-B779-E291FB6B515B}" destId="{F8373A36-218C-40FB-A674-2A47B06B5221}" srcOrd="0" destOrd="0" presId="urn:microsoft.com/office/officeart/2009/layout/CirclePictureHierarchy"/>
    <dgm:cxn modelId="{16E2B254-15A5-404A-B895-7CE3D7817130}" type="presOf" srcId="{593CA8C2-BFCE-4EE3-96DB-5E9CF5F2EA5C}" destId="{7E35A0D7-0556-4DAE-B374-6001EFFBD975}" srcOrd="0" destOrd="0" presId="urn:microsoft.com/office/officeart/2009/layout/CirclePictureHierarchy"/>
    <dgm:cxn modelId="{4B07177D-6C5A-4CD1-94C1-7436BF3A7855}" srcId="{A2281CB1-22D0-42E6-BB7F-632C37E2C25E}" destId="{D4981A48-B2C3-45BC-90BD-3AC7F4668385}" srcOrd="1" destOrd="0" parTransId="{95A71725-C030-41B7-9946-CB900A05B8EA}" sibTransId="{8DFE9155-60DA-4257-9022-72C25EF7DE1F}"/>
    <dgm:cxn modelId="{78523681-CC48-4C47-AD30-BA9B2AF73CC7}" type="presOf" srcId="{1DA25B77-2AC5-4DC6-AE4D-34109FC300E0}" destId="{910C396D-0CE3-446E-A4AD-2F8E480471D0}" srcOrd="0" destOrd="0" presId="urn:microsoft.com/office/officeart/2009/layout/CirclePictureHierarchy"/>
    <dgm:cxn modelId="{25618982-71F2-4F23-86D2-B4DD4E3567AE}" srcId="{E3E9D959-F32E-4D58-BB5B-AD3BD94760F0}" destId="{B70B8E1A-E92A-43CF-97BC-80A920D06034}" srcOrd="0" destOrd="0" parTransId="{CFA95237-6DD2-42D1-B779-E291FB6B515B}" sibTransId="{3765B00B-7659-442E-9995-960578B93C49}"/>
    <dgm:cxn modelId="{0F8B6D8D-2F18-48C6-A250-B32223815C7F}" srcId="{0EE27461-A7EC-46FA-85DB-311467944CBD}" destId="{7602CC2F-85FA-4C7D-9206-E21ED5F5D716}" srcOrd="0" destOrd="0" parTransId="{1DA25B77-2AC5-4DC6-AE4D-34109FC300E0}" sibTransId="{1F8C617C-328E-41BA-9218-0359D4943F4E}"/>
    <dgm:cxn modelId="{F66BE295-53EE-4AAD-B912-F1655702EBD9}" type="presOf" srcId="{0EE27461-A7EC-46FA-85DB-311467944CBD}" destId="{EA13E7C2-E9EA-4052-8238-2D9C734DC371}" srcOrd="0" destOrd="0" presId="urn:microsoft.com/office/officeart/2009/layout/CirclePictureHierarchy"/>
    <dgm:cxn modelId="{9185EF9F-1F9C-4270-A36C-F5880EDA03BC}" srcId="{D4981A48-B2C3-45BC-90BD-3AC7F4668385}" destId="{DBB2F0AC-C957-488D-AD09-4160BF593FAC}" srcOrd="0" destOrd="0" parTransId="{593CA8C2-BFCE-4EE3-96DB-5E9CF5F2EA5C}" sibTransId="{FC2470C3-DC31-4D67-B571-1EC568FF374E}"/>
    <dgm:cxn modelId="{C0FEFDA0-EAE8-4DC3-9272-ADA41BF9EAFD}" type="presOf" srcId="{4CE56C23-EC10-42C5-8632-89BC47CBE193}" destId="{0CB4003B-4EB6-4003-8754-006EEEDEC6F6}" srcOrd="0" destOrd="0" presId="urn:microsoft.com/office/officeart/2009/layout/CirclePictureHierarchy"/>
    <dgm:cxn modelId="{AD8575A2-F48A-4D28-8685-46EA64519BB2}" srcId="{A2281CB1-22D0-42E6-BB7F-632C37E2C25E}" destId="{750D6A52-7F0A-4988-BC27-9F659897B723}" srcOrd="0" destOrd="0" parTransId="{7B8D5328-5351-4DBF-8ABE-A35ABB6793F1}" sibTransId="{CEB161FB-389B-4B43-9B01-34FB435605BD}"/>
    <dgm:cxn modelId="{322C95A2-A924-49ED-8E90-C712B9B074AF}" srcId="{0BC1CFFE-3E2F-4831-B734-756A9C38BB5E}" destId="{F6EA6C77-2217-4D3E-BE1B-C0420B77C730}" srcOrd="1" destOrd="0" parTransId="{278871B1-BEFD-4B35-81EB-1D0275E7FE09}" sibTransId="{A6D68B69-AE35-46A7-B1EB-6424E95D0AAC}"/>
    <dgm:cxn modelId="{D67882A6-867F-4D6F-A771-2B5B3C31AAD0}" type="presOf" srcId="{E3E9D959-F32E-4D58-BB5B-AD3BD94760F0}" destId="{A5FB6577-6AC4-47C2-84F4-C21480AF3091}" srcOrd="0" destOrd="0" presId="urn:microsoft.com/office/officeart/2009/layout/CirclePictureHierarchy"/>
    <dgm:cxn modelId="{486B97A6-9402-4332-928C-800803C874F6}" srcId="{7E1405CD-9FBC-4DC2-9BA4-9672F33E20FC}" destId="{47115CE7-7681-4538-8D54-AFAE324FF909}" srcOrd="1" destOrd="0" parTransId="{F46228D5-29E7-4B7D-ACA9-5C733A2B1B09}" sibTransId="{5D8ACA11-3C66-45C1-9CDD-55145145D481}"/>
    <dgm:cxn modelId="{E962CEA9-96C5-41C8-B959-F91F728D4D4C}" type="presOf" srcId="{7B8D5328-5351-4DBF-8ABE-A35ABB6793F1}" destId="{3A44B83B-A02A-42B2-9B5A-686EFDE2628E}" srcOrd="0" destOrd="0" presId="urn:microsoft.com/office/officeart/2009/layout/CirclePictureHierarchy"/>
    <dgm:cxn modelId="{A7BBDDA9-4511-4C0C-BE0E-9392410467E1}" type="presOf" srcId="{62D505AE-25B9-4594-8152-CF6CEF988468}" destId="{ADE9B185-162D-4B49-85E4-C9332583AB35}" srcOrd="0" destOrd="0" presId="urn:microsoft.com/office/officeart/2009/layout/CirclePictureHierarchy"/>
    <dgm:cxn modelId="{A06BA6AC-0571-4096-887C-6DE0EDC6B6D1}" type="presOf" srcId="{1CDFB25A-6D66-4373-A9D2-E9B63BA7071D}" destId="{7411E51F-C64F-4486-A600-85E8B3E31E64}" srcOrd="0" destOrd="0" presId="urn:microsoft.com/office/officeart/2009/layout/CirclePictureHierarchy"/>
    <dgm:cxn modelId="{B6F2A5B3-5069-4366-A069-23502EE16C98}" srcId="{EBFE2A09-2983-4549-9778-93CAA8D8A5DA}" destId="{0BC1CFFE-3E2F-4831-B734-756A9C38BB5E}" srcOrd="1" destOrd="0" parTransId="{E1E9A403-73A1-445B-9963-28553F7A3905}" sibTransId="{1A5D0830-A598-4287-A440-4E57E3AEEFBA}"/>
    <dgm:cxn modelId="{7ED637B6-148A-4EF4-8DBD-73790455BC03}" srcId="{EBFE2A09-2983-4549-9778-93CAA8D8A5DA}" destId="{A2281CB1-22D0-42E6-BB7F-632C37E2C25E}" srcOrd="2" destOrd="0" parTransId="{3F46DD5C-2EC9-481B-ACA6-B1002783E8B9}" sibTransId="{55BDA387-2413-4C1E-B546-E06A5AA2F31C}"/>
    <dgm:cxn modelId="{0597C0B7-E217-426F-8D37-929C7D998F00}" type="presOf" srcId="{7602CC2F-85FA-4C7D-9206-E21ED5F5D716}" destId="{382FBA4E-20FE-4989-9DE1-E0C04740AA74}" srcOrd="0" destOrd="0" presId="urn:microsoft.com/office/officeart/2009/layout/CirclePictureHierarchy"/>
    <dgm:cxn modelId="{DF011FBA-284B-4365-A289-9670FB8C5A3C}" type="presOf" srcId="{D4981A48-B2C3-45BC-90BD-3AC7F4668385}" destId="{FDA84F20-5D55-4347-977F-FA601A52D9A5}" srcOrd="0" destOrd="0" presId="urn:microsoft.com/office/officeart/2009/layout/CirclePictureHierarchy"/>
    <dgm:cxn modelId="{288EB4BD-FAEE-41A4-8BC9-C6AD69C32F6E}" type="presOf" srcId="{7E1405CD-9FBC-4DC2-9BA4-9672F33E20FC}" destId="{C2DC86A6-075C-483C-B2C1-A98A234EA371}" srcOrd="0" destOrd="0" presId="urn:microsoft.com/office/officeart/2009/layout/CirclePictureHierarchy"/>
    <dgm:cxn modelId="{F4FD17BE-8E04-44AD-A36C-34301291122B}" srcId="{7E1405CD-9FBC-4DC2-9BA4-9672F33E20FC}" destId="{E3E9D959-F32E-4D58-BB5B-AD3BD94760F0}" srcOrd="0" destOrd="0" parTransId="{1588EB82-839B-44AA-88BB-FB02F0229FC5}" sibTransId="{B4934EF0-23DF-4B5E-8605-FEDA37C54416}"/>
    <dgm:cxn modelId="{06295BC1-58BE-48D9-B163-152387F4FB5F}" srcId="{EBFE2A09-2983-4549-9778-93CAA8D8A5DA}" destId="{7E1405CD-9FBC-4DC2-9BA4-9672F33E20FC}" srcOrd="0" destOrd="0" parTransId="{99CCFA6D-74F9-44F0-922D-1704D21C836A}" sibTransId="{247B611F-8C5F-4D4C-848F-E4C263DB5EC1}"/>
    <dgm:cxn modelId="{18B230C7-BDAD-496B-A55D-34D5BAE47AA7}" type="presOf" srcId="{95A71725-C030-41B7-9946-CB900A05B8EA}" destId="{23F4BB7C-F72D-4829-8315-555FDF5F4D6F}" srcOrd="0" destOrd="0" presId="urn:microsoft.com/office/officeart/2009/layout/CirclePictureHierarchy"/>
    <dgm:cxn modelId="{D9491CC8-0523-4E5D-B1D4-881372A512CD}" type="presOf" srcId="{750D6A52-7F0A-4988-BC27-9F659897B723}" destId="{107B5CCC-5966-43FE-8731-3C7568A67476}" srcOrd="0" destOrd="0" presId="urn:microsoft.com/office/officeart/2009/layout/CirclePictureHierarchy"/>
    <dgm:cxn modelId="{5ADD4BD2-190D-460F-8D74-37090C6197BB}" type="presOf" srcId="{A71C0EF6-9DF1-4AD4-A9CD-05AF41141627}" destId="{3629F2EF-7D71-451D-847A-234FC9C7CFC9}" srcOrd="0" destOrd="0" presId="urn:microsoft.com/office/officeart/2009/layout/CirclePictureHierarchy"/>
    <dgm:cxn modelId="{9013A0D6-C2FA-4109-AC73-C682397404BB}" type="presOf" srcId="{1588EB82-839B-44AA-88BB-FB02F0229FC5}" destId="{0E690FD6-1CFB-40CF-8A24-8D8EDD4B84E5}" srcOrd="0" destOrd="0" presId="urn:microsoft.com/office/officeart/2009/layout/CirclePictureHierarchy"/>
    <dgm:cxn modelId="{BB70DADE-FD97-4A13-A7E9-838CC7557123}" srcId="{80A61B88-4B63-4CD9-9B83-9F40F827BBCC}" destId="{EBFE2A09-2983-4549-9778-93CAA8D8A5DA}" srcOrd="0" destOrd="0" parTransId="{83EDC593-4924-4FA3-82E8-D5CF42BD4A4D}" sibTransId="{61E7688F-CC3A-4AA2-8ECE-098933901863}"/>
    <dgm:cxn modelId="{8ABB2CE3-6384-4340-BFC2-459A05B7CA8B}" type="presOf" srcId="{E1E9A403-73A1-445B-9963-28553F7A3905}" destId="{00EDDF60-040F-4F8B-9BDA-1EC610D15A78}" srcOrd="0" destOrd="0" presId="urn:microsoft.com/office/officeart/2009/layout/CirclePictureHierarchy"/>
    <dgm:cxn modelId="{D78046EE-5484-43ED-BAC5-6AD79C259D73}" type="presOf" srcId="{A2281CB1-22D0-42E6-BB7F-632C37E2C25E}" destId="{1F171F5C-50AD-4488-B5A3-287F39929F1A}" srcOrd="0" destOrd="0" presId="urn:microsoft.com/office/officeart/2009/layout/CirclePictureHierarchy"/>
    <dgm:cxn modelId="{5B4938FA-9911-46C6-A9CA-EDD3B326C74B}" type="presOf" srcId="{278871B1-BEFD-4B35-81EB-1D0275E7FE09}" destId="{B8BF6428-C0DA-4AF4-8EA6-E1833B8759E7}" srcOrd="0" destOrd="0" presId="urn:microsoft.com/office/officeart/2009/layout/CirclePictureHierarchy"/>
    <dgm:cxn modelId="{31D7A1FA-2526-47D6-9BB5-D700542F387A}" type="presOf" srcId="{564A7CAF-9DF0-456A-B5FA-BC430BABC4D1}" destId="{E5AE977D-10AD-421D-A419-E8B0B7AF9CB6}" srcOrd="0" destOrd="0" presId="urn:microsoft.com/office/officeart/2009/layout/CirclePictureHierarchy"/>
    <dgm:cxn modelId="{F1E6CDFF-F925-4C78-9BCC-F74D74B87B97}" type="presOf" srcId="{0BC1CFFE-3E2F-4831-B734-756A9C38BB5E}" destId="{453085C8-BF73-48E9-9EBA-02045E24E890}" srcOrd="0" destOrd="0" presId="urn:microsoft.com/office/officeart/2009/layout/CirclePictureHierarchy"/>
    <dgm:cxn modelId="{EF249CCE-0284-4F84-B5F6-EF3A94CFAB59}" type="presParOf" srcId="{24CBE57F-FE42-472A-A1E8-247B174827E5}" destId="{33DA2DFA-69D0-40CC-8DC3-1A1A58E059D5}" srcOrd="0" destOrd="0" presId="urn:microsoft.com/office/officeart/2009/layout/CirclePictureHierarchy"/>
    <dgm:cxn modelId="{72769028-269B-4BF0-93C7-3DF0F7D6302D}" type="presParOf" srcId="{33DA2DFA-69D0-40CC-8DC3-1A1A58E059D5}" destId="{8EAC4FE0-D28C-4870-9AD3-17B86C52C2E9}" srcOrd="0" destOrd="0" presId="urn:microsoft.com/office/officeart/2009/layout/CirclePictureHierarchy"/>
    <dgm:cxn modelId="{AEB2D787-9902-4C06-85F3-E81CADAD48D9}" type="presParOf" srcId="{8EAC4FE0-D28C-4870-9AD3-17B86C52C2E9}" destId="{749E9118-8FE0-490D-8E64-1509EA5BE491}" srcOrd="0" destOrd="0" presId="urn:microsoft.com/office/officeart/2009/layout/CirclePictureHierarchy"/>
    <dgm:cxn modelId="{69F4A3C7-E058-4336-BC78-035959404DCD}" type="presParOf" srcId="{8EAC4FE0-D28C-4870-9AD3-17B86C52C2E9}" destId="{EED6B418-7F2E-4758-832B-D8F9477D36EB}" srcOrd="1" destOrd="0" presId="urn:microsoft.com/office/officeart/2009/layout/CirclePictureHierarchy"/>
    <dgm:cxn modelId="{95AEC327-8EDC-452E-8AD7-1F6E256A75C1}" type="presParOf" srcId="{33DA2DFA-69D0-40CC-8DC3-1A1A58E059D5}" destId="{B859BDA3-12DB-45D4-8B2B-9C47C9442D8D}" srcOrd="1" destOrd="0" presId="urn:microsoft.com/office/officeart/2009/layout/CirclePictureHierarchy"/>
    <dgm:cxn modelId="{B5278176-1313-4BEA-9743-B69C1B2BE1B4}" type="presParOf" srcId="{B859BDA3-12DB-45D4-8B2B-9C47C9442D8D}" destId="{F96DD89A-C8B5-4976-A2A4-5C1875C030D3}" srcOrd="0" destOrd="0" presId="urn:microsoft.com/office/officeart/2009/layout/CirclePictureHierarchy"/>
    <dgm:cxn modelId="{D669356C-0D53-4F5C-8043-C24BD8858523}" type="presParOf" srcId="{B859BDA3-12DB-45D4-8B2B-9C47C9442D8D}" destId="{8257495D-42DD-48DA-AEC7-01BAD1ECC9CE}" srcOrd="1" destOrd="0" presId="urn:microsoft.com/office/officeart/2009/layout/CirclePictureHierarchy"/>
    <dgm:cxn modelId="{F603B7CB-6928-477A-93A8-B4B8D19D7824}" type="presParOf" srcId="{8257495D-42DD-48DA-AEC7-01BAD1ECC9CE}" destId="{A6B699B6-E7E2-4A19-8763-EA81E98326BB}" srcOrd="0" destOrd="0" presId="urn:microsoft.com/office/officeart/2009/layout/CirclePictureHierarchy"/>
    <dgm:cxn modelId="{44DEA40E-B822-441F-95E3-F440AA5111F4}" type="presParOf" srcId="{A6B699B6-E7E2-4A19-8763-EA81E98326BB}" destId="{7DE8EAD2-9D2B-4B25-A420-4D1D85819D51}" srcOrd="0" destOrd="0" presId="urn:microsoft.com/office/officeart/2009/layout/CirclePictureHierarchy"/>
    <dgm:cxn modelId="{36494284-2160-4664-A978-AB1A018E9BB1}" type="presParOf" srcId="{A6B699B6-E7E2-4A19-8763-EA81E98326BB}" destId="{C2DC86A6-075C-483C-B2C1-A98A234EA371}" srcOrd="1" destOrd="0" presId="urn:microsoft.com/office/officeart/2009/layout/CirclePictureHierarchy"/>
    <dgm:cxn modelId="{B07DD279-2A8A-4FAE-AB55-A98DA3C23866}" type="presParOf" srcId="{8257495D-42DD-48DA-AEC7-01BAD1ECC9CE}" destId="{92DDD45E-906A-45BD-9B85-CAE5538FA251}" srcOrd="1" destOrd="0" presId="urn:microsoft.com/office/officeart/2009/layout/CirclePictureHierarchy"/>
    <dgm:cxn modelId="{9A28CBDB-8840-48F8-92FD-B2B582E0A163}" type="presParOf" srcId="{92DDD45E-906A-45BD-9B85-CAE5538FA251}" destId="{0E690FD6-1CFB-40CF-8A24-8D8EDD4B84E5}" srcOrd="0" destOrd="0" presId="urn:microsoft.com/office/officeart/2009/layout/CirclePictureHierarchy"/>
    <dgm:cxn modelId="{272F05E8-85A4-4454-8E1E-BDD8C7F902F3}" type="presParOf" srcId="{92DDD45E-906A-45BD-9B85-CAE5538FA251}" destId="{1DB1B18B-DC7A-49A9-A424-D16E0477897A}" srcOrd="1" destOrd="0" presId="urn:microsoft.com/office/officeart/2009/layout/CirclePictureHierarchy"/>
    <dgm:cxn modelId="{240D31DB-1C18-468D-9237-05568F87760F}" type="presParOf" srcId="{1DB1B18B-DC7A-49A9-A424-D16E0477897A}" destId="{18F49F90-1D12-4327-AD38-70E16B47FCC0}" srcOrd="0" destOrd="0" presId="urn:microsoft.com/office/officeart/2009/layout/CirclePictureHierarchy"/>
    <dgm:cxn modelId="{EEFE9371-1318-41E7-B987-166386936437}" type="presParOf" srcId="{18F49F90-1D12-4327-AD38-70E16B47FCC0}" destId="{8E08740A-ACE9-4ADF-AC38-1F6D8FF5F2A0}" srcOrd="0" destOrd="0" presId="urn:microsoft.com/office/officeart/2009/layout/CirclePictureHierarchy"/>
    <dgm:cxn modelId="{DCF5BF40-CAFA-499F-B05D-A2CE2593E371}" type="presParOf" srcId="{18F49F90-1D12-4327-AD38-70E16B47FCC0}" destId="{A5FB6577-6AC4-47C2-84F4-C21480AF3091}" srcOrd="1" destOrd="0" presId="urn:microsoft.com/office/officeart/2009/layout/CirclePictureHierarchy"/>
    <dgm:cxn modelId="{CFCD7266-B94C-4EB4-8AD1-2F3A48FFEFF7}" type="presParOf" srcId="{1DB1B18B-DC7A-49A9-A424-D16E0477897A}" destId="{8409E2AA-6889-4D3E-882A-591A9258CD97}" srcOrd="1" destOrd="0" presId="urn:microsoft.com/office/officeart/2009/layout/CirclePictureHierarchy"/>
    <dgm:cxn modelId="{100667BB-9E89-4E83-88FD-C9E177CAB7C1}" type="presParOf" srcId="{8409E2AA-6889-4D3E-882A-591A9258CD97}" destId="{F8373A36-218C-40FB-A674-2A47B06B5221}" srcOrd="0" destOrd="0" presId="urn:microsoft.com/office/officeart/2009/layout/CirclePictureHierarchy"/>
    <dgm:cxn modelId="{D5EC4EFF-5020-45B1-BE9E-700813B78070}" type="presParOf" srcId="{8409E2AA-6889-4D3E-882A-591A9258CD97}" destId="{420EF367-8ABB-4BF4-9299-9C083E774816}" srcOrd="1" destOrd="0" presId="urn:microsoft.com/office/officeart/2009/layout/CirclePictureHierarchy"/>
    <dgm:cxn modelId="{DB825E21-34CE-41AB-B0A1-273FC9CDCB50}" type="presParOf" srcId="{420EF367-8ABB-4BF4-9299-9C083E774816}" destId="{D0D4E06F-0CF3-4726-864E-694B18B698D0}" srcOrd="0" destOrd="0" presId="urn:microsoft.com/office/officeart/2009/layout/CirclePictureHierarchy"/>
    <dgm:cxn modelId="{FE734375-FEF4-4D01-9701-0AF868D33922}" type="presParOf" srcId="{D0D4E06F-0CF3-4726-864E-694B18B698D0}" destId="{329964B8-F879-4271-82DF-0B62F04D2E21}" srcOrd="0" destOrd="0" presId="urn:microsoft.com/office/officeart/2009/layout/CirclePictureHierarchy"/>
    <dgm:cxn modelId="{C588E3AE-974D-464E-92B0-F68DEFD7C02D}" type="presParOf" srcId="{D0D4E06F-0CF3-4726-864E-694B18B698D0}" destId="{3F748BAB-4FFF-4EFD-B1CF-22956BFC67BA}" srcOrd="1" destOrd="0" presId="urn:microsoft.com/office/officeart/2009/layout/CirclePictureHierarchy"/>
    <dgm:cxn modelId="{2640C8AD-9AA3-4876-B4AA-07223232DD35}" type="presParOf" srcId="{420EF367-8ABB-4BF4-9299-9C083E774816}" destId="{231A264D-F118-48C5-8C1B-3ACB428B7362}" srcOrd="1" destOrd="0" presId="urn:microsoft.com/office/officeart/2009/layout/CirclePictureHierarchy"/>
    <dgm:cxn modelId="{0C411262-6D93-4FC8-AC94-D30D70C852A6}" type="presParOf" srcId="{92DDD45E-906A-45BD-9B85-CAE5538FA251}" destId="{BA9EC803-4DEA-4EFD-9CE2-E7905B6B3FE8}" srcOrd="2" destOrd="0" presId="urn:microsoft.com/office/officeart/2009/layout/CirclePictureHierarchy"/>
    <dgm:cxn modelId="{947C91D1-892B-4CF0-9185-A699B4F06810}" type="presParOf" srcId="{92DDD45E-906A-45BD-9B85-CAE5538FA251}" destId="{FB1E3117-606D-4679-BB27-19B6D9CF0545}" srcOrd="3" destOrd="0" presId="urn:microsoft.com/office/officeart/2009/layout/CirclePictureHierarchy"/>
    <dgm:cxn modelId="{3113F18E-3860-4589-B5F1-8C9F23CF84E1}" type="presParOf" srcId="{FB1E3117-606D-4679-BB27-19B6D9CF0545}" destId="{68DC996C-5651-49A1-BB8C-B30E6BE79D11}" srcOrd="0" destOrd="0" presId="urn:microsoft.com/office/officeart/2009/layout/CirclePictureHierarchy"/>
    <dgm:cxn modelId="{B7579B1A-D08B-445C-80C7-E611F9C92091}" type="presParOf" srcId="{68DC996C-5651-49A1-BB8C-B30E6BE79D11}" destId="{08AAAF30-A45A-4BDB-8C6F-937939875675}" srcOrd="0" destOrd="0" presId="urn:microsoft.com/office/officeart/2009/layout/CirclePictureHierarchy"/>
    <dgm:cxn modelId="{35A125A0-99E3-4261-9FAC-2E1E078D355D}" type="presParOf" srcId="{68DC996C-5651-49A1-BB8C-B30E6BE79D11}" destId="{5B769DB7-7CC8-40D7-B014-8D7F5F2CB90E}" srcOrd="1" destOrd="0" presId="urn:microsoft.com/office/officeart/2009/layout/CirclePictureHierarchy"/>
    <dgm:cxn modelId="{FC2DEC4B-7B31-4BAE-A54D-FAA0ABA71637}" type="presParOf" srcId="{FB1E3117-606D-4679-BB27-19B6D9CF0545}" destId="{B543FB28-68F7-4DE3-9AEB-AE58FBB217A8}" srcOrd="1" destOrd="0" presId="urn:microsoft.com/office/officeart/2009/layout/CirclePictureHierarchy"/>
    <dgm:cxn modelId="{5F05E195-0FDF-49E8-9D3E-47569890CD69}" type="presParOf" srcId="{B543FB28-68F7-4DE3-9AEB-AE58FBB217A8}" destId="{E5AE977D-10AD-421D-A419-E8B0B7AF9CB6}" srcOrd="0" destOrd="0" presId="urn:microsoft.com/office/officeart/2009/layout/CirclePictureHierarchy"/>
    <dgm:cxn modelId="{ADE838CE-F92D-45D3-815C-4AFCF67DCFA7}" type="presParOf" srcId="{B543FB28-68F7-4DE3-9AEB-AE58FBB217A8}" destId="{3109B0A9-9984-4EE1-B684-763D14024C4C}" srcOrd="1" destOrd="0" presId="urn:microsoft.com/office/officeart/2009/layout/CirclePictureHierarchy"/>
    <dgm:cxn modelId="{C0E40D53-E341-44F4-82C5-2C9CD15972F5}" type="presParOf" srcId="{3109B0A9-9984-4EE1-B684-763D14024C4C}" destId="{D6836355-ACBE-499A-9BEB-34255FF584AE}" srcOrd="0" destOrd="0" presId="urn:microsoft.com/office/officeart/2009/layout/CirclePictureHierarchy"/>
    <dgm:cxn modelId="{F66EC65E-2B3A-4CD8-AFE4-75A475C08650}" type="presParOf" srcId="{D6836355-ACBE-499A-9BEB-34255FF584AE}" destId="{DE85BA8B-1681-44A1-BFE3-71EBF0CF2CCD}" srcOrd="0" destOrd="0" presId="urn:microsoft.com/office/officeart/2009/layout/CirclePictureHierarchy"/>
    <dgm:cxn modelId="{6D3A875E-947D-49D1-8A94-E918B9F8DA6D}" type="presParOf" srcId="{D6836355-ACBE-499A-9BEB-34255FF584AE}" destId="{0CB4003B-4EB6-4003-8754-006EEEDEC6F6}" srcOrd="1" destOrd="0" presId="urn:microsoft.com/office/officeart/2009/layout/CirclePictureHierarchy"/>
    <dgm:cxn modelId="{86911124-34A7-4A6E-B0CA-B0E01C0D007A}" type="presParOf" srcId="{3109B0A9-9984-4EE1-B684-763D14024C4C}" destId="{75A69B52-4C19-411D-8449-A080B7D5A700}" srcOrd="1" destOrd="0" presId="urn:microsoft.com/office/officeart/2009/layout/CirclePictureHierarchy"/>
    <dgm:cxn modelId="{B722136D-E59B-4A05-A161-E473260E4C77}" type="presParOf" srcId="{B859BDA3-12DB-45D4-8B2B-9C47C9442D8D}" destId="{00EDDF60-040F-4F8B-9BDA-1EC610D15A78}" srcOrd="2" destOrd="0" presId="urn:microsoft.com/office/officeart/2009/layout/CirclePictureHierarchy"/>
    <dgm:cxn modelId="{E84BEB93-3685-4FE9-BE50-F53C080789BD}" type="presParOf" srcId="{B859BDA3-12DB-45D4-8B2B-9C47C9442D8D}" destId="{FBCC068D-CD08-421B-BB56-57645FF521C2}" srcOrd="3" destOrd="0" presId="urn:microsoft.com/office/officeart/2009/layout/CirclePictureHierarchy"/>
    <dgm:cxn modelId="{9E3578F2-6ED8-4531-8307-6053757B156B}" type="presParOf" srcId="{FBCC068D-CD08-421B-BB56-57645FF521C2}" destId="{86BC6AFE-261C-472C-8159-D73827371D92}" srcOrd="0" destOrd="0" presId="urn:microsoft.com/office/officeart/2009/layout/CirclePictureHierarchy"/>
    <dgm:cxn modelId="{8A8B6EFE-0982-4A04-803D-9AAD41B22B3E}" type="presParOf" srcId="{86BC6AFE-261C-472C-8159-D73827371D92}" destId="{2F521E0B-71D1-4C25-A063-63D5561FBFC9}" srcOrd="0" destOrd="0" presId="urn:microsoft.com/office/officeart/2009/layout/CirclePictureHierarchy"/>
    <dgm:cxn modelId="{07A882A5-9E37-49FD-88C8-AAFA60954722}" type="presParOf" srcId="{86BC6AFE-261C-472C-8159-D73827371D92}" destId="{453085C8-BF73-48E9-9EBA-02045E24E890}" srcOrd="1" destOrd="0" presId="urn:microsoft.com/office/officeart/2009/layout/CirclePictureHierarchy"/>
    <dgm:cxn modelId="{55FF4AA8-D189-4370-B6CF-3717A27373EC}" type="presParOf" srcId="{FBCC068D-CD08-421B-BB56-57645FF521C2}" destId="{CC3771D0-B29D-492C-BB45-5374FEDB8EC3}" srcOrd="1" destOrd="0" presId="urn:microsoft.com/office/officeart/2009/layout/CirclePictureHierarchy"/>
    <dgm:cxn modelId="{9D041FB9-5F13-4814-8D68-13335C1DC72E}" type="presParOf" srcId="{CC3771D0-B29D-492C-BB45-5374FEDB8EC3}" destId="{C94CA8CC-F54C-4523-B66A-46875DDEB2B5}" srcOrd="0" destOrd="0" presId="urn:microsoft.com/office/officeart/2009/layout/CirclePictureHierarchy"/>
    <dgm:cxn modelId="{FA9B2681-9103-4FB4-9FA9-246901CB5337}" type="presParOf" srcId="{CC3771D0-B29D-492C-BB45-5374FEDB8EC3}" destId="{A4DCD14C-267F-431D-92E7-EF3D36BE7035}" srcOrd="1" destOrd="0" presId="urn:microsoft.com/office/officeart/2009/layout/CirclePictureHierarchy"/>
    <dgm:cxn modelId="{4C06D313-6711-4BDD-B64D-CA78A430F8A6}" type="presParOf" srcId="{A4DCD14C-267F-431D-92E7-EF3D36BE7035}" destId="{EB44E9B7-A705-4A8A-8125-91F2F5BAE40F}" srcOrd="0" destOrd="0" presId="urn:microsoft.com/office/officeart/2009/layout/CirclePictureHierarchy"/>
    <dgm:cxn modelId="{D31DDE06-30BE-4CA3-89C0-4E11EF90D550}" type="presParOf" srcId="{EB44E9B7-A705-4A8A-8125-91F2F5BAE40F}" destId="{4E9F4ECD-5D6E-46D0-95EB-69D943D11FD3}" srcOrd="0" destOrd="0" presId="urn:microsoft.com/office/officeart/2009/layout/CirclePictureHierarchy"/>
    <dgm:cxn modelId="{37845F81-2910-4E7B-837B-3F8A7357C96C}" type="presParOf" srcId="{EB44E9B7-A705-4A8A-8125-91F2F5BAE40F}" destId="{EA13E7C2-E9EA-4052-8238-2D9C734DC371}" srcOrd="1" destOrd="0" presId="urn:microsoft.com/office/officeart/2009/layout/CirclePictureHierarchy"/>
    <dgm:cxn modelId="{909DDC97-8F6B-4E99-BEFE-5A4E13C4874B}" type="presParOf" srcId="{A4DCD14C-267F-431D-92E7-EF3D36BE7035}" destId="{F3CBF788-84D5-4D53-BAF3-3844EAAD1B96}" srcOrd="1" destOrd="0" presId="urn:microsoft.com/office/officeart/2009/layout/CirclePictureHierarchy"/>
    <dgm:cxn modelId="{5A3DCD11-B636-43E5-908C-FDDEA4816205}" type="presParOf" srcId="{F3CBF788-84D5-4D53-BAF3-3844EAAD1B96}" destId="{910C396D-0CE3-446E-A4AD-2F8E480471D0}" srcOrd="0" destOrd="0" presId="urn:microsoft.com/office/officeart/2009/layout/CirclePictureHierarchy"/>
    <dgm:cxn modelId="{ED0F6FAD-411E-43A4-8089-54D2873A8D08}" type="presParOf" srcId="{F3CBF788-84D5-4D53-BAF3-3844EAAD1B96}" destId="{DD492349-3BC0-423A-8760-52FB61B2728F}" srcOrd="1" destOrd="0" presId="urn:microsoft.com/office/officeart/2009/layout/CirclePictureHierarchy"/>
    <dgm:cxn modelId="{CCC47913-DEA4-4A91-8563-D8D785B97010}" type="presParOf" srcId="{DD492349-3BC0-423A-8760-52FB61B2728F}" destId="{2A3E72E5-AA2A-41C8-A190-EA2D25702D34}" srcOrd="0" destOrd="0" presId="urn:microsoft.com/office/officeart/2009/layout/CirclePictureHierarchy"/>
    <dgm:cxn modelId="{E0A736C9-92CF-42B8-A27F-7D69E70FF38D}" type="presParOf" srcId="{2A3E72E5-AA2A-41C8-A190-EA2D25702D34}" destId="{C746EE18-02D7-47A8-8435-D14896E9D417}" srcOrd="0" destOrd="0" presId="urn:microsoft.com/office/officeart/2009/layout/CirclePictureHierarchy"/>
    <dgm:cxn modelId="{8B29338E-6F47-4800-B313-B0E1755BB5AB}" type="presParOf" srcId="{2A3E72E5-AA2A-41C8-A190-EA2D25702D34}" destId="{382FBA4E-20FE-4989-9DE1-E0C04740AA74}" srcOrd="1" destOrd="0" presId="urn:microsoft.com/office/officeart/2009/layout/CirclePictureHierarchy"/>
    <dgm:cxn modelId="{F63E88F3-8D1B-4A1C-B7E4-62A371AF9909}" type="presParOf" srcId="{DD492349-3BC0-423A-8760-52FB61B2728F}" destId="{F6B8580F-CDE7-4F0D-8A2B-05B78E8DF089}" srcOrd="1" destOrd="0" presId="urn:microsoft.com/office/officeart/2009/layout/CirclePictureHierarchy"/>
    <dgm:cxn modelId="{C5DF4244-1A81-4B19-B743-D427C932EB1F}" type="presParOf" srcId="{CC3771D0-B29D-492C-BB45-5374FEDB8EC3}" destId="{B8BF6428-C0DA-4AF4-8EA6-E1833B8759E7}" srcOrd="2" destOrd="0" presId="urn:microsoft.com/office/officeart/2009/layout/CirclePictureHierarchy"/>
    <dgm:cxn modelId="{8C5C4726-465C-4CFD-893B-090E48DC422D}" type="presParOf" srcId="{CC3771D0-B29D-492C-BB45-5374FEDB8EC3}" destId="{A6C21A9D-A0BE-4DD5-A6AF-5C7C6F0B5166}" srcOrd="3" destOrd="0" presId="urn:microsoft.com/office/officeart/2009/layout/CirclePictureHierarchy"/>
    <dgm:cxn modelId="{E6E5D2B0-2ED3-4FF3-9D28-96180496ABBC}" type="presParOf" srcId="{A6C21A9D-A0BE-4DD5-A6AF-5C7C6F0B5166}" destId="{B67055C1-8FDC-41CE-9C27-13B79CC93781}" srcOrd="0" destOrd="0" presId="urn:microsoft.com/office/officeart/2009/layout/CirclePictureHierarchy"/>
    <dgm:cxn modelId="{1C35BE29-532E-444C-A110-E32AB9AB8B55}" type="presParOf" srcId="{B67055C1-8FDC-41CE-9C27-13B79CC93781}" destId="{D79E062F-5398-4F0A-A448-A5C48C4F0857}" srcOrd="0" destOrd="0" presId="urn:microsoft.com/office/officeart/2009/layout/CirclePictureHierarchy"/>
    <dgm:cxn modelId="{7BDCC23A-BDD2-4A0F-B76B-A215E4D7825B}" type="presParOf" srcId="{B67055C1-8FDC-41CE-9C27-13B79CC93781}" destId="{CFAEED46-3158-4900-8090-8F268222F669}" srcOrd="1" destOrd="0" presId="urn:microsoft.com/office/officeart/2009/layout/CirclePictureHierarchy"/>
    <dgm:cxn modelId="{3ECEB544-9D6A-4C77-9F91-2F5FEF032F95}" type="presParOf" srcId="{A6C21A9D-A0BE-4DD5-A6AF-5C7C6F0B5166}" destId="{55BEF097-7BC6-4E92-B6F9-541B19C11DFD}" srcOrd="1" destOrd="0" presId="urn:microsoft.com/office/officeart/2009/layout/CirclePictureHierarchy"/>
    <dgm:cxn modelId="{A873826B-0C38-40EC-84BB-0DDA88D430CF}" type="presParOf" srcId="{55BEF097-7BC6-4E92-B6F9-541B19C11DFD}" destId="{3629F2EF-7D71-451D-847A-234FC9C7CFC9}" srcOrd="0" destOrd="0" presId="urn:microsoft.com/office/officeart/2009/layout/CirclePictureHierarchy"/>
    <dgm:cxn modelId="{A688DA2D-FCA5-4602-9ACA-F83595592127}" type="presParOf" srcId="{55BEF097-7BC6-4E92-B6F9-541B19C11DFD}" destId="{AF891E4D-75FA-4B5C-A32E-91254D5584E1}" srcOrd="1" destOrd="0" presId="urn:microsoft.com/office/officeart/2009/layout/CirclePictureHierarchy"/>
    <dgm:cxn modelId="{30F17648-46A4-4822-8CE2-9B2DC60F1B44}" type="presParOf" srcId="{AF891E4D-75FA-4B5C-A32E-91254D5584E1}" destId="{30FB2C7B-983F-4616-91CF-38C8B53BF3FA}" srcOrd="0" destOrd="0" presId="urn:microsoft.com/office/officeart/2009/layout/CirclePictureHierarchy"/>
    <dgm:cxn modelId="{72DFAE82-FFF6-4711-8483-43BB30295587}" type="presParOf" srcId="{30FB2C7B-983F-4616-91CF-38C8B53BF3FA}" destId="{524CF180-7B83-431D-A9F1-95A01E7D3F49}" srcOrd="0" destOrd="0" presId="urn:microsoft.com/office/officeart/2009/layout/CirclePictureHierarchy"/>
    <dgm:cxn modelId="{136F9374-76FD-4E87-8F57-5D8DD376E685}" type="presParOf" srcId="{30FB2C7B-983F-4616-91CF-38C8B53BF3FA}" destId="{7411E51F-C64F-4486-A600-85E8B3E31E64}" srcOrd="1" destOrd="0" presId="urn:microsoft.com/office/officeart/2009/layout/CirclePictureHierarchy"/>
    <dgm:cxn modelId="{2A273459-3E2C-4320-AC26-D9E6CCD1425A}" type="presParOf" srcId="{AF891E4D-75FA-4B5C-A32E-91254D5584E1}" destId="{F916CDD3-A88C-445E-A304-9C3ECDABF3FF}" srcOrd="1" destOrd="0" presId="urn:microsoft.com/office/officeart/2009/layout/CirclePictureHierarchy"/>
    <dgm:cxn modelId="{CA214857-9425-4F21-B6D9-0715397DC4DC}" type="presParOf" srcId="{B859BDA3-12DB-45D4-8B2B-9C47C9442D8D}" destId="{67B41B49-5058-442C-B7E0-CD4AB78A2E2F}" srcOrd="4" destOrd="0" presId="urn:microsoft.com/office/officeart/2009/layout/CirclePictureHierarchy"/>
    <dgm:cxn modelId="{250F5F6F-BF3B-4132-8269-DF1F94526A7A}" type="presParOf" srcId="{B859BDA3-12DB-45D4-8B2B-9C47C9442D8D}" destId="{256F18DF-CE44-44F7-9CBC-DCD20B87B72A}" srcOrd="5" destOrd="0" presId="urn:microsoft.com/office/officeart/2009/layout/CirclePictureHierarchy"/>
    <dgm:cxn modelId="{698C7A8C-322C-40E3-8103-E697AFCCC025}" type="presParOf" srcId="{256F18DF-CE44-44F7-9CBC-DCD20B87B72A}" destId="{CA84DB38-FB7F-4C66-9D51-5B0F1BD29ED0}" srcOrd="0" destOrd="0" presId="urn:microsoft.com/office/officeart/2009/layout/CirclePictureHierarchy"/>
    <dgm:cxn modelId="{6AE5A159-E040-4B49-90AB-10BC05690A63}" type="presParOf" srcId="{CA84DB38-FB7F-4C66-9D51-5B0F1BD29ED0}" destId="{82F2788D-6E13-423F-907F-3D260894041F}" srcOrd="0" destOrd="0" presId="urn:microsoft.com/office/officeart/2009/layout/CirclePictureHierarchy"/>
    <dgm:cxn modelId="{96D6088E-9370-4753-B912-D0ED7E4A8A3B}" type="presParOf" srcId="{CA84DB38-FB7F-4C66-9D51-5B0F1BD29ED0}" destId="{1F171F5C-50AD-4488-B5A3-287F39929F1A}" srcOrd="1" destOrd="0" presId="urn:microsoft.com/office/officeart/2009/layout/CirclePictureHierarchy"/>
    <dgm:cxn modelId="{89AF46BF-C9A9-43E7-8C96-8CCA957C69FE}" type="presParOf" srcId="{256F18DF-CE44-44F7-9CBC-DCD20B87B72A}" destId="{1DB84455-9DE1-43BD-8B1E-A598C1910DFC}" srcOrd="1" destOrd="0" presId="urn:microsoft.com/office/officeart/2009/layout/CirclePictureHierarchy"/>
    <dgm:cxn modelId="{8EA0711B-75C0-40CC-A5C3-D3924854EE8C}" type="presParOf" srcId="{1DB84455-9DE1-43BD-8B1E-A598C1910DFC}" destId="{3A44B83B-A02A-42B2-9B5A-686EFDE2628E}" srcOrd="0" destOrd="0" presId="urn:microsoft.com/office/officeart/2009/layout/CirclePictureHierarchy"/>
    <dgm:cxn modelId="{9FCA6BA7-063E-41EB-889C-E5407A6E2EAB}" type="presParOf" srcId="{1DB84455-9DE1-43BD-8B1E-A598C1910DFC}" destId="{052420C3-B054-4518-8F29-7CB84CAC4714}" srcOrd="1" destOrd="0" presId="urn:microsoft.com/office/officeart/2009/layout/CirclePictureHierarchy"/>
    <dgm:cxn modelId="{0B55B0DE-60E6-4B8B-AEAC-84F1E3EE4070}" type="presParOf" srcId="{052420C3-B054-4518-8F29-7CB84CAC4714}" destId="{C7FBE93D-5945-4DC1-B7F4-6ADB31CAAD82}" srcOrd="0" destOrd="0" presId="urn:microsoft.com/office/officeart/2009/layout/CirclePictureHierarchy"/>
    <dgm:cxn modelId="{B1A7AC39-F174-4FCA-AF75-E88A25E06C95}" type="presParOf" srcId="{C7FBE93D-5945-4DC1-B7F4-6ADB31CAAD82}" destId="{041B3700-2A5E-4B9D-A633-732B5884F379}" srcOrd="0" destOrd="0" presId="urn:microsoft.com/office/officeart/2009/layout/CirclePictureHierarchy"/>
    <dgm:cxn modelId="{F7D1832D-366E-4411-8229-FF9E03349DBF}" type="presParOf" srcId="{C7FBE93D-5945-4DC1-B7F4-6ADB31CAAD82}" destId="{107B5CCC-5966-43FE-8731-3C7568A67476}" srcOrd="1" destOrd="0" presId="urn:microsoft.com/office/officeart/2009/layout/CirclePictureHierarchy"/>
    <dgm:cxn modelId="{BD44F24C-30AB-4326-9E5B-71F9DD2613E9}" type="presParOf" srcId="{052420C3-B054-4518-8F29-7CB84CAC4714}" destId="{9433E7F5-1613-4057-B00C-B9A97EADC182}" srcOrd="1" destOrd="0" presId="urn:microsoft.com/office/officeart/2009/layout/CirclePictureHierarchy"/>
    <dgm:cxn modelId="{6DEA93C3-5F49-4434-B163-B8BBA4E67112}" type="presParOf" srcId="{9433E7F5-1613-4057-B00C-B9A97EADC182}" destId="{31A2B9B0-69B8-49DD-8737-55F6BE42716A}" srcOrd="0" destOrd="0" presId="urn:microsoft.com/office/officeart/2009/layout/CirclePictureHierarchy"/>
    <dgm:cxn modelId="{077C4E4D-B4E2-487C-A203-9016678D4B04}" type="presParOf" srcId="{9433E7F5-1613-4057-B00C-B9A97EADC182}" destId="{5A57982F-CEF2-412D-9805-408E6AF8A573}" srcOrd="1" destOrd="0" presId="urn:microsoft.com/office/officeart/2009/layout/CirclePictureHierarchy"/>
    <dgm:cxn modelId="{434ECD74-B896-421F-B508-3846B5B0DC99}" type="presParOf" srcId="{5A57982F-CEF2-412D-9805-408E6AF8A573}" destId="{59E79E15-49D0-40E1-A4BB-CC230CA63D61}" srcOrd="0" destOrd="0" presId="urn:microsoft.com/office/officeart/2009/layout/CirclePictureHierarchy"/>
    <dgm:cxn modelId="{7F459F6A-DF84-4962-9316-CDBA6CD9F36D}" type="presParOf" srcId="{59E79E15-49D0-40E1-A4BB-CC230CA63D61}" destId="{579261AF-40EC-4B84-8F47-A1903BEF9773}" srcOrd="0" destOrd="0" presId="urn:microsoft.com/office/officeart/2009/layout/CirclePictureHierarchy"/>
    <dgm:cxn modelId="{2584A130-2F5C-4A6A-B72D-3C69CF5D72B2}" type="presParOf" srcId="{59E79E15-49D0-40E1-A4BB-CC230CA63D61}" destId="{ADE9B185-162D-4B49-85E4-C9332583AB35}" srcOrd="1" destOrd="0" presId="urn:microsoft.com/office/officeart/2009/layout/CirclePictureHierarchy"/>
    <dgm:cxn modelId="{034ABD59-0449-4FF1-B665-FF8187207F18}" type="presParOf" srcId="{5A57982F-CEF2-412D-9805-408E6AF8A573}" destId="{42375117-5637-4A8E-BA81-79E4525E19B9}" srcOrd="1" destOrd="0" presId="urn:microsoft.com/office/officeart/2009/layout/CirclePictureHierarchy"/>
    <dgm:cxn modelId="{4525F4BD-E62D-418B-AA10-9D79849E7A11}" type="presParOf" srcId="{1DB84455-9DE1-43BD-8B1E-A598C1910DFC}" destId="{23F4BB7C-F72D-4829-8315-555FDF5F4D6F}" srcOrd="2" destOrd="0" presId="urn:microsoft.com/office/officeart/2009/layout/CirclePictureHierarchy"/>
    <dgm:cxn modelId="{296967F0-2D71-4070-8CE1-51E56D628470}" type="presParOf" srcId="{1DB84455-9DE1-43BD-8B1E-A598C1910DFC}" destId="{33689D66-5768-4757-9C91-5C0CF723730F}" srcOrd="3" destOrd="0" presId="urn:microsoft.com/office/officeart/2009/layout/CirclePictureHierarchy"/>
    <dgm:cxn modelId="{53259D33-2881-4A49-9A9B-FC699A093487}" type="presParOf" srcId="{33689D66-5768-4757-9C91-5C0CF723730F}" destId="{03A93520-16DA-4C0C-91D8-BBCDDF988C1F}" srcOrd="0" destOrd="0" presId="urn:microsoft.com/office/officeart/2009/layout/CirclePictureHierarchy"/>
    <dgm:cxn modelId="{07BA19D3-CB14-4242-BA41-AFBFCC2D7E6F}" type="presParOf" srcId="{03A93520-16DA-4C0C-91D8-BBCDDF988C1F}" destId="{5BC55C57-E100-4F40-B211-4FE6F3D36D5F}" srcOrd="0" destOrd="0" presId="urn:microsoft.com/office/officeart/2009/layout/CirclePictureHierarchy"/>
    <dgm:cxn modelId="{5BB77BDF-22A0-4C07-BA64-CD4F1E26679F}" type="presParOf" srcId="{03A93520-16DA-4C0C-91D8-BBCDDF988C1F}" destId="{FDA84F20-5D55-4347-977F-FA601A52D9A5}" srcOrd="1" destOrd="0" presId="urn:microsoft.com/office/officeart/2009/layout/CirclePictureHierarchy"/>
    <dgm:cxn modelId="{AFB91477-EEC3-4DBE-BC5C-24333F667475}" type="presParOf" srcId="{33689D66-5768-4757-9C91-5C0CF723730F}" destId="{F121613D-D65D-4381-8D85-1C4D24C1C635}" srcOrd="1" destOrd="0" presId="urn:microsoft.com/office/officeart/2009/layout/CirclePictureHierarchy"/>
    <dgm:cxn modelId="{B0FE5CD6-E6C3-451E-A664-4ECCD26D93BF}" type="presParOf" srcId="{F121613D-D65D-4381-8D85-1C4D24C1C635}" destId="{7E35A0D7-0556-4DAE-B374-6001EFFBD975}" srcOrd="0" destOrd="0" presId="urn:microsoft.com/office/officeart/2009/layout/CirclePictureHierarchy"/>
    <dgm:cxn modelId="{1DDBA5E9-8E6E-4577-8129-0F98F8D59F28}" type="presParOf" srcId="{F121613D-D65D-4381-8D85-1C4D24C1C635}" destId="{DA955808-B4B3-4069-8C8B-D14BF036050F}" srcOrd="1" destOrd="0" presId="urn:microsoft.com/office/officeart/2009/layout/CirclePictureHierarchy"/>
    <dgm:cxn modelId="{7FA16905-0443-4553-B9AE-6F35416F5329}" type="presParOf" srcId="{DA955808-B4B3-4069-8C8B-D14BF036050F}" destId="{9F2B02FF-BA2E-4E6E-B732-1EDDEB034AF6}" srcOrd="0" destOrd="0" presId="urn:microsoft.com/office/officeart/2009/layout/CirclePictureHierarchy"/>
    <dgm:cxn modelId="{738D512E-1971-4CBA-A2EE-643D23F52CA9}" type="presParOf" srcId="{9F2B02FF-BA2E-4E6E-B732-1EDDEB034AF6}" destId="{150FD50D-93D3-4127-BF4F-A2F4227B8D58}" srcOrd="0" destOrd="0" presId="urn:microsoft.com/office/officeart/2009/layout/CirclePictureHierarchy"/>
    <dgm:cxn modelId="{B67CF9C1-AB81-412B-89C6-4ECB0A436890}" type="presParOf" srcId="{9F2B02FF-BA2E-4E6E-B732-1EDDEB034AF6}" destId="{B7B70EBB-6B05-4611-B763-C182968EF533}" srcOrd="1" destOrd="0" presId="urn:microsoft.com/office/officeart/2009/layout/CirclePictureHierarchy"/>
    <dgm:cxn modelId="{AFEAC786-D856-4202-9F53-9957EE726E99}" type="presParOf" srcId="{DA955808-B4B3-4069-8C8B-D14BF036050F}" destId="{5323AAD8-C5A2-4046-943C-F802128E469E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0C1721-B418-48F5-A8B3-CC67349F51C9}" type="doc">
      <dgm:prSet loTypeId="urn:microsoft.com/office/officeart/2005/8/layout/h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77BA23-9173-4933-8ED5-028687F977BF}">
      <dgm:prSet/>
      <dgm:spPr/>
      <dgm:t>
        <a:bodyPr/>
        <a:lstStyle/>
        <a:p>
          <a:r>
            <a:rPr lang="ru-RU" dirty="0"/>
            <a:t>Булева: ИСТИНА, ЛОЖЬ (0,1)</a:t>
          </a:r>
          <a:endParaRPr lang="en-US" dirty="0"/>
        </a:p>
      </dgm:t>
    </dgm:pt>
    <dgm:pt modelId="{26A5347A-61F4-49FB-B30E-289FCD70E175}" type="parTrans" cxnId="{4BA3233B-08C2-438A-A5FF-19CCD45ED662}">
      <dgm:prSet/>
      <dgm:spPr/>
      <dgm:t>
        <a:bodyPr/>
        <a:lstStyle/>
        <a:p>
          <a:endParaRPr lang="en-US"/>
        </a:p>
      </dgm:t>
    </dgm:pt>
    <dgm:pt modelId="{64F2ECEC-46B1-4D73-B729-179787F63ACA}" type="sibTrans" cxnId="{4BA3233B-08C2-438A-A5FF-19CCD45ED662}">
      <dgm:prSet/>
      <dgm:spPr/>
      <dgm:t>
        <a:bodyPr/>
        <a:lstStyle/>
        <a:p>
          <a:endParaRPr lang="en-US"/>
        </a:p>
      </dgm:t>
    </dgm:pt>
    <dgm:pt modelId="{06EDE56B-FF1E-466A-9CB9-C852EEA6AEA7}">
      <dgm:prSet/>
      <dgm:spPr/>
      <dgm:t>
        <a:bodyPr/>
        <a:lstStyle/>
        <a:p>
          <a:r>
            <a:rPr lang="ru-RU" dirty="0"/>
            <a:t>Многозначная логика:</a:t>
          </a:r>
          <a:r>
            <a:rPr lang="en-US" dirty="0"/>
            <a:t> (0,1,2,…,n)</a:t>
          </a:r>
        </a:p>
      </dgm:t>
    </dgm:pt>
    <dgm:pt modelId="{7A365B4E-7FD1-4FCA-ACFD-FDD5C3120A30}" type="parTrans" cxnId="{B252752C-6021-43FE-BC30-AED9C1F96D60}">
      <dgm:prSet/>
      <dgm:spPr/>
      <dgm:t>
        <a:bodyPr/>
        <a:lstStyle/>
        <a:p>
          <a:endParaRPr lang="en-US"/>
        </a:p>
      </dgm:t>
    </dgm:pt>
    <dgm:pt modelId="{EAD8CAEB-DD35-4711-AA53-E63D1C759B8C}" type="sibTrans" cxnId="{B252752C-6021-43FE-BC30-AED9C1F96D60}">
      <dgm:prSet/>
      <dgm:spPr/>
      <dgm:t>
        <a:bodyPr/>
        <a:lstStyle/>
        <a:p>
          <a:endParaRPr lang="en-US"/>
        </a:p>
      </dgm:t>
    </dgm:pt>
    <dgm:pt modelId="{7418EA96-F092-4077-B35D-FA7B21356D26}">
      <dgm:prSet/>
      <dgm:spPr/>
      <dgm:t>
        <a:bodyPr/>
        <a:lstStyle/>
        <a:p>
          <a:r>
            <a:rPr lang="ru-RU" dirty="0"/>
            <a:t>Расстояние (Близко, Средне, Далеко)</a:t>
          </a:r>
          <a:endParaRPr lang="en-US" dirty="0"/>
        </a:p>
      </dgm:t>
    </dgm:pt>
    <dgm:pt modelId="{0F6CF26B-D9F5-4788-815F-EEFB3FEA5AD6}" type="parTrans" cxnId="{C46B5959-1F6A-4A6C-9C74-C03221ADFA90}">
      <dgm:prSet/>
      <dgm:spPr/>
      <dgm:t>
        <a:bodyPr/>
        <a:lstStyle/>
        <a:p>
          <a:endParaRPr lang="en-US"/>
        </a:p>
      </dgm:t>
    </dgm:pt>
    <dgm:pt modelId="{C24FE373-1235-412A-A716-9F15A28E134E}" type="sibTrans" cxnId="{C46B5959-1F6A-4A6C-9C74-C03221ADFA90}">
      <dgm:prSet/>
      <dgm:spPr/>
      <dgm:t>
        <a:bodyPr/>
        <a:lstStyle/>
        <a:p>
          <a:endParaRPr lang="en-US"/>
        </a:p>
      </dgm:t>
    </dgm:pt>
    <dgm:pt modelId="{C8C6CC67-3391-4307-B771-917EA8AEAE3A}" type="pres">
      <dgm:prSet presAssocID="{170C1721-B418-48F5-A8B3-CC67349F51C9}" presName="Name0" presStyleCnt="0">
        <dgm:presLayoutVars>
          <dgm:dir/>
          <dgm:animLvl val="lvl"/>
          <dgm:resizeHandles val="exact"/>
        </dgm:presLayoutVars>
      </dgm:prSet>
      <dgm:spPr/>
    </dgm:pt>
    <dgm:pt modelId="{1FB215E6-6ED7-481F-8514-AC8650E1C7E1}" type="pres">
      <dgm:prSet presAssocID="{3777BA23-9173-4933-8ED5-028687F977BF}" presName="composite" presStyleCnt="0"/>
      <dgm:spPr/>
    </dgm:pt>
    <dgm:pt modelId="{984F3961-00F7-4334-BDCC-2E04945667A3}" type="pres">
      <dgm:prSet presAssocID="{3777BA23-9173-4933-8ED5-028687F977B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6A01107-2C15-4DA2-BC3D-A7856F407202}" type="pres">
      <dgm:prSet presAssocID="{3777BA23-9173-4933-8ED5-028687F977BF}" presName="desTx" presStyleLbl="alignAccFollowNode1" presStyleIdx="0" presStyleCnt="2">
        <dgm:presLayoutVars>
          <dgm:bulletEnabled val="1"/>
        </dgm:presLayoutVars>
      </dgm:prSet>
      <dgm:spPr/>
    </dgm:pt>
    <dgm:pt modelId="{B8FD2EF1-0941-442A-A818-E1D5168A46CD}" type="pres">
      <dgm:prSet presAssocID="{64F2ECEC-46B1-4D73-B729-179787F63ACA}" presName="space" presStyleCnt="0"/>
      <dgm:spPr/>
    </dgm:pt>
    <dgm:pt modelId="{59454778-9EFB-4530-8B9B-F03CBEDD6CD9}" type="pres">
      <dgm:prSet presAssocID="{06EDE56B-FF1E-466A-9CB9-C852EEA6AEA7}" presName="composite" presStyleCnt="0"/>
      <dgm:spPr/>
    </dgm:pt>
    <dgm:pt modelId="{9139AF0C-C7D3-4766-BE7D-CB2A556E0AE3}" type="pres">
      <dgm:prSet presAssocID="{06EDE56B-FF1E-466A-9CB9-C852EEA6AEA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2236BF2-A617-4B9F-9100-E0AB1061128B}" type="pres">
      <dgm:prSet presAssocID="{06EDE56B-FF1E-466A-9CB9-C852EEA6AEA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24B0602-E3F5-40C2-A382-289030E72B8A}" type="presOf" srcId="{7418EA96-F092-4077-B35D-FA7B21356D26}" destId="{E2236BF2-A617-4B9F-9100-E0AB1061128B}" srcOrd="0" destOrd="0" presId="urn:microsoft.com/office/officeart/2005/8/layout/hList1"/>
    <dgm:cxn modelId="{F923DC1D-17D5-4A04-91D8-0870EAAF7B46}" type="presOf" srcId="{170C1721-B418-48F5-A8B3-CC67349F51C9}" destId="{C8C6CC67-3391-4307-B771-917EA8AEAE3A}" srcOrd="0" destOrd="0" presId="urn:microsoft.com/office/officeart/2005/8/layout/hList1"/>
    <dgm:cxn modelId="{B252752C-6021-43FE-BC30-AED9C1F96D60}" srcId="{170C1721-B418-48F5-A8B3-CC67349F51C9}" destId="{06EDE56B-FF1E-466A-9CB9-C852EEA6AEA7}" srcOrd="1" destOrd="0" parTransId="{7A365B4E-7FD1-4FCA-ACFD-FDD5C3120A30}" sibTransId="{EAD8CAEB-DD35-4711-AA53-E63D1C759B8C}"/>
    <dgm:cxn modelId="{4BA3233B-08C2-438A-A5FF-19CCD45ED662}" srcId="{170C1721-B418-48F5-A8B3-CC67349F51C9}" destId="{3777BA23-9173-4933-8ED5-028687F977BF}" srcOrd="0" destOrd="0" parTransId="{26A5347A-61F4-49FB-B30E-289FCD70E175}" sibTransId="{64F2ECEC-46B1-4D73-B729-179787F63ACA}"/>
    <dgm:cxn modelId="{F799CA62-A82D-4F5A-9578-39C0E44090F3}" type="presOf" srcId="{06EDE56B-FF1E-466A-9CB9-C852EEA6AEA7}" destId="{9139AF0C-C7D3-4766-BE7D-CB2A556E0AE3}" srcOrd="0" destOrd="0" presId="urn:microsoft.com/office/officeart/2005/8/layout/hList1"/>
    <dgm:cxn modelId="{C46B5959-1F6A-4A6C-9C74-C03221ADFA90}" srcId="{06EDE56B-FF1E-466A-9CB9-C852EEA6AEA7}" destId="{7418EA96-F092-4077-B35D-FA7B21356D26}" srcOrd="0" destOrd="0" parTransId="{0F6CF26B-D9F5-4788-815F-EEFB3FEA5AD6}" sibTransId="{C24FE373-1235-412A-A716-9F15A28E134E}"/>
    <dgm:cxn modelId="{1D6EBC82-1A52-4D6F-879B-AB3C45FC6CBD}" type="presOf" srcId="{3777BA23-9173-4933-8ED5-028687F977BF}" destId="{984F3961-00F7-4334-BDCC-2E04945667A3}" srcOrd="0" destOrd="0" presId="urn:microsoft.com/office/officeart/2005/8/layout/hList1"/>
    <dgm:cxn modelId="{C28FFF31-5609-41D4-B042-526F58B00AF1}" type="presParOf" srcId="{C8C6CC67-3391-4307-B771-917EA8AEAE3A}" destId="{1FB215E6-6ED7-481F-8514-AC8650E1C7E1}" srcOrd="0" destOrd="0" presId="urn:microsoft.com/office/officeart/2005/8/layout/hList1"/>
    <dgm:cxn modelId="{EA830A88-0DBA-4577-A513-C359FC295689}" type="presParOf" srcId="{1FB215E6-6ED7-481F-8514-AC8650E1C7E1}" destId="{984F3961-00F7-4334-BDCC-2E04945667A3}" srcOrd="0" destOrd="0" presId="urn:microsoft.com/office/officeart/2005/8/layout/hList1"/>
    <dgm:cxn modelId="{9E8F9D1E-DDF4-4C26-B619-F02F7F68ED0C}" type="presParOf" srcId="{1FB215E6-6ED7-481F-8514-AC8650E1C7E1}" destId="{E6A01107-2C15-4DA2-BC3D-A7856F407202}" srcOrd="1" destOrd="0" presId="urn:microsoft.com/office/officeart/2005/8/layout/hList1"/>
    <dgm:cxn modelId="{D825929E-86A9-4CB1-8008-6B4EB96BD062}" type="presParOf" srcId="{C8C6CC67-3391-4307-B771-917EA8AEAE3A}" destId="{B8FD2EF1-0941-442A-A818-E1D5168A46CD}" srcOrd="1" destOrd="0" presId="urn:microsoft.com/office/officeart/2005/8/layout/hList1"/>
    <dgm:cxn modelId="{94AE795D-3D18-46CB-B13F-1BD3B65A3175}" type="presParOf" srcId="{C8C6CC67-3391-4307-B771-917EA8AEAE3A}" destId="{59454778-9EFB-4530-8B9B-F03CBEDD6CD9}" srcOrd="2" destOrd="0" presId="urn:microsoft.com/office/officeart/2005/8/layout/hList1"/>
    <dgm:cxn modelId="{48E00371-029C-46FD-9734-518F45643B55}" type="presParOf" srcId="{59454778-9EFB-4530-8B9B-F03CBEDD6CD9}" destId="{9139AF0C-C7D3-4766-BE7D-CB2A556E0AE3}" srcOrd="0" destOrd="0" presId="urn:microsoft.com/office/officeart/2005/8/layout/hList1"/>
    <dgm:cxn modelId="{5F0A8F73-25F3-49B2-91FE-105E579A7741}" type="presParOf" srcId="{59454778-9EFB-4530-8B9B-F03CBEDD6CD9}" destId="{E2236BF2-A617-4B9F-9100-E0AB1061128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49073C-7A44-4FAB-A059-9A009E181ED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34073F-5137-4F3F-807B-5358622941FF}">
      <dgm:prSet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b="1" i="1" dirty="0"/>
            <a:t>Нечеткое продукционное (композиционное) правило</a:t>
          </a:r>
          <a:r>
            <a:rPr lang="ru-RU" b="1" dirty="0"/>
            <a:t> </a:t>
          </a:r>
          <a:r>
            <a:rPr lang="ru-RU" dirty="0"/>
            <a:t>– это выражение вида:(i):Q;P;A═&gt;B;S,F,N,</a:t>
          </a:r>
          <a:endParaRPr lang="en-US" dirty="0"/>
        </a:p>
        <a:p>
          <a:pPr marL="0" lvl="0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dirty="0"/>
        </a:p>
      </dgm:t>
    </dgm:pt>
    <dgm:pt modelId="{DAA7A08B-D5AD-447E-ABBB-8FEEDBF7E5A8}" type="parTrans" cxnId="{2C101910-D4A4-47D5-AF58-B9307980C638}">
      <dgm:prSet/>
      <dgm:spPr/>
      <dgm:t>
        <a:bodyPr/>
        <a:lstStyle/>
        <a:p>
          <a:endParaRPr lang="en-US"/>
        </a:p>
      </dgm:t>
    </dgm:pt>
    <dgm:pt modelId="{C81E345F-7BBB-4BCB-B8CB-6B04197FB33E}" type="sibTrans" cxnId="{2C101910-D4A4-47D5-AF58-B9307980C638}">
      <dgm:prSet/>
      <dgm:spPr/>
      <dgm:t>
        <a:bodyPr/>
        <a:lstStyle/>
        <a:p>
          <a:endParaRPr lang="en-US"/>
        </a:p>
      </dgm:t>
    </dgm:pt>
    <dgm:pt modelId="{82B01EA3-961F-4013-8F5C-2D95521EA02E}">
      <dgm:prSet/>
      <dgm:spPr/>
      <dgm:t>
        <a:bodyPr/>
        <a:lstStyle/>
        <a:p>
          <a:endParaRPr lang="en-US" dirty="0"/>
        </a:p>
      </dgm:t>
    </dgm:pt>
    <dgm:pt modelId="{F4240869-03C0-43CB-B719-E83EEDFDBB58}" type="parTrans" cxnId="{158452ED-63B1-4651-B00B-54960FD22F78}">
      <dgm:prSet/>
      <dgm:spPr/>
      <dgm:t>
        <a:bodyPr/>
        <a:lstStyle/>
        <a:p>
          <a:endParaRPr lang="en-US"/>
        </a:p>
      </dgm:t>
    </dgm:pt>
    <dgm:pt modelId="{551B9DE3-AE93-4A64-AED5-D0F0DCB14342}" type="sibTrans" cxnId="{158452ED-63B1-4651-B00B-54960FD22F78}">
      <dgm:prSet/>
      <dgm:spPr/>
      <dgm:t>
        <a:bodyPr/>
        <a:lstStyle/>
        <a:p>
          <a:endParaRPr lang="en-US"/>
        </a:p>
      </dgm:t>
    </dgm:pt>
    <dgm:pt modelId="{769180A2-73B0-4587-8669-002AF27C5BEE}">
      <dgm:prSet/>
      <dgm:spPr/>
      <dgm:t>
        <a:bodyPr/>
        <a:lstStyle/>
        <a:p>
          <a:r>
            <a:rPr lang="ru-RU"/>
            <a:t>где (i) – имя нечеткой продукции, </a:t>
          </a:r>
          <a:endParaRPr lang="en-US"/>
        </a:p>
      </dgm:t>
    </dgm:pt>
    <dgm:pt modelId="{97D088C0-377F-439C-888C-0F5309F85A92}" type="parTrans" cxnId="{CE97A894-4148-4A77-B783-19E6D4677685}">
      <dgm:prSet/>
      <dgm:spPr/>
      <dgm:t>
        <a:bodyPr/>
        <a:lstStyle/>
        <a:p>
          <a:endParaRPr lang="en-US"/>
        </a:p>
      </dgm:t>
    </dgm:pt>
    <dgm:pt modelId="{EEDB224E-3686-4FD7-9442-59193B38178D}" type="sibTrans" cxnId="{CE97A894-4148-4A77-B783-19E6D4677685}">
      <dgm:prSet/>
      <dgm:spPr/>
      <dgm:t>
        <a:bodyPr/>
        <a:lstStyle/>
        <a:p>
          <a:endParaRPr lang="en-US"/>
        </a:p>
      </dgm:t>
    </dgm:pt>
    <dgm:pt modelId="{CFB516C5-6E10-48E1-B070-EFFC78F0B95F}">
      <dgm:prSet/>
      <dgm:spPr/>
      <dgm:t>
        <a:bodyPr/>
        <a:lstStyle/>
        <a:p>
          <a:r>
            <a:rPr lang="ru-RU"/>
            <a:t>Q – сфера применения нечеткой продукции, </a:t>
          </a:r>
          <a:endParaRPr lang="en-US"/>
        </a:p>
      </dgm:t>
    </dgm:pt>
    <dgm:pt modelId="{F1BCBA9D-53D6-4BB2-9B02-34BBB1A379B4}" type="parTrans" cxnId="{DD840A08-0007-4C17-8E78-BD22A28F2211}">
      <dgm:prSet/>
      <dgm:spPr/>
      <dgm:t>
        <a:bodyPr/>
        <a:lstStyle/>
        <a:p>
          <a:endParaRPr lang="en-US"/>
        </a:p>
      </dgm:t>
    </dgm:pt>
    <dgm:pt modelId="{D17A863F-7A16-4290-ACE8-DA3715129AAD}" type="sibTrans" cxnId="{DD840A08-0007-4C17-8E78-BD22A28F2211}">
      <dgm:prSet/>
      <dgm:spPr/>
      <dgm:t>
        <a:bodyPr/>
        <a:lstStyle/>
        <a:p>
          <a:endParaRPr lang="en-US"/>
        </a:p>
      </dgm:t>
    </dgm:pt>
    <dgm:pt modelId="{9772648E-B51F-4F5D-B9B1-158ED7F05949}">
      <dgm:prSet/>
      <dgm:spPr/>
      <dgm:t>
        <a:bodyPr/>
        <a:lstStyle/>
        <a:p>
          <a:r>
            <a:rPr lang="ru-RU"/>
            <a:t>P – условие применимости ядра нечеткой продукции, </a:t>
          </a:r>
          <a:endParaRPr lang="en-US"/>
        </a:p>
      </dgm:t>
    </dgm:pt>
    <dgm:pt modelId="{4E3794B6-6EEA-4706-AF4D-41B66023CE2D}" type="parTrans" cxnId="{0D27D2B4-D5F3-4F22-B492-0D4E2DB438F3}">
      <dgm:prSet/>
      <dgm:spPr/>
      <dgm:t>
        <a:bodyPr/>
        <a:lstStyle/>
        <a:p>
          <a:endParaRPr lang="en-US"/>
        </a:p>
      </dgm:t>
    </dgm:pt>
    <dgm:pt modelId="{E457FD71-519F-499F-9CDA-4A0DC1A2680E}" type="sibTrans" cxnId="{0D27D2B4-D5F3-4F22-B492-0D4E2DB438F3}">
      <dgm:prSet/>
      <dgm:spPr/>
      <dgm:t>
        <a:bodyPr/>
        <a:lstStyle/>
        <a:p>
          <a:endParaRPr lang="en-US"/>
        </a:p>
      </dgm:t>
    </dgm:pt>
    <dgm:pt modelId="{D63163A4-F44A-4D6A-8AF7-0AF9874982CD}">
      <dgm:prSet/>
      <dgm:spPr/>
      <dgm:t>
        <a:bodyPr/>
        <a:lstStyle/>
        <a:p>
          <a:r>
            <a:rPr lang="ru-RU"/>
            <a:t>A═&gt;B – ядро нечеткой продукции, в котором A – условие ядра (или антецедент), B – заключение ядра (или консеквент), ═&gt; – знак логической секвенции или следования, </a:t>
          </a:r>
          <a:endParaRPr lang="en-US"/>
        </a:p>
      </dgm:t>
    </dgm:pt>
    <dgm:pt modelId="{A9DA5DC3-367B-4288-B31F-347B8A4666F3}" type="parTrans" cxnId="{87DE0F8E-8832-4F00-AE8D-96DF4C8EE279}">
      <dgm:prSet/>
      <dgm:spPr/>
      <dgm:t>
        <a:bodyPr/>
        <a:lstStyle/>
        <a:p>
          <a:endParaRPr lang="en-US"/>
        </a:p>
      </dgm:t>
    </dgm:pt>
    <dgm:pt modelId="{2C54AB6A-F77C-488F-93F8-CE02AF9CEE6C}" type="sibTrans" cxnId="{87DE0F8E-8832-4F00-AE8D-96DF4C8EE279}">
      <dgm:prSet/>
      <dgm:spPr/>
      <dgm:t>
        <a:bodyPr/>
        <a:lstStyle/>
        <a:p>
          <a:endParaRPr lang="en-US"/>
        </a:p>
      </dgm:t>
    </dgm:pt>
    <dgm:pt modelId="{0320D0E8-7D4F-45FD-8F5F-0DB3408FE5CA}">
      <dgm:prSet/>
      <dgm:spPr/>
      <dgm:t>
        <a:bodyPr/>
        <a:lstStyle/>
        <a:p>
          <a:r>
            <a:rPr lang="ru-RU"/>
            <a:t>S – метод или способ определения количественного значения степени истинности заключения ядра, </a:t>
          </a:r>
          <a:endParaRPr lang="en-US"/>
        </a:p>
      </dgm:t>
    </dgm:pt>
    <dgm:pt modelId="{936E339E-E44F-4D24-B23F-EB147610FACC}" type="parTrans" cxnId="{818A0B91-0CA2-43C9-9DA5-0E535BEA674A}">
      <dgm:prSet/>
      <dgm:spPr/>
      <dgm:t>
        <a:bodyPr/>
        <a:lstStyle/>
        <a:p>
          <a:endParaRPr lang="en-US"/>
        </a:p>
      </dgm:t>
    </dgm:pt>
    <dgm:pt modelId="{906D8947-242E-40DC-819E-E31940B49318}" type="sibTrans" cxnId="{818A0B91-0CA2-43C9-9DA5-0E535BEA674A}">
      <dgm:prSet/>
      <dgm:spPr/>
      <dgm:t>
        <a:bodyPr/>
        <a:lstStyle/>
        <a:p>
          <a:endParaRPr lang="en-US"/>
        </a:p>
      </dgm:t>
    </dgm:pt>
    <dgm:pt modelId="{9E603D04-6951-4014-A60E-1869A5CFD0E8}">
      <dgm:prSet/>
      <dgm:spPr/>
      <dgm:t>
        <a:bodyPr/>
        <a:lstStyle/>
        <a:p>
          <a:r>
            <a:rPr lang="ru-RU"/>
            <a:t>F – коэффициент определенности или уверенности нечеткой продукции, </a:t>
          </a:r>
          <a:endParaRPr lang="en-US"/>
        </a:p>
      </dgm:t>
    </dgm:pt>
    <dgm:pt modelId="{BB00562B-E905-4103-86C0-4FD46CF68203}" type="parTrans" cxnId="{740B7C68-2E31-46F5-A1C7-A1C7EAE14DA6}">
      <dgm:prSet/>
      <dgm:spPr/>
      <dgm:t>
        <a:bodyPr/>
        <a:lstStyle/>
        <a:p>
          <a:endParaRPr lang="en-US"/>
        </a:p>
      </dgm:t>
    </dgm:pt>
    <dgm:pt modelId="{E939D879-78D7-4C26-951A-ECAB51E1B04B}" type="sibTrans" cxnId="{740B7C68-2E31-46F5-A1C7-A1C7EAE14DA6}">
      <dgm:prSet/>
      <dgm:spPr/>
      <dgm:t>
        <a:bodyPr/>
        <a:lstStyle/>
        <a:p>
          <a:endParaRPr lang="en-US"/>
        </a:p>
      </dgm:t>
    </dgm:pt>
    <dgm:pt modelId="{7B69A99D-C10D-4747-8F31-26193705A3BA}">
      <dgm:prSet/>
      <dgm:spPr/>
      <dgm:t>
        <a:bodyPr/>
        <a:lstStyle/>
        <a:p>
          <a:r>
            <a:rPr lang="ru-RU"/>
            <a:t>N – постусловия продукции (не обязательны)</a:t>
          </a:r>
          <a:endParaRPr lang="en-US"/>
        </a:p>
      </dgm:t>
    </dgm:pt>
    <dgm:pt modelId="{A5799095-8790-4AE9-A12D-2FDB3FCEA6A3}" type="parTrans" cxnId="{F7491607-8E2A-4783-868F-9D00750D5759}">
      <dgm:prSet/>
      <dgm:spPr/>
      <dgm:t>
        <a:bodyPr/>
        <a:lstStyle/>
        <a:p>
          <a:endParaRPr lang="en-US"/>
        </a:p>
      </dgm:t>
    </dgm:pt>
    <dgm:pt modelId="{E6494E65-B6CA-4005-AA2C-E125DF7564C5}" type="sibTrans" cxnId="{F7491607-8E2A-4783-868F-9D00750D5759}">
      <dgm:prSet/>
      <dgm:spPr/>
      <dgm:t>
        <a:bodyPr/>
        <a:lstStyle/>
        <a:p>
          <a:endParaRPr lang="en-US"/>
        </a:p>
      </dgm:t>
    </dgm:pt>
    <dgm:pt modelId="{3E97143F-E586-4656-A1E7-5FA5002C6AB4}" type="pres">
      <dgm:prSet presAssocID="{C749073C-7A44-4FAB-A059-9A009E181ED5}" presName="linear" presStyleCnt="0">
        <dgm:presLayoutVars>
          <dgm:animLvl val="lvl"/>
          <dgm:resizeHandles val="exact"/>
        </dgm:presLayoutVars>
      </dgm:prSet>
      <dgm:spPr/>
    </dgm:pt>
    <dgm:pt modelId="{923D49C6-119D-45BB-84F2-DD9D3A1E6D5C}" type="pres">
      <dgm:prSet presAssocID="{0434073F-5137-4F3F-807B-5358622941FF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2EFB5F10-1D16-42C6-B7C2-BBCF824CD4C5}" type="pres">
      <dgm:prSet presAssocID="{0434073F-5137-4F3F-807B-5358622941FF}" presName="childText" presStyleLbl="revTx" presStyleIdx="0" presStyleCnt="1">
        <dgm:presLayoutVars>
          <dgm:bulletEnabled val="1"/>
        </dgm:presLayoutVars>
      </dgm:prSet>
      <dgm:spPr/>
    </dgm:pt>
    <dgm:pt modelId="{7D415286-4F8A-43AC-B0EF-FFE3C02F9866}" type="pres">
      <dgm:prSet presAssocID="{769180A2-73B0-4587-8669-002AF27C5BEE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3BCA3E5-B74F-4DDD-BB7B-A332505DEBA7}" type="pres">
      <dgm:prSet presAssocID="{EEDB224E-3686-4FD7-9442-59193B38178D}" presName="spacer" presStyleCnt="0"/>
      <dgm:spPr/>
    </dgm:pt>
    <dgm:pt modelId="{F9ABD22C-38D2-492C-A05A-004FB6825343}" type="pres">
      <dgm:prSet presAssocID="{CFB516C5-6E10-48E1-B070-EFFC78F0B95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CD26F7F9-5574-4721-8A63-41F8143B6F42}" type="pres">
      <dgm:prSet presAssocID="{D17A863F-7A16-4290-ACE8-DA3715129AAD}" presName="spacer" presStyleCnt="0"/>
      <dgm:spPr/>
    </dgm:pt>
    <dgm:pt modelId="{DA8A8E01-8336-4753-919C-DC353F70C3A7}" type="pres">
      <dgm:prSet presAssocID="{9772648E-B51F-4F5D-B9B1-158ED7F05949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DEE2C2D1-9FB7-4799-BA59-34C470E7493A}" type="pres">
      <dgm:prSet presAssocID="{E457FD71-519F-499F-9CDA-4A0DC1A2680E}" presName="spacer" presStyleCnt="0"/>
      <dgm:spPr/>
    </dgm:pt>
    <dgm:pt modelId="{FBD9DAC0-4725-41DF-A57F-FA03A3798442}" type="pres">
      <dgm:prSet presAssocID="{D63163A4-F44A-4D6A-8AF7-0AF9874982C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77CBD65-3711-4A81-A963-503BB36C0459}" type="pres">
      <dgm:prSet presAssocID="{2C54AB6A-F77C-488F-93F8-CE02AF9CEE6C}" presName="spacer" presStyleCnt="0"/>
      <dgm:spPr/>
    </dgm:pt>
    <dgm:pt modelId="{A5BE18D9-70A3-4626-91C5-A4B01018E350}" type="pres">
      <dgm:prSet presAssocID="{0320D0E8-7D4F-45FD-8F5F-0DB3408FE5C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CD126C4-89D8-48D5-8040-7764BE593DD0}" type="pres">
      <dgm:prSet presAssocID="{906D8947-242E-40DC-819E-E31940B49318}" presName="spacer" presStyleCnt="0"/>
      <dgm:spPr/>
    </dgm:pt>
    <dgm:pt modelId="{5911039F-91D1-452F-B735-B25EE796D7A8}" type="pres">
      <dgm:prSet presAssocID="{9E603D04-6951-4014-A60E-1869A5CFD0E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7548E49E-8D28-433D-8798-71EADE307687}" type="pres">
      <dgm:prSet presAssocID="{E939D879-78D7-4C26-951A-ECAB51E1B04B}" presName="spacer" presStyleCnt="0"/>
      <dgm:spPr/>
    </dgm:pt>
    <dgm:pt modelId="{70770455-7EF6-44BA-ADB3-420849D11BD5}" type="pres">
      <dgm:prSet presAssocID="{7B69A99D-C10D-4747-8F31-26193705A3B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F7491607-8E2A-4783-868F-9D00750D5759}" srcId="{C749073C-7A44-4FAB-A059-9A009E181ED5}" destId="{7B69A99D-C10D-4747-8F31-26193705A3BA}" srcOrd="7" destOrd="0" parTransId="{A5799095-8790-4AE9-A12D-2FDB3FCEA6A3}" sibTransId="{E6494E65-B6CA-4005-AA2C-E125DF7564C5}"/>
    <dgm:cxn modelId="{DD840A08-0007-4C17-8E78-BD22A28F2211}" srcId="{C749073C-7A44-4FAB-A059-9A009E181ED5}" destId="{CFB516C5-6E10-48E1-B070-EFFC78F0B95F}" srcOrd="2" destOrd="0" parTransId="{F1BCBA9D-53D6-4BB2-9B02-34BBB1A379B4}" sibTransId="{D17A863F-7A16-4290-ACE8-DA3715129AAD}"/>
    <dgm:cxn modelId="{2C101910-D4A4-47D5-AF58-B9307980C638}" srcId="{C749073C-7A44-4FAB-A059-9A009E181ED5}" destId="{0434073F-5137-4F3F-807B-5358622941FF}" srcOrd="0" destOrd="0" parTransId="{DAA7A08B-D5AD-447E-ABBB-8FEEDBF7E5A8}" sibTransId="{C81E345F-7BBB-4BCB-B8CB-6B04197FB33E}"/>
    <dgm:cxn modelId="{EA525427-C8C1-43FB-A268-95E70C42F344}" type="presOf" srcId="{CFB516C5-6E10-48E1-B070-EFFC78F0B95F}" destId="{F9ABD22C-38D2-492C-A05A-004FB6825343}" srcOrd="0" destOrd="0" presId="urn:microsoft.com/office/officeart/2005/8/layout/vList2"/>
    <dgm:cxn modelId="{44997844-2F68-41E9-A0A9-57A6E3E9562D}" type="presOf" srcId="{C749073C-7A44-4FAB-A059-9A009E181ED5}" destId="{3E97143F-E586-4656-A1E7-5FA5002C6AB4}" srcOrd="0" destOrd="0" presId="urn:microsoft.com/office/officeart/2005/8/layout/vList2"/>
    <dgm:cxn modelId="{EA27BB44-BA28-489C-8203-D0A617AFFF55}" type="presOf" srcId="{769180A2-73B0-4587-8669-002AF27C5BEE}" destId="{7D415286-4F8A-43AC-B0EF-FFE3C02F9866}" srcOrd="0" destOrd="0" presId="urn:microsoft.com/office/officeart/2005/8/layout/vList2"/>
    <dgm:cxn modelId="{740B7C68-2E31-46F5-A1C7-A1C7EAE14DA6}" srcId="{C749073C-7A44-4FAB-A059-9A009E181ED5}" destId="{9E603D04-6951-4014-A60E-1869A5CFD0E8}" srcOrd="6" destOrd="0" parTransId="{BB00562B-E905-4103-86C0-4FD46CF68203}" sibTransId="{E939D879-78D7-4C26-951A-ECAB51E1B04B}"/>
    <dgm:cxn modelId="{87DE0F8E-8832-4F00-AE8D-96DF4C8EE279}" srcId="{C749073C-7A44-4FAB-A059-9A009E181ED5}" destId="{D63163A4-F44A-4D6A-8AF7-0AF9874982CD}" srcOrd="4" destOrd="0" parTransId="{A9DA5DC3-367B-4288-B31F-347B8A4666F3}" sibTransId="{2C54AB6A-F77C-488F-93F8-CE02AF9CEE6C}"/>
    <dgm:cxn modelId="{818A0B91-0CA2-43C9-9DA5-0E535BEA674A}" srcId="{C749073C-7A44-4FAB-A059-9A009E181ED5}" destId="{0320D0E8-7D4F-45FD-8F5F-0DB3408FE5CA}" srcOrd="5" destOrd="0" parTransId="{936E339E-E44F-4D24-B23F-EB147610FACC}" sibTransId="{906D8947-242E-40DC-819E-E31940B49318}"/>
    <dgm:cxn modelId="{CE97A894-4148-4A77-B783-19E6D4677685}" srcId="{C749073C-7A44-4FAB-A059-9A009E181ED5}" destId="{769180A2-73B0-4587-8669-002AF27C5BEE}" srcOrd="1" destOrd="0" parTransId="{97D088C0-377F-439C-888C-0F5309F85A92}" sibTransId="{EEDB224E-3686-4FD7-9442-59193B38178D}"/>
    <dgm:cxn modelId="{1A8FCB94-29AA-4FF3-AE1D-E59BE4CF6874}" type="presOf" srcId="{9772648E-B51F-4F5D-B9B1-158ED7F05949}" destId="{DA8A8E01-8336-4753-919C-DC353F70C3A7}" srcOrd="0" destOrd="0" presId="urn:microsoft.com/office/officeart/2005/8/layout/vList2"/>
    <dgm:cxn modelId="{0D27D2B4-D5F3-4F22-B492-0D4E2DB438F3}" srcId="{C749073C-7A44-4FAB-A059-9A009E181ED5}" destId="{9772648E-B51F-4F5D-B9B1-158ED7F05949}" srcOrd="3" destOrd="0" parTransId="{4E3794B6-6EEA-4706-AF4D-41B66023CE2D}" sibTransId="{E457FD71-519F-499F-9CDA-4A0DC1A2680E}"/>
    <dgm:cxn modelId="{EA7207C0-A26F-4786-A19B-40387E19767E}" type="presOf" srcId="{0320D0E8-7D4F-45FD-8F5F-0DB3408FE5CA}" destId="{A5BE18D9-70A3-4626-91C5-A4B01018E350}" srcOrd="0" destOrd="0" presId="urn:microsoft.com/office/officeart/2005/8/layout/vList2"/>
    <dgm:cxn modelId="{28C213C7-5B77-49F6-8227-FC2D7F73196A}" type="presOf" srcId="{82B01EA3-961F-4013-8F5C-2D95521EA02E}" destId="{2EFB5F10-1D16-42C6-B7C2-BBCF824CD4C5}" srcOrd="0" destOrd="0" presId="urn:microsoft.com/office/officeart/2005/8/layout/vList2"/>
    <dgm:cxn modelId="{2D205CD0-ACD6-4437-A2C4-1F26B3B9691E}" type="presOf" srcId="{7B69A99D-C10D-4747-8F31-26193705A3BA}" destId="{70770455-7EF6-44BA-ADB3-420849D11BD5}" srcOrd="0" destOrd="0" presId="urn:microsoft.com/office/officeart/2005/8/layout/vList2"/>
    <dgm:cxn modelId="{195ACED0-2D46-4BC0-85A8-97A6AD1C19DF}" type="presOf" srcId="{D63163A4-F44A-4D6A-8AF7-0AF9874982CD}" destId="{FBD9DAC0-4725-41DF-A57F-FA03A3798442}" srcOrd="0" destOrd="0" presId="urn:microsoft.com/office/officeart/2005/8/layout/vList2"/>
    <dgm:cxn modelId="{394EA9E5-6AB2-48AA-A029-56D7F39A95AA}" type="presOf" srcId="{0434073F-5137-4F3F-807B-5358622941FF}" destId="{923D49C6-119D-45BB-84F2-DD9D3A1E6D5C}" srcOrd="0" destOrd="0" presId="urn:microsoft.com/office/officeart/2005/8/layout/vList2"/>
    <dgm:cxn modelId="{158452ED-63B1-4651-B00B-54960FD22F78}" srcId="{0434073F-5137-4F3F-807B-5358622941FF}" destId="{82B01EA3-961F-4013-8F5C-2D95521EA02E}" srcOrd="0" destOrd="0" parTransId="{F4240869-03C0-43CB-B719-E83EEDFDBB58}" sibTransId="{551B9DE3-AE93-4A64-AED5-D0F0DCB14342}"/>
    <dgm:cxn modelId="{00BE5DF6-8845-415D-96EA-31C2384E0452}" type="presOf" srcId="{9E603D04-6951-4014-A60E-1869A5CFD0E8}" destId="{5911039F-91D1-452F-B735-B25EE796D7A8}" srcOrd="0" destOrd="0" presId="urn:microsoft.com/office/officeart/2005/8/layout/vList2"/>
    <dgm:cxn modelId="{60C80F0E-9106-41E8-94F4-C91ECD915B16}" type="presParOf" srcId="{3E97143F-E586-4656-A1E7-5FA5002C6AB4}" destId="{923D49C6-119D-45BB-84F2-DD9D3A1E6D5C}" srcOrd="0" destOrd="0" presId="urn:microsoft.com/office/officeart/2005/8/layout/vList2"/>
    <dgm:cxn modelId="{1A7ED583-C734-4682-A91E-6FD3C2C4BC74}" type="presParOf" srcId="{3E97143F-E586-4656-A1E7-5FA5002C6AB4}" destId="{2EFB5F10-1D16-42C6-B7C2-BBCF824CD4C5}" srcOrd="1" destOrd="0" presId="urn:microsoft.com/office/officeart/2005/8/layout/vList2"/>
    <dgm:cxn modelId="{EBEFD9DB-A5A9-4093-B3EE-109833160924}" type="presParOf" srcId="{3E97143F-E586-4656-A1E7-5FA5002C6AB4}" destId="{7D415286-4F8A-43AC-B0EF-FFE3C02F9866}" srcOrd="2" destOrd="0" presId="urn:microsoft.com/office/officeart/2005/8/layout/vList2"/>
    <dgm:cxn modelId="{A826407D-C519-4F7A-BF3C-11F50CD3DED6}" type="presParOf" srcId="{3E97143F-E586-4656-A1E7-5FA5002C6AB4}" destId="{53BCA3E5-B74F-4DDD-BB7B-A332505DEBA7}" srcOrd="3" destOrd="0" presId="urn:microsoft.com/office/officeart/2005/8/layout/vList2"/>
    <dgm:cxn modelId="{F9CA37E5-9F08-4ECA-A6C3-128A2C1CAB65}" type="presParOf" srcId="{3E97143F-E586-4656-A1E7-5FA5002C6AB4}" destId="{F9ABD22C-38D2-492C-A05A-004FB6825343}" srcOrd="4" destOrd="0" presId="urn:microsoft.com/office/officeart/2005/8/layout/vList2"/>
    <dgm:cxn modelId="{7BBE0A04-FF19-4085-896D-3A6B9387D934}" type="presParOf" srcId="{3E97143F-E586-4656-A1E7-5FA5002C6AB4}" destId="{CD26F7F9-5574-4721-8A63-41F8143B6F42}" srcOrd="5" destOrd="0" presId="urn:microsoft.com/office/officeart/2005/8/layout/vList2"/>
    <dgm:cxn modelId="{A3D874C7-5337-443B-A049-021F8669E03A}" type="presParOf" srcId="{3E97143F-E586-4656-A1E7-5FA5002C6AB4}" destId="{DA8A8E01-8336-4753-919C-DC353F70C3A7}" srcOrd="6" destOrd="0" presId="urn:microsoft.com/office/officeart/2005/8/layout/vList2"/>
    <dgm:cxn modelId="{2837C23E-37BF-4BD6-B66F-CADAE4FC08ED}" type="presParOf" srcId="{3E97143F-E586-4656-A1E7-5FA5002C6AB4}" destId="{DEE2C2D1-9FB7-4799-BA59-34C470E7493A}" srcOrd="7" destOrd="0" presId="urn:microsoft.com/office/officeart/2005/8/layout/vList2"/>
    <dgm:cxn modelId="{C839851A-EAFE-4EE8-9156-5A98A6376767}" type="presParOf" srcId="{3E97143F-E586-4656-A1E7-5FA5002C6AB4}" destId="{FBD9DAC0-4725-41DF-A57F-FA03A3798442}" srcOrd="8" destOrd="0" presId="urn:microsoft.com/office/officeart/2005/8/layout/vList2"/>
    <dgm:cxn modelId="{85C7186B-7524-4E4D-8223-27C4B1196F4B}" type="presParOf" srcId="{3E97143F-E586-4656-A1E7-5FA5002C6AB4}" destId="{B77CBD65-3711-4A81-A963-503BB36C0459}" srcOrd="9" destOrd="0" presId="urn:microsoft.com/office/officeart/2005/8/layout/vList2"/>
    <dgm:cxn modelId="{D007CA5F-FE2B-420D-943D-E104013DB401}" type="presParOf" srcId="{3E97143F-E586-4656-A1E7-5FA5002C6AB4}" destId="{A5BE18D9-70A3-4626-91C5-A4B01018E350}" srcOrd="10" destOrd="0" presId="urn:microsoft.com/office/officeart/2005/8/layout/vList2"/>
    <dgm:cxn modelId="{2000B603-FE6A-465E-8A2D-4FD1D3051694}" type="presParOf" srcId="{3E97143F-E586-4656-A1E7-5FA5002C6AB4}" destId="{9CD126C4-89D8-48D5-8040-7764BE593DD0}" srcOrd="11" destOrd="0" presId="urn:microsoft.com/office/officeart/2005/8/layout/vList2"/>
    <dgm:cxn modelId="{97532E27-2EBD-4545-83AB-D0C7CD75455C}" type="presParOf" srcId="{3E97143F-E586-4656-A1E7-5FA5002C6AB4}" destId="{5911039F-91D1-452F-B735-B25EE796D7A8}" srcOrd="12" destOrd="0" presId="urn:microsoft.com/office/officeart/2005/8/layout/vList2"/>
    <dgm:cxn modelId="{F74836A3-0FB8-48F1-ADD8-2B6D1C8EF292}" type="presParOf" srcId="{3E97143F-E586-4656-A1E7-5FA5002C6AB4}" destId="{7548E49E-8D28-433D-8798-71EADE307687}" srcOrd="13" destOrd="0" presId="urn:microsoft.com/office/officeart/2005/8/layout/vList2"/>
    <dgm:cxn modelId="{818437D7-2BAA-4446-983B-CFCF24775670}" type="presParOf" srcId="{3E97143F-E586-4656-A1E7-5FA5002C6AB4}" destId="{70770455-7EF6-44BA-ADB3-420849D11BD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C3F417-AAA8-4A62-B2E5-5DDBD99DEA8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68F737-74B9-4A09-86D3-7A2A01FC1FA6}">
      <dgm:prSet/>
      <dgm:spPr/>
      <dgm:t>
        <a:bodyPr/>
        <a:lstStyle/>
        <a:p>
          <a:r>
            <a:rPr lang="ru-RU" b="1" i="1" dirty="0" err="1"/>
            <a:t>Фаззификация</a:t>
          </a:r>
          <a:r>
            <a:rPr lang="ru-RU" b="1" dirty="0"/>
            <a:t> (введение нечеткости)</a:t>
          </a:r>
          <a:r>
            <a:rPr lang="ru-RU" dirty="0"/>
            <a:t> – это установка соответствия между численным значением входной переменной системы нечеткого вывода и значением функции принадлежности соответствующего ей терма лингвистической переменной. </a:t>
          </a:r>
          <a:endParaRPr lang="en-US" dirty="0"/>
        </a:p>
      </dgm:t>
    </dgm:pt>
    <dgm:pt modelId="{490F9409-936F-4FDF-8D47-17E860A64615}" type="parTrans" cxnId="{1FD6548E-1F17-4ED2-9B29-E8BC847D1124}">
      <dgm:prSet/>
      <dgm:spPr/>
      <dgm:t>
        <a:bodyPr/>
        <a:lstStyle/>
        <a:p>
          <a:endParaRPr lang="en-US"/>
        </a:p>
      </dgm:t>
    </dgm:pt>
    <dgm:pt modelId="{28886361-A002-40C7-9537-9901A6672001}" type="sibTrans" cxnId="{1FD6548E-1F17-4ED2-9B29-E8BC847D1124}">
      <dgm:prSet/>
      <dgm:spPr/>
      <dgm:t>
        <a:bodyPr/>
        <a:lstStyle/>
        <a:p>
          <a:endParaRPr lang="en-US"/>
        </a:p>
      </dgm:t>
    </dgm:pt>
    <dgm:pt modelId="{24413ED8-2667-475E-97D9-1226554A6BB0}">
      <dgm:prSet/>
      <dgm:spPr/>
      <dgm:t>
        <a:bodyPr/>
        <a:lstStyle/>
        <a:p>
          <a:r>
            <a:rPr lang="ru-RU" dirty="0"/>
            <a:t>На этапе </a:t>
          </a:r>
          <a:r>
            <a:rPr lang="ru-RU" dirty="0" err="1"/>
            <a:t>фаззификации</a:t>
          </a:r>
          <a:r>
            <a:rPr lang="ru-RU" dirty="0"/>
            <a:t> значениям всех входным переменным системы нечеткого вывода, полученным внешним по отношению к системе нечеткого вывода способом, например, при помощи датчиков, ставятся в соответствие конкретные значения функций принадлежности соответствующих лингвистических термов, которые используются в условиях (антецедентах) ядер нечетких продукционных правил, составляющих базу нечетких продукционных правил системы нечеткого вывода. </a:t>
          </a:r>
          <a:endParaRPr lang="en-US" dirty="0"/>
        </a:p>
      </dgm:t>
    </dgm:pt>
    <dgm:pt modelId="{C7F9ED60-2E5F-45F6-9BE3-049E284C6A99}" type="parTrans" cxnId="{655C8FA0-C539-413D-BF93-C148FC6E5E43}">
      <dgm:prSet/>
      <dgm:spPr/>
      <dgm:t>
        <a:bodyPr/>
        <a:lstStyle/>
        <a:p>
          <a:endParaRPr lang="en-US"/>
        </a:p>
      </dgm:t>
    </dgm:pt>
    <dgm:pt modelId="{A86DB61B-1296-43FC-AD31-072F82543473}" type="sibTrans" cxnId="{655C8FA0-C539-413D-BF93-C148FC6E5E43}">
      <dgm:prSet/>
      <dgm:spPr/>
      <dgm:t>
        <a:bodyPr/>
        <a:lstStyle/>
        <a:p>
          <a:endParaRPr lang="en-US"/>
        </a:p>
      </dgm:t>
    </dgm:pt>
    <dgm:pt modelId="{FAA0FB19-29BC-44A8-A6DC-2341F70FACBD}">
      <dgm:prSet/>
      <dgm:spPr/>
      <dgm:t>
        <a:bodyPr/>
        <a:lstStyle/>
        <a:p>
          <a:r>
            <a:rPr lang="ru-RU" dirty="0" err="1"/>
            <a:t>Фаззификация</a:t>
          </a:r>
          <a:r>
            <a:rPr lang="ru-RU" dirty="0"/>
            <a:t> считается выполненной, если найдены степени истинности μ A (x) всех элементов, входящих в антецеденты нечетких продукционных правил, где ά – некоторый терм с известной функцией принадлежности μ </a:t>
          </a:r>
          <a:r>
            <a:rPr lang="ru-RU" dirty="0" err="1"/>
            <a:t>арных</a:t>
          </a:r>
          <a:r>
            <a:rPr lang="ru-RU" dirty="0"/>
            <a:t> логических высказываний вида « β ЕСТЬ ά », A (x) , a – четкое численное значение, принадлежащее универсуму лингвистической переменной β .</a:t>
          </a:r>
          <a:endParaRPr lang="en-US" dirty="0"/>
        </a:p>
      </dgm:t>
    </dgm:pt>
    <dgm:pt modelId="{A5ABCA71-AF42-407C-B39A-0EEB9D08FDBB}" type="parTrans" cxnId="{4B7E325F-D576-4158-8996-5C60688309A7}">
      <dgm:prSet/>
      <dgm:spPr/>
      <dgm:t>
        <a:bodyPr/>
        <a:lstStyle/>
        <a:p>
          <a:endParaRPr lang="en-US"/>
        </a:p>
      </dgm:t>
    </dgm:pt>
    <dgm:pt modelId="{7FB4326D-5FDC-49DF-B3A6-E7909C7D7CC0}" type="sibTrans" cxnId="{4B7E325F-D576-4158-8996-5C60688309A7}">
      <dgm:prSet/>
      <dgm:spPr/>
      <dgm:t>
        <a:bodyPr/>
        <a:lstStyle/>
        <a:p>
          <a:endParaRPr lang="en-US"/>
        </a:p>
      </dgm:t>
    </dgm:pt>
    <dgm:pt modelId="{89562D7F-47BF-4E15-820E-DC907E7A2C64}" type="pres">
      <dgm:prSet presAssocID="{6FC3F417-AAA8-4A62-B2E5-5DDBD99DEA88}" presName="root" presStyleCnt="0">
        <dgm:presLayoutVars>
          <dgm:dir/>
          <dgm:resizeHandles val="exact"/>
        </dgm:presLayoutVars>
      </dgm:prSet>
      <dgm:spPr/>
    </dgm:pt>
    <dgm:pt modelId="{1CFA679C-DA0B-4B7F-9BA0-8F55F34EDCFB}" type="pres">
      <dgm:prSet presAssocID="{DB68F737-74B9-4A09-86D3-7A2A01FC1FA6}" presName="compNode" presStyleCnt="0"/>
      <dgm:spPr/>
    </dgm:pt>
    <dgm:pt modelId="{8EC4169C-9DE5-4B66-B172-A83CBE44F9E5}" type="pres">
      <dgm:prSet presAssocID="{DB68F737-74B9-4A09-86D3-7A2A01FC1FA6}" presName="bgRect" presStyleLbl="bgShp" presStyleIdx="0" presStyleCnt="3"/>
      <dgm:spPr/>
    </dgm:pt>
    <dgm:pt modelId="{91DB4B84-B691-445A-84A7-085E86CE5D5A}" type="pres">
      <dgm:prSet presAssocID="{DB68F737-74B9-4A09-86D3-7A2A01FC1FA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22498D2-7212-4893-8EBB-82622BF49251}" type="pres">
      <dgm:prSet presAssocID="{DB68F737-74B9-4A09-86D3-7A2A01FC1FA6}" presName="spaceRect" presStyleCnt="0"/>
      <dgm:spPr/>
    </dgm:pt>
    <dgm:pt modelId="{74857A49-C4A1-45FB-A3CF-78DEA447D371}" type="pres">
      <dgm:prSet presAssocID="{DB68F737-74B9-4A09-86D3-7A2A01FC1FA6}" presName="parTx" presStyleLbl="revTx" presStyleIdx="0" presStyleCnt="3">
        <dgm:presLayoutVars>
          <dgm:chMax val="0"/>
          <dgm:chPref val="0"/>
        </dgm:presLayoutVars>
      </dgm:prSet>
      <dgm:spPr/>
    </dgm:pt>
    <dgm:pt modelId="{64EF7AB1-F00D-418D-A741-B2C08C66C991}" type="pres">
      <dgm:prSet presAssocID="{28886361-A002-40C7-9537-9901A6672001}" presName="sibTrans" presStyleCnt="0"/>
      <dgm:spPr/>
    </dgm:pt>
    <dgm:pt modelId="{C34B7D30-14B2-43C8-9AB0-B7AB1EDC48CE}" type="pres">
      <dgm:prSet presAssocID="{24413ED8-2667-475E-97D9-1226554A6BB0}" presName="compNode" presStyleCnt="0"/>
      <dgm:spPr/>
    </dgm:pt>
    <dgm:pt modelId="{FEC2C211-6BAD-4042-BA5F-72D655D58EF5}" type="pres">
      <dgm:prSet presAssocID="{24413ED8-2667-475E-97D9-1226554A6BB0}" presName="bgRect" presStyleLbl="bgShp" presStyleIdx="1" presStyleCnt="3"/>
      <dgm:spPr/>
    </dgm:pt>
    <dgm:pt modelId="{5CFE83D2-8B11-4B16-9810-E1D28D2561FF}" type="pres">
      <dgm:prSet presAssocID="{24413ED8-2667-475E-97D9-1226554A6BB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A9A2A6CB-B0C1-4470-A2C9-501DF4F1C403}" type="pres">
      <dgm:prSet presAssocID="{24413ED8-2667-475E-97D9-1226554A6BB0}" presName="spaceRect" presStyleCnt="0"/>
      <dgm:spPr/>
    </dgm:pt>
    <dgm:pt modelId="{12A2E25A-91E7-4DD8-AFC0-C0BE358D38B8}" type="pres">
      <dgm:prSet presAssocID="{24413ED8-2667-475E-97D9-1226554A6BB0}" presName="parTx" presStyleLbl="revTx" presStyleIdx="1" presStyleCnt="3" custScaleX="100000">
        <dgm:presLayoutVars>
          <dgm:chMax val="0"/>
          <dgm:chPref val="0"/>
        </dgm:presLayoutVars>
      </dgm:prSet>
      <dgm:spPr/>
    </dgm:pt>
    <dgm:pt modelId="{4B9A1500-546D-4926-9788-6D094B9E8B97}" type="pres">
      <dgm:prSet presAssocID="{A86DB61B-1296-43FC-AD31-072F82543473}" presName="sibTrans" presStyleCnt="0"/>
      <dgm:spPr/>
    </dgm:pt>
    <dgm:pt modelId="{C16DC45F-38C6-4D17-80FE-4FFA7F6856F6}" type="pres">
      <dgm:prSet presAssocID="{FAA0FB19-29BC-44A8-A6DC-2341F70FACBD}" presName="compNode" presStyleCnt="0"/>
      <dgm:spPr/>
    </dgm:pt>
    <dgm:pt modelId="{44AAD253-1EE0-4E7F-A459-7066A34DE65E}" type="pres">
      <dgm:prSet presAssocID="{FAA0FB19-29BC-44A8-A6DC-2341F70FACBD}" presName="bgRect" presStyleLbl="bgShp" presStyleIdx="2" presStyleCnt="3" custLinFactNeighborX="5578" custLinFactNeighborY="2165"/>
      <dgm:spPr/>
    </dgm:pt>
    <dgm:pt modelId="{AD308676-56EA-4FDD-97C4-18F23C21E4C4}" type="pres">
      <dgm:prSet presAssocID="{FAA0FB19-29BC-44A8-A6DC-2341F70FACB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FD1D7F9-0E3F-44EC-83FE-B169340578BE}" type="pres">
      <dgm:prSet presAssocID="{FAA0FB19-29BC-44A8-A6DC-2341F70FACBD}" presName="spaceRect" presStyleCnt="0"/>
      <dgm:spPr/>
    </dgm:pt>
    <dgm:pt modelId="{327F491D-4921-4931-B296-D102A76DA2A3}" type="pres">
      <dgm:prSet presAssocID="{FAA0FB19-29BC-44A8-A6DC-2341F70FACB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4019C32-DE4E-4B27-880C-6F42BE782665}" type="presOf" srcId="{6FC3F417-AAA8-4A62-B2E5-5DDBD99DEA88}" destId="{89562D7F-47BF-4E15-820E-DC907E7A2C64}" srcOrd="0" destOrd="0" presId="urn:microsoft.com/office/officeart/2018/2/layout/IconVerticalSolidList"/>
    <dgm:cxn modelId="{1C05E63F-90E3-4A69-8C5D-1E5A86E17DE6}" type="presOf" srcId="{FAA0FB19-29BC-44A8-A6DC-2341F70FACBD}" destId="{327F491D-4921-4931-B296-D102A76DA2A3}" srcOrd="0" destOrd="0" presId="urn:microsoft.com/office/officeart/2018/2/layout/IconVerticalSolidList"/>
    <dgm:cxn modelId="{4B7E325F-D576-4158-8996-5C60688309A7}" srcId="{6FC3F417-AAA8-4A62-B2E5-5DDBD99DEA88}" destId="{FAA0FB19-29BC-44A8-A6DC-2341F70FACBD}" srcOrd="2" destOrd="0" parTransId="{A5ABCA71-AF42-407C-B39A-0EEB9D08FDBB}" sibTransId="{7FB4326D-5FDC-49DF-B3A6-E7909C7D7CC0}"/>
    <dgm:cxn modelId="{9250A451-81DB-4150-974F-8E287CEC53BC}" type="presOf" srcId="{DB68F737-74B9-4A09-86D3-7A2A01FC1FA6}" destId="{74857A49-C4A1-45FB-A3CF-78DEA447D371}" srcOrd="0" destOrd="0" presId="urn:microsoft.com/office/officeart/2018/2/layout/IconVerticalSolidList"/>
    <dgm:cxn modelId="{688F9852-BE75-4324-8C22-EFC93688DA9A}" type="presOf" srcId="{24413ED8-2667-475E-97D9-1226554A6BB0}" destId="{12A2E25A-91E7-4DD8-AFC0-C0BE358D38B8}" srcOrd="0" destOrd="0" presId="urn:microsoft.com/office/officeart/2018/2/layout/IconVerticalSolidList"/>
    <dgm:cxn modelId="{1FD6548E-1F17-4ED2-9B29-E8BC847D1124}" srcId="{6FC3F417-AAA8-4A62-B2E5-5DDBD99DEA88}" destId="{DB68F737-74B9-4A09-86D3-7A2A01FC1FA6}" srcOrd="0" destOrd="0" parTransId="{490F9409-936F-4FDF-8D47-17E860A64615}" sibTransId="{28886361-A002-40C7-9537-9901A6672001}"/>
    <dgm:cxn modelId="{655C8FA0-C539-413D-BF93-C148FC6E5E43}" srcId="{6FC3F417-AAA8-4A62-B2E5-5DDBD99DEA88}" destId="{24413ED8-2667-475E-97D9-1226554A6BB0}" srcOrd="1" destOrd="0" parTransId="{C7F9ED60-2E5F-45F6-9BE3-049E284C6A99}" sibTransId="{A86DB61B-1296-43FC-AD31-072F82543473}"/>
    <dgm:cxn modelId="{05D283EF-A6D1-490E-A014-ACF734F9FC55}" type="presParOf" srcId="{89562D7F-47BF-4E15-820E-DC907E7A2C64}" destId="{1CFA679C-DA0B-4B7F-9BA0-8F55F34EDCFB}" srcOrd="0" destOrd="0" presId="urn:microsoft.com/office/officeart/2018/2/layout/IconVerticalSolidList"/>
    <dgm:cxn modelId="{76EDD758-7926-46BA-A3B7-93E8951203DF}" type="presParOf" srcId="{1CFA679C-DA0B-4B7F-9BA0-8F55F34EDCFB}" destId="{8EC4169C-9DE5-4B66-B172-A83CBE44F9E5}" srcOrd="0" destOrd="0" presId="urn:microsoft.com/office/officeart/2018/2/layout/IconVerticalSolidList"/>
    <dgm:cxn modelId="{0C21E335-AB74-47DD-A3BB-006E724C2D95}" type="presParOf" srcId="{1CFA679C-DA0B-4B7F-9BA0-8F55F34EDCFB}" destId="{91DB4B84-B691-445A-84A7-085E86CE5D5A}" srcOrd="1" destOrd="0" presId="urn:microsoft.com/office/officeart/2018/2/layout/IconVerticalSolidList"/>
    <dgm:cxn modelId="{BC1BC379-7650-4B7A-AFAF-2B459FA52E38}" type="presParOf" srcId="{1CFA679C-DA0B-4B7F-9BA0-8F55F34EDCFB}" destId="{222498D2-7212-4893-8EBB-82622BF49251}" srcOrd="2" destOrd="0" presId="urn:microsoft.com/office/officeart/2018/2/layout/IconVerticalSolidList"/>
    <dgm:cxn modelId="{5ED6A195-B5DC-4BE6-9B47-B3BCE0E4A2F9}" type="presParOf" srcId="{1CFA679C-DA0B-4B7F-9BA0-8F55F34EDCFB}" destId="{74857A49-C4A1-45FB-A3CF-78DEA447D371}" srcOrd="3" destOrd="0" presId="urn:microsoft.com/office/officeart/2018/2/layout/IconVerticalSolidList"/>
    <dgm:cxn modelId="{209773B6-C906-4379-8C24-0164783C7D1D}" type="presParOf" srcId="{89562D7F-47BF-4E15-820E-DC907E7A2C64}" destId="{64EF7AB1-F00D-418D-A741-B2C08C66C991}" srcOrd="1" destOrd="0" presId="urn:microsoft.com/office/officeart/2018/2/layout/IconVerticalSolidList"/>
    <dgm:cxn modelId="{91E9AE9F-EA79-45EC-89E8-3A7179C53D5E}" type="presParOf" srcId="{89562D7F-47BF-4E15-820E-DC907E7A2C64}" destId="{C34B7D30-14B2-43C8-9AB0-B7AB1EDC48CE}" srcOrd="2" destOrd="0" presId="urn:microsoft.com/office/officeart/2018/2/layout/IconVerticalSolidList"/>
    <dgm:cxn modelId="{669EC6C7-4DBB-44F4-911F-A511B336652D}" type="presParOf" srcId="{C34B7D30-14B2-43C8-9AB0-B7AB1EDC48CE}" destId="{FEC2C211-6BAD-4042-BA5F-72D655D58EF5}" srcOrd="0" destOrd="0" presId="urn:microsoft.com/office/officeart/2018/2/layout/IconVerticalSolidList"/>
    <dgm:cxn modelId="{8ED86674-5118-4E4A-B2E9-BBD46E9DDE8A}" type="presParOf" srcId="{C34B7D30-14B2-43C8-9AB0-B7AB1EDC48CE}" destId="{5CFE83D2-8B11-4B16-9810-E1D28D2561FF}" srcOrd="1" destOrd="0" presId="urn:microsoft.com/office/officeart/2018/2/layout/IconVerticalSolidList"/>
    <dgm:cxn modelId="{B365B44E-FB21-456D-BC8F-71784ADCE09D}" type="presParOf" srcId="{C34B7D30-14B2-43C8-9AB0-B7AB1EDC48CE}" destId="{A9A2A6CB-B0C1-4470-A2C9-501DF4F1C403}" srcOrd="2" destOrd="0" presId="urn:microsoft.com/office/officeart/2018/2/layout/IconVerticalSolidList"/>
    <dgm:cxn modelId="{3F64913B-5AB1-4773-B84C-1ED07B2BFB26}" type="presParOf" srcId="{C34B7D30-14B2-43C8-9AB0-B7AB1EDC48CE}" destId="{12A2E25A-91E7-4DD8-AFC0-C0BE358D38B8}" srcOrd="3" destOrd="0" presId="urn:microsoft.com/office/officeart/2018/2/layout/IconVerticalSolidList"/>
    <dgm:cxn modelId="{5E35A955-91E1-4E80-AE20-216B35B10674}" type="presParOf" srcId="{89562D7F-47BF-4E15-820E-DC907E7A2C64}" destId="{4B9A1500-546D-4926-9788-6D094B9E8B97}" srcOrd="3" destOrd="0" presId="urn:microsoft.com/office/officeart/2018/2/layout/IconVerticalSolidList"/>
    <dgm:cxn modelId="{6728FD42-3289-4AAC-98A7-A03C7E879703}" type="presParOf" srcId="{89562D7F-47BF-4E15-820E-DC907E7A2C64}" destId="{C16DC45F-38C6-4D17-80FE-4FFA7F6856F6}" srcOrd="4" destOrd="0" presId="urn:microsoft.com/office/officeart/2018/2/layout/IconVerticalSolidList"/>
    <dgm:cxn modelId="{42EC0E08-049D-49CA-97A1-D641CB62A96C}" type="presParOf" srcId="{C16DC45F-38C6-4D17-80FE-4FFA7F6856F6}" destId="{44AAD253-1EE0-4E7F-A459-7066A34DE65E}" srcOrd="0" destOrd="0" presId="urn:microsoft.com/office/officeart/2018/2/layout/IconVerticalSolidList"/>
    <dgm:cxn modelId="{216C955A-4CA3-4490-852A-B77E54755186}" type="presParOf" srcId="{C16DC45F-38C6-4D17-80FE-4FFA7F6856F6}" destId="{AD308676-56EA-4FDD-97C4-18F23C21E4C4}" srcOrd="1" destOrd="0" presId="urn:microsoft.com/office/officeart/2018/2/layout/IconVerticalSolidList"/>
    <dgm:cxn modelId="{1EF9AF00-4ECE-4B21-8BC3-4F663CC31B5D}" type="presParOf" srcId="{C16DC45F-38C6-4D17-80FE-4FFA7F6856F6}" destId="{0FD1D7F9-0E3F-44EC-83FE-B169340578BE}" srcOrd="2" destOrd="0" presId="urn:microsoft.com/office/officeart/2018/2/layout/IconVerticalSolidList"/>
    <dgm:cxn modelId="{2642A198-9673-4ACD-A1F0-4065B8B0D72B}" type="presParOf" srcId="{C16DC45F-38C6-4D17-80FE-4FFA7F6856F6}" destId="{327F491D-4921-4931-B296-D102A76DA2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382310-9D43-4207-AF53-7F5B4D6C256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4C65A2-04CF-4514-B646-01FA7639C4E2}">
      <dgm:prSet/>
      <dgm:spPr/>
      <dgm:t>
        <a:bodyPr/>
        <a:lstStyle/>
        <a:p>
          <a:r>
            <a:rPr lang="ru-RU" b="1" dirty="0"/>
            <a:t>Активизация</a:t>
          </a:r>
          <a:r>
            <a:rPr lang="ru-RU" dirty="0"/>
            <a:t> в системах нечеткого вывода – это процедура или процесс нахождения степени истинности каждого из элементарных логических высказываний (</a:t>
          </a:r>
          <a:r>
            <a:rPr lang="ru-RU" dirty="0" err="1"/>
            <a:t>подзаключений</a:t>
          </a:r>
          <a:r>
            <a:rPr lang="ru-RU" dirty="0"/>
            <a:t>), составляющих </a:t>
          </a:r>
          <a:r>
            <a:rPr lang="ru-RU" dirty="0" err="1"/>
            <a:t>консеквенты</a:t>
          </a:r>
          <a:r>
            <a:rPr lang="ru-RU" dirty="0"/>
            <a:t> ядер всех нечетких продукционных правил. </a:t>
          </a:r>
          <a:endParaRPr lang="en-US" dirty="0"/>
        </a:p>
      </dgm:t>
    </dgm:pt>
    <dgm:pt modelId="{75DF8DDB-8253-4C93-9288-6FB56899A55B}" type="parTrans" cxnId="{020958E9-4278-476A-8B18-53931F4C2169}">
      <dgm:prSet/>
      <dgm:spPr/>
      <dgm:t>
        <a:bodyPr/>
        <a:lstStyle/>
        <a:p>
          <a:endParaRPr lang="en-US"/>
        </a:p>
      </dgm:t>
    </dgm:pt>
    <dgm:pt modelId="{1C51D74E-04A0-4111-90C1-4450728E82FE}" type="sibTrans" cxnId="{020958E9-4278-476A-8B18-53931F4C2169}">
      <dgm:prSet/>
      <dgm:spPr/>
      <dgm:t>
        <a:bodyPr/>
        <a:lstStyle/>
        <a:p>
          <a:endParaRPr lang="en-US"/>
        </a:p>
      </dgm:t>
    </dgm:pt>
    <dgm:pt modelId="{24C9A5D3-95FF-41F8-BC88-C20E382EF7F6}">
      <dgm:prSet/>
      <dgm:spPr/>
      <dgm:t>
        <a:bodyPr/>
        <a:lstStyle/>
        <a:p>
          <a:r>
            <a:rPr lang="ru-RU" dirty="0"/>
            <a:t>Поскольку заключения делаются относительно выходных лингвистических переменных, то степеням истинности элементарных </a:t>
          </a:r>
          <a:r>
            <a:rPr lang="ru-RU" dirty="0" err="1"/>
            <a:t>подзаключений</a:t>
          </a:r>
          <a:r>
            <a:rPr lang="ru-RU" dirty="0"/>
            <a:t> при активизации ставятся в соответствие элементарные функции принадлежности</a:t>
          </a:r>
          <a:endParaRPr lang="en-US" dirty="0"/>
        </a:p>
      </dgm:t>
    </dgm:pt>
    <dgm:pt modelId="{6014ACE3-C42A-4F8C-9505-103EE1D6DC9E}" type="parTrans" cxnId="{01C222DF-7670-4884-B2C9-16E7936B08B7}">
      <dgm:prSet/>
      <dgm:spPr/>
      <dgm:t>
        <a:bodyPr/>
        <a:lstStyle/>
        <a:p>
          <a:endParaRPr lang="en-US"/>
        </a:p>
      </dgm:t>
    </dgm:pt>
    <dgm:pt modelId="{991D6C84-F3DA-462C-B166-C8DAF8D359FF}" type="sibTrans" cxnId="{01C222DF-7670-4884-B2C9-16E7936B08B7}">
      <dgm:prSet/>
      <dgm:spPr/>
      <dgm:t>
        <a:bodyPr/>
        <a:lstStyle/>
        <a:p>
          <a:endParaRPr lang="en-US"/>
        </a:p>
      </dgm:t>
    </dgm:pt>
    <dgm:pt modelId="{CFDBA529-DF6C-447B-9BFA-72FFAB9B0E4F}" type="pres">
      <dgm:prSet presAssocID="{33382310-9D43-4207-AF53-7F5B4D6C2563}" presName="root" presStyleCnt="0">
        <dgm:presLayoutVars>
          <dgm:dir/>
          <dgm:resizeHandles val="exact"/>
        </dgm:presLayoutVars>
      </dgm:prSet>
      <dgm:spPr/>
    </dgm:pt>
    <dgm:pt modelId="{37225E04-288C-4037-BD69-556A656DE69D}" type="pres">
      <dgm:prSet presAssocID="{EC4C65A2-04CF-4514-B646-01FA7639C4E2}" presName="compNode" presStyleCnt="0"/>
      <dgm:spPr/>
    </dgm:pt>
    <dgm:pt modelId="{0E994F16-DA27-410A-972E-ECD921049331}" type="pres">
      <dgm:prSet presAssocID="{EC4C65A2-04CF-4514-B646-01FA7639C4E2}" presName="bgRect" presStyleLbl="bgShp" presStyleIdx="0" presStyleCnt="2"/>
      <dgm:spPr/>
    </dgm:pt>
    <dgm:pt modelId="{5AE6DA6C-E67C-427D-9569-173981F07839}" type="pres">
      <dgm:prSet presAssocID="{EC4C65A2-04CF-4514-B646-01FA7639C4E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03650E26-D4D5-4714-B49B-8F43D40888A7}" type="pres">
      <dgm:prSet presAssocID="{EC4C65A2-04CF-4514-B646-01FA7639C4E2}" presName="spaceRect" presStyleCnt="0"/>
      <dgm:spPr/>
    </dgm:pt>
    <dgm:pt modelId="{CB4278AF-AD23-4761-ACE5-C99AC53115EF}" type="pres">
      <dgm:prSet presAssocID="{EC4C65A2-04CF-4514-B646-01FA7639C4E2}" presName="parTx" presStyleLbl="revTx" presStyleIdx="0" presStyleCnt="2">
        <dgm:presLayoutVars>
          <dgm:chMax val="0"/>
          <dgm:chPref val="0"/>
        </dgm:presLayoutVars>
      </dgm:prSet>
      <dgm:spPr/>
    </dgm:pt>
    <dgm:pt modelId="{91313F1A-B7F3-4588-8977-22997CEAB3F4}" type="pres">
      <dgm:prSet presAssocID="{1C51D74E-04A0-4111-90C1-4450728E82FE}" presName="sibTrans" presStyleCnt="0"/>
      <dgm:spPr/>
    </dgm:pt>
    <dgm:pt modelId="{D66A261B-4E51-468C-9094-61012B17572E}" type="pres">
      <dgm:prSet presAssocID="{24C9A5D3-95FF-41F8-BC88-C20E382EF7F6}" presName="compNode" presStyleCnt="0"/>
      <dgm:spPr/>
    </dgm:pt>
    <dgm:pt modelId="{18677C8A-9417-4075-A613-87146AAA4D40}" type="pres">
      <dgm:prSet presAssocID="{24C9A5D3-95FF-41F8-BC88-C20E382EF7F6}" presName="bgRect" presStyleLbl="bgShp" presStyleIdx="1" presStyleCnt="2"/>
      <dgm:spPr/>
    </dgm:pt>
    <dgm:pt modelId="{C42F02D3-E7F5-4729-BC33-D14B2C12E7A8}" type="pres">
      <dgm:prSet presAssocID="{24C9A5D3-95FF-41F8-BC88-C20E382EF7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Закрыть"/>
        </a:ext>
      </dgm:extLst>
    </dgm:pt>
    <dgm:pt modelId="{9413E8CE-7692-4F4A-8954-F370D1B38629}" type="pres">
      <dgm:prSet presAssocID="{24C9A5D3-95FF-41F8-BC88-C20E382EF7F6}" presName="spaceRect" presStyleCnt="0"/>
      <dgm:spPr/>
    </dgm:pt>
    <dgm:pt modelId="{F3BE5BC2-2832-4614-A1D0-BA6E4F098FC3}" type="pres">
      <dgm:prSet presAssocID="{24C9A5D3-95FF-41F8-BC88-C20E382EF7F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99DC62B-64D9-4B81-9D1B-0F6EF5FE8057}" type="presOf" srcId="{EC4C65A2-04CF-4514-B646-01FA7639C4E2}" destId="{CB4278AF-AD23-4761-ACE5-C99AC53115EF}" srcOrd="0" destOrd="0" presId="urn:microsoft.com/office/officeart/2018/2/layout/IconVerticalSolidList"/>
    <dgm:cxn modelId="{EFFC0A3B-B7A8-43E4-AB2B-73C885F36363}" type="presOf" srcId="{33382310-9D43-4207-AF53-7F5B4D6C2563}" destId="{CFDBA529-DF6C-447B-9BFA-72FFAB9B0E4F}" srcOrd="0" destOrd="0" presId="urn:microsoft.com/office/officeart/2018/2/layout/IconVerticalSolidList"/>
    <dgm:cxn modelId="{2712F960-5658-40EA-A250-A1501EACB283}" type="presOf" srcId="{24C9A5D3-95FF-41F8-BC88-C20E382EF7F6}" destId="{F3BE5BC2-2832-4614-A1D0-BA6E4F098FC3}" srcOrd="0" destOrd="0" presId="urn:microsoft.com/office/officeart/2018/2/layout/IconVerticalSolidList"/>
    <dgm:cxn modelId="{01C222DF-7670-4884-B2C9-16E7936B08B7}" srcId="{33382310-9D43-4207-AF53-7F5B4D6C2563}" destId="{24C9A5D3-95FF-41F8-BC88-C20E382EF7F6}" srcOrd="1" destOrd="0" parTransId="{6014ACE3-C42A-4F8C-9505-103EE1D6DC9E}" sibTransId="{991D6C84-F3DA-462C-B166-C8DAF8D359FF}"/>
    <dgm:cxn modelId="{020958E9-4278-476A-8B18-53931F4C2169}" srcId="{33382310-9D43-4207-AF53-7F5B4D6C2563}" destId="{EC4C65A2-04CF-4514-B646-01FA7639C4E2}" srcOrd="0" destOrd="0" parTransId="{75DF8DDB-8253-4C93-9288-6FB56899A55B}" sibTransId="{1C51D74E-04A0-4111-90C1-4450728E82FE}"/>
    <dgm:cxn modelId="{2B125436-B543-4C7D-BD41-24438DA71BF6}" type="presParOf" srcId="{CFDBA529-DF6C-447B-9BFA-72FFAB9B0E4F}" destId="{37225E04-288C-4037-BD69-556A656DE69D}" srcOrd="0" destOrd="0" presId="urn:microsoft.com/office/officeart/2018/2/layout/IconVerticalSolidList"/>
    <dgm:cxn modelId="{399EB609-9ED6-422E-B931-AC3851077A08}" type="presParOf" srcId="{37225E04-288C-4037-BD69-556A656DE69D}" destId="{0E994F16-DA27-410A-972E-ECD921049331}" srcOrd="0" destOrd="0" presId="urn:microsoft.com/office/officeart/2018/2/layout/IconVerticalSolidList"/>
    <dgm:cxn modelId="{D0DDDCC2-A305-4FCF-B0F0-3A5DA323AAB0}" type="presParOf" srcId="{37225E04-288C-4037-BD69-556A656DE69D}" destId="{5AE6DA6C-E67C-427D-9569-173981F07839}" srcOrd="1" destOrd="0" presId="urn:microsoft.com/office/officeart/2018/2/layout/IconVerticalSolidList"/>
    <dgm:cxn modelId="{09CF25E1-6BBC-472B-8708-D37C242D4A31}" type="presParOf" srcId="{37225E04-288C-4037-BD69-556A656DE69D}" destId="{03650E26-D4D5-4714-B49B-8F43D40888A7}" srcOrd="2" destOrd="0" presId="urn:microsoft.com/office/officeart/2018/2/layout/IconVerticalSolidList"/>
    <dgm:cxn modelId="{BBE748D0-33B9-419A-B8AE-7DD94CC3E4B0}" type="presParOf" srcId="{37225E04-288C-4037-BD69-556A656DE69D}" destId="{CB4278AF-AD23-4761-ACE5-C99AC53115EF}" srcOrd="3" destOrd="0" presId="urn:microsoft.com/office/officeart/2018/2/layout/IconVerticalSolidList"/>
    <dgm:cxn modelId="{B4D36422-005C-4A2C-BE61-F93D8A41C041}" type="presParOf" srcId="{CFDBA529-DF6C-447B-9BFA-72FFAB9B0E4F}" destId="{91313F1A-B7F3-4588-8977-22997CEAB3F4}" srcOrd="1" destOrd="0" presId="urn:microsoft.com/office/officeart/2018/2/layout/IconVerticalSolidList"/>
    <dgm:cxn modelId="{D3B0817C-40A2-42F0-B866-1C87A3634824}" type="presParOf" srcId="{CFDBA529-DF6C-447B-9BFA-72FFAB9B0E4F}" destId="{D66A261B-4E51-468C-9094-61012B17572E}" srcOrd="2" destOrd="0" presId="urn:microsoft.com/office/officeart/2018/2/layout/IconVerticalSolidList"/>
    <dgm:cxn modelId="{799358FA-B13C-4479-B285-BA77CA7135F3}" type="presParOf" srcId="{D66A261B-4E51-468C-9094-61012B17572E}" destId="{18677C8A-9417-4075-A613-87146AAA4D40}" srcOrd="0" destOrd="0" presId="urn:microsoft.com/office/officeart/2018/2/layout/IconVerticalSolidList"/>
    <dgm:cxn modelId="{B326A87F-C94C-4C2E-8601-A9E288498190}" type="presParOf" srcId="{D66A261B-4E51-468C-9094-61012B17572E}" destId="{C42F02D3-E7F5-4729-BC33-D14B2C12E7A8}" srcOrd="1" destOrd="0" presId="urn:microsoft.com/office/officeart/2018/2/layout/IconVerticalSolidList"/>
    <dgm:cxn modelId="{5F949F4D-4E08-491C-B951-BE88E70ACF4E}" type="presParOf" srcId="{D66A261B-4E51-468C-9094-61012B17572E}" destId="{9413E8CE-7692-4F4A-8954-F370D1B38629}" srcOrd="2" destOrd="0" presId="urn:microsoft.com/office/officeart/2018/2/layout/IconVerticalSolidList"/>
    <dgm:cxn modelId="{DC2AED60-5DBF-4EB9-ABDF-B1F58D55563F}" type="presParOf" srcId="{D66A261B-4E51-468C-9094-61012B17572E}" destId="{F3BE5BC2-2832-4614-A1D0-BA6E4F098F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E2313F-F09D-4E6D-A807-1DD2F4D645E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2739DD9-9F5E-4AA6-8944-EDC2AE7E4E3C}">
      <dgm:prSet/>
      <dgm:spPr/>
      <dgm:t>
        <a:bodyPr/>
        <a:lstStyle/>
        <a:p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В1) =</a:t>
          </a:r>
          <a:r>
            <a:rPr lang="el-GR" dirty="0"/>
            <a:t> </a:t>
          </a:r>
          <a:r>
            <a:rPr lang="en-US" dirty="0"/>
            <a:t>min(</a:t>
          </a:r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Рост)</a:t>
          </a:r>
          <a:r>
            <a:rPr lang="en-US" dirty="0"/>
            <a:t>)</a:t>
          </a:r>
          <a:r>
            <a:rPr lang="ru-RU" dirty="0"/>
            <a:t> ∩</a:t>
          </a:r>
          <a:r>
            <a:rPr lang="el-GR" dirty="0"/>
            <a:t> </a:t>
          </a:r>
          <a:r>
            <a:rPr lang="en-US" dirty="0"/>
            <a:t>min(</a:t>
          </a:r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Техника)</a:t>
          </a:r>
          <a:r>
            <a:rPr lang="en-US" dirty="0"/>
            <a:t>)</a:t>
          </a:r>
          <a:r>
            <a:rPr lang="ru-RU" dirty="0"/>
            <a:t> ∩</a:t>
          </a:r>
          <a:r>
            <a:rPr lang="el-GR" dirty="0"/>
            <a:t> </a:t>
          </a:r>
          <a:r>
            <a:rPr lang="en-US" dirty="0"/>
            <a:t>min(</a:t>
          </a:r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Рез)</a:t>
          </a:r>
          <a:r>
            <a:rPr lang="en-US" dirty="0"/>
            <a:t>)</a:t>
          </a:r>
        </a:p>
      </dgm:t>
    </dgm:pt>
    <dgm:pt modelId="{7550D4FD-746F-4082-B35E-47732A6053FF}" type="parTrans" cxnId="{FA58E558-A73F-4712-B8C6-560416C2D672}">
      <dgm:prSet/>
      <dgm:spPr/>
      <dgm:t>
        <a:bodyPr/>
        <a:lstStyle/>
        <a:p>
          <a:endParaRPr lang="en-US"/>
        </a:p>
      </dgm:t>
    </dgm:pt>
    <dgm:pt modelId="{80CCCB7C-8F04-439C-B342-9A09BD6F83B3}" type="sibTrans" cxnId="{FA58E558-A73F-4712-B8C6-560416C2D672}">
      <dgm:prSet/>
      <dgm:spPr/>
      <dgm:t>
        <a:bodyPr/>
        <a:lstStyle/>
        <a:p>
          <a:endParaRPr lang="en-US"/>
        </a:p>
      </dgm:t>
    </dgm:pt>
    <dgm:pt modelId="{F3BF5587-6C77-4BEF-9F21-5A142E624C8E}">
      <dgm:prSet/>
      <dgm:spPr/>
      <dgm:t>
        <a:bodyPr/>
        <a:lstStyle/>
        <a:p>
          <a:r>
            <a:rPr lang="el-GR" dirty="0"/>
            <a:t>μ</a:t>
          </a:r>
          <a:r>
            <a:rPr lang="en-US" dirty="0"/>
            <a:t>(</a:t>
          </a:r>
          <a:r>
            <a:rPr lang="ru-RU" dirty="0"/>
            <a:t>В</a:t>
          </a:r>
          <a:r>
            <a:rPr lang="en-US" dirty="0"/>
            <a:t>2</a:t>
          </a:r>
          <a:r>
            <a:rPr lang="ru-RU" dirty="0"/>
            <a:t>) =</a:t>
          </a:r>
          <a:r>
            <a:rPr lang="el-GR" dirty="0"/>
            <a:t> μ</a:t>
          </a:r>
          <a:r>
            <a:rPr lang="en-US" dirty="0"/>
            <a:t>(</a:t>
          </a:r>
          <a:r>
            <a:rPr lang="ru-RU" dirty="0"/>
            <a:t>Рост) </a:t>
          </a:r>
          <a:r>
            <a:rPr lang="en-US" dirty="0"/>
            <a:t>U</a:t>
          </a:r>
          <a:r>
            <a:rPr lang="el-GR" dirty="0"/>
            <a:t> μ</a:t>
          </a:r>
          <a:r>
            <a:rPr lang="en-US" dirty="0"/>
            <a:t>(</a:t>
          </a:r>
          <a:r>
            <a:rPr lang="ru-RU" dirty="0"/>
            <a:t>Техника)</a:t>
          </a:r>
          <a:r>
            <a:rPr lang="en-US" dirty="0"/>
            <a:t> U</a:t>
          </a:r>
          <a:r>
            <a:rPr lang="el-GR" dirty="0"/>
            <a:t> μ</a:t>
          </a:r>
          <a:r>
            <a:rPr lang="en-US" dirty="0"/>
            <a:t>(</a:t>
          </a:r>
          <a:r>
            <a:rPr lang="ru-RU" dirty="0"/>
            <a:t>Рез)</a:t>
          </a:r>
          <a:endParaRPr lang="en-US" dirty="0"/>
        </a:p>
      </dgm:t>
    </dgm:pt>
    <dgm:pt modelId="{F4CC4336-621A-49C2-AAB8-719962CEE50D}" type="parTrans" cxnId="{5EE01EAF-B6BD-4666-B23C-DFF8D49F2339}">
      <dgm:prSet/>
      <dgm:spPr/>
      <dgm:t>
        <a:bodyPr/>
        <a:lstStyle/>
        <a:p>
          <a:endParaRPr lang="en-US"/>
        </a:p>
      </dgm:t>
    </dgm:pt>
    <dgm:pt modelId="{982F0532-E3E4-4FEF-8FFF-BE14C4E2323C}" type="sibTrans" cxnId="{5EE01EAF-B6BD-4666-B23C-DFF8D49F2339}">
      <dgm:prSet/>
      <dgm:spPr/>
      <dgm:t>
        <a:bodyPr/>
        <a:lstStyle/>
        <a:p>
          <a:endParaRPr lang="en-US"/>
        </a:p>
      </dgm:t>
    </dgm:pt>
    <dgm:pt modelId="{46915D30-8173-4456-8845-E2F73DD55C89}">
      <dgm:prSet/>
      <dgm:spPr/>
      <dgm:t>
        <a:bodyPr/>
        <a:lstStyle/>
        <a:p>
          <a:r>
            <a:rPr lang="el-GR"/>
            <a:t>μ</a:t>
          </a:r>
          <a:r>
            <a:rPr lang="en-US"/>
            <a:t>(</a:t>
          </a:r>
          <a:r>
            <a:rPr lang="ru-RU"/>
            <a:t>В</a:t>
          </a:r>
          <a:r>
            <a:rPr lang="en-US"/>
            <a:t>3</a:t>
          </a:r>
          <a:r>
            <a:rPr lang="ru-RU"/>
            <a:t>) =</a:t>
          </a:r>
          <a:r>
            <a:rPr lang="el-GR"/>
            <a:t> μ</a:t>
          </a:r>
          <a:r>
            <a:rPr lang="en-US"/>
            <a:t>(</a:t>
          </a:r>
          <a:r>
            <a:rPr lang="ru-RU"/>
            <a:t>Рост) ∩</a:t>
          </a:r>
          <a:r>
            <a:rPr lang="el-GR"/>
            <a:t> μ</a:t>
          </a:r>
          <a:r>
            <a:rPr lang="en-US"/>
            <a:t>(</a:t>
          </a:r>
          <a:r>
            <a:rPr lang="ru-RU"/>
            <a:t>Техника)</a:t>
          </a:r>
          <a:r>
            <a:rPr lang="en-US"/>
            <a:t> U</a:t>
          </a:r>
          <a:r>
            <a:rPr lang="el-GR"/>
            <a:t> μ</a:t>
          </a:r>
          <a:r>
            <a:rPr lang="en-US"/>
            <a:t>(</a:t>
          </a:r>
          <a:r>
            <a:rPr lang="ru-RU"/>
            <a:t>Рез)</a:t>
          </a:r>
          <a:endParaRPr lang="en-US"/>
        </a:p>
      </dgm:t>
    </dgm:pt>
    <dgm:pt modelId="{ECDDE910-4672-47B5-BB01-916EA1157C60}" type="parTrans" cxnId="{1E260EF2-F2CA-4E7D-9250-8C4E8181F9BB}">
      <dgm:prSet/>
      <dgm:spPr/>
      <dgm:t>
        <a:bodyPr/>
        <a:lstStyle/>
        <a:p>
          <a:endParaRPr lang="en-US"/>
        </a:p>
      </dgm:t>
    </dgm:pt>
    <dgm:pt modelId="{25496B92-2168-4CC8-8AE0-7EF728FD1983}" type="sibTrans" cxnId="{1E260EF2-F2CA-4E7D-9250-8C4E8181F9BB}">
      <dgm:prSet/>
      <dgm:spPr/>
      <dgm:t>
        <a:bodyPr/>
        <a:lstStyle/>
        <a:p>
          <a:endParaRPr lang="en-US"/>
        </a:p>
      </dgm:t>
    </dgm:pt>
    <dgm:pt modelId="{00447E1C-065E-463B-9092-B8161BF7B6DF}">
      <dgm:prSet/>
      <dgm:spPr/>
      <dgm:t>
        <a:bodyPr/>
        <a:lstStyle/>
        <a:p>
          <a:r>
            <a:rPr lang="el-GR"/>
            <a:t>μ</a:t>
          </a:r>
          <a:r>
            <a:rPr lang="en-US"/>
            <a:t>(</a:t>
          </a:r>
          <a:r>
            <a:rPr lang="ru-RU"/>
            <a:t>В</a:t>
          </a:r>
          <a:r>
            <a:rPr lang="en-US"/>
            <a:t>4</a:t>
          </a:r>
          <a:r>
            <a:rPr lang="ru-RU"/>
            <a:t>) =</a:t>
          </a:r>
          <a:r>
            <a:rPr lang="el-GR"/>
            <a:t> μ</a:t>
          </a:r>
          <a:r>
            <a:rPr lang="en-US"/>
            <a:t>(</a:t>
          </a:r>
          <a:r>
            <a:rPr lang="ru-RU"/>
            <a:t>Рост)</a:t>
          </a:r>
          <a:r>
            <a:rPr lang="en-US"/>
            <a:t> U</a:t>
          </a:r>
          <a:r>
            <a:rPr lang="el-GR"/>
            <a:t> μ</a:t>
          </a:r>
          <a:r>
            <a:rPr lang="en-US"/>
            <a:t>(</a:t>
          </a:r>
          <a:r>
            <a:rPr lang="ru-RU"/>
            <a:t>Техника) ∩</a:t>
          </a:r>
          <a:r>
            <a:rPr lang="el-GR"/>
            <a:t> μ</a:t>
          </a:r>
          <a:r>
            <a:rPr lang="en-US"/>
            <a:t>(</a:t>
          </a:r>
          <a:r>
            <a:rPr lang="ru-RU"/>
            <a:t>Рез)</a:t>
          </a:r>
          <a:endParaRPr lang="en-US"/>
        </a:p>
      </dgm:t>
    </dgm:pt>
    <dgm:pt modelId="{CEA1D6AD-2054-461D-8381-3C3E764E7381}" type="parTrans" cxnId="{B78C86C7-9443-4915-9900-F612FC474A81}">
      <dgm:prSet/>
      <dgm:spPr/>
      <dgm:t>
        <a:bodyPr/>
        <a:lstStyle/>
        <a:p>
          <a:endParaRPr lang="en-US"/>
        </a:p>
      </dgm:t>
    </dgm:pt>
    <dgm:pt modelId="{E1CE5313-9631-43C7-B48D-B31378002AC9}" type="sibTrans" cxnId="{B78C86C7-9443-4915-9900-F612FC474A81}">
      <dgm:prSet/>
      <dgm:spPr/>
      <dgm:t>
        <a:bodyPr/>
        <a:lstStyle/>
        <a:p>
          <a:endParaRPr lang="en-US"/>
        </a:p>
      </dgm:t>
    </dgm:pt>
    <dgm:pt modelId="{9D597CA3-2B7A-4753-9995-F1188E41D601}" type="pres">
      <dgm:prSet presAssocID="{A5E2313F-F09D-4E6D-A807-1DD2F4D645E2}" presName="root" presStyleCnt="0">
        <dgm:presLayoutVars>
          <dgm:dir/>
          <dgm:resizeHandles val="exact"/>
        </dgm:presLayoutVars>
      </dgm:prSet>
      <dgm:spPr/>
    </dgm:pt>
    <dgm:pt modelId="{90988601-6AC0-425F-8CD5-CB15FA8661C6}" type="pres">
      <dgm:prSet presAssocID="{82739DD9-9F5E-4AA6-8944-EDC2AE7E4E3C}" presName="compNode" presStyleCnt="0"/>
      <dgm:spPr/>
    </dgm:pt>
    <dgm:pt modelId="{70E06B67-770D-4418-9BC0-218FEB2DDE11}" type="pres">
      <dgm:prSet presAssocID="{82739DD9-9F5E-4AA6-8944-EDC2AE7E4E3C}" presName="bgRect" presStyleLbl="bgShp" presStyleIdx="0" presStyleCnt="4"/>
      <dgm:spPr/>
    </dgm:pt>
    <dgm:pt modelId="{CDB6D5EF-32EC-4DBE-AB62-25CC233246FD}" type="pres">
      <dgm:prSet presAssocID="{82739DD9-9F5E-4AA6-8944-EDC2AE7E4E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олба"/>
        </a:ext>
      </dgm:extLst>
    </dgm:pt>
    <dgm:pt modelId="{3959E510-A012-4CEE-A2E4-56ADAFB1F3DC}" type="pres">
      <dgm:prSet presAssocID="{82739DD9-9F5E-4AA6-8944-EDC2AE7E4E3C}" presName="spaceRect" presStyleCnt="0"/>
      <dgm:spPr/>
    </dgm:pt>
    <dgm:pt modelId="{2FD8E786-A538-41BC-9AA3-E5204405BFA9}" type="pres">
      <dgm:prSet presAssocID="{82739DD9-9F5E-4AA6-8944-EDC2AE7E4E3C}" presName="parTx" presStyleLbl="revTx" presStyleIdx="0" presStyleCnt="4">
        <dgm:presLayoutVars>
          <dgm:chMax val="0"/>
          <dgm:chPref val="0"/>
        </dgm:presLayoutVars>
      </dgm:prSet>
      <dgm:spPr/>
    </dgm:pt>
    <dgm:pt modelId="{E39D40DA-EBFA-431F-B5F8-A4587BBD57DB}" type="pres">
      <dgm:prSet presAssocID="{80CCCB7C-8F04-439C-B342-9A09BD6F83B3}" presName="sibTrans" presStyleCnt="0"/>
      <dgm:spPr/>
    </dgm:pt>
    <dgm:pt modelId="{164F56A6-CE22-4EC5-99EA-6D2ACF95DC00}" type="pres">
      <dgm:prSet presAssocID="{F3BF5587-6C77-4BEF-9F21-5A142E624C8E}" presName="compNode" presStyleCnt="0"/>
      <dgm:spPr/>
    </dgm:pt>
    <dgm:pt modelId="{54A743A0-A54C-4765-9D4B-9A0C9AA1364E}" type="pres">
      <dgm:prSet presAssocID="{F3BF5587-6C77-4BEF-9F21-5A142E624C8E}" presName="bgRect" presStyleLbl="bgShp" presStyleIdx="1" presStyleCnt="4"/>
      <dgm:spPr/>
    </dgm:pt>
    <dgm:pt modelId="{C43A5455-54FF-4DC7-8CD6-3A720322CEC6}" type="pres">
      <dgm:prSet presAssocID="{F3BF5587-6C77-4BEF-9F21-5A142E624C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FCD71999-0C23-4ED6-BCB8-39838D042E56}" type="pres">
      <dgm:prSet presAssocID="{F3BF5587-6C77-4BEF-9F21-5A142E624C8E}" presName="spaceRect" presStyleCnt="0"/>
      <dgm:spPr/>
    </dgm:pt>
    <dgm:pt modelId="{C1A91240-39C6-43BD-ADD8-BCFC22AE4C44}" type="pres">
      <dgm:prSet presAssocID="{F3BF5587-6C77-4BEF-9F21-5A142E624C8E}" presName="parTx" presStyleLbl="revTx" presStyleIdx="1" presStyleCnt="4">
        <dgm:presLayoutVars>
          <dgm:chMax val="0"/>
          <dgm:chPref val="0"/>
        </dgm:presLayoutVars>
      </dgm:prSet>
      <dgm:spPr/>
    </dgm:pt>
    <dgm:pt modelId="{41ECB415-80AD-44B6-9976-62DB5EDBB715}" type="pres">
      <dgm:prSet presAssocID="{982F0532-E3E4-4FEF-8FFF-BE14C4E2323C}" presName="sibTrans" presStyleCnt="0"/>
      <dgm:spPr/>
    </dgm:pt>
    <dgm:pt modelId="{66F88C21-AC6C-4268-8C00-36D0EBFCFE3C}" type="pres">
      <dgm:prSet presAssocID="{46915D30-8173-4456-8845-E2F73DD55C89}" presName="compNode" presStyleCnt="0"/>
      <dgm:spPr/>
    </dgm:pt>
    <dgm:pt modelId="{4A9B6A9F-5945-410E-B7B6-A1FFC6C5A43E}" type="pres">
      <dgm:prSet presAssocID="{46915D30-8173-4456-8845-E2F73DD55C89}" presName="bgRect" presStyleLbl="bgShp" presStyleIdx="2" presStyleCnt="4"/>
      <dgm:spPr/>
    </dgm:pt>
    <dgm:pt modelId="{106EEC55-06BB-402E-8236-349375A2F5AF}" type="pres">
      <dgm:prSet presAssocID="{46915D30-8173-4456-8845-E2F73DD55C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ензурка"/>
        </a:ext>
      </dgm:extLst>
    </dgm:pt>
    <dgm:pt modelId="{C828975D-74A1-4174-817A-ABDC6A0D6459}" type="pres">
      <dgm:prSet presAssocID="{46915D30-8173-4456-8845-E2F73DD55C89}" presName="spaceRect" presStyleCnt="0"/>
      <dgm:spPr/>
    </dgm:pt>
    <dgm:pt modelId="{E14C82CB-BC92-404B-B66B-02577396056B}" type="pres">
      <dgm:prSet presAssocID="{46915D30-8173-4456-8845-E2F73DD55C89}" presName="parTx" presStyleLbl="revTx" presStyleIdx="2" presStyleCnt="4">
        <dgm:presLayoutVars>
          <dgm:chMax val="0"/>
          <dgm:chPref val="0"/>
        </dgm:presLayoutVars>
      </dgm:prSet>
      <dgm:spPr/>
    </dgm:pt>
    <dgm:pt modelId="{36493B0C-F504-4C73-84AB-36DEF1C6B202}" type="pres">
      <dgm:prSet presAssocID="{25496B92-2168-4CC8-8AE0-7EF728FD1983}" presName="sibTrans" presStyleCnt="0"/>
      <dgm:spPr/>
    </dgm:pt>
    <dgm:pt modelId="{29B7226D-4564-4609-9E0E-6D67522EF56B}" type="pres">
      <dgm:prSet presAssocID="{00447E1C-065E-463B-9092-B8161BF7B6DF}" presName="compNode" presStyleCnt="0"/>
      <dgm:spPr/>
    </dgm:pt>
    <dgm:pt modelId="{97C757D9-C95A-4F90-B448-99112307DF91}" type="pres">
      <dgm:prSet presAssocID="{00447E1C-065E-463B-9092-B8161BF7B6DF}" presName="bgRect" presStyleLbl="bgShp" presStyleIdx="3" presStyleCnt="4"/>
      <dgm:spPr/>
    </dgm:pt>
    <dgm:pt modelId="{B140EC10-AB44-4954-BEA0-A386F8515DE2}" type="pres">
      <dgm:prSet presAssocID="{00447E1C-065E-463B-9092-B8161BF7B6D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икроскоп"/>
        </a:ext>
      </dgm:extLst>
    </dgm:pt>
    <dgm:pt modelId="{76720357-FB49-4C7E-9E44-B87844A83AE9}" type="pres">
      <dgm:prSet presAssocID="{00447E1C-065E-463B-9092-B8161BF7B6DF}" presName="spaceRect" presStyleCnt="0"/>
      <dgm:spPr/>
    </dgm:pt>
    <dgm:pt modelId="{2C74C369-1697-4957-9039-8A7C218CE95F}" type="pres">
      <dgm:prSet presAssocID="{00447E1C-065E-463B-9092-B8161BF7B6D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A2D1C12-7BA1-42BA-B562-950BF9B4ECEC}" type="presOf" srcId="{82739DD9-9F5E-4AA6-8944-EDC2AE7E4E3C}" destId="{2FD8E786-A538-41BC-9AA3-E5204405BFA9}" srcOrd="0" destOrd="0" presId="urn:microsoft.com/office/officeart/2018/2/layout/IconVerticalSolidList"/>
    <dgm:cxn modelId="{60BB253B-DA32-466E-B7EB-D409C726E773}" type="presOf" srcId="{A5E2313F-F09D-4E6D-A807-1DD2F4D645E2}" destId="{9D597CA3-2B7A-4753-9995-F1188E41D601}" srcOrd="0" destOrd="0" presId="urn:microsoft.com/office/officeart/2018/2/layout/IconVerticalSolidList"/>
    <dgm:cxn modelId="{6CE2296D-4A46-4F0C-88D1-9BDCECCFD731}" type="presOf" srcId="{46915D30-8173-4456-8845-E2F73DD55C89}" destId="{E14C82CB-BC92-404B-B66B-02577396056B}" srcOrd="0" destOrd="0" presId="urn:microsoft.com/office/officeart/2018/2/layout/IconVerticalSolidList"/>
    <dgm:cxn modelId="{FA58E558-A73F-4712-B8C6-560416C2D672}" srcId="{A5E2313F-F09D-4E6D-A807-1DD2F4D645E2}" destId="{82739DD9-9F5E-4AA6-8944-EDC2AE7E4E3C}" srcOrd="0" destOrd="0" parTransId="{7550D4FD-746F-4082-B35E-47732A6053FF}" sibTransId="{80CCCB7C-8F04-439C-B342-9A09BD6F83B3}"/>
    <dgm:cxn modelId="{89B12F90-0907-47BF-8E82-0B85F245D08A}" type="presOf" srcId="{F3BF5587-6C77-4BEF-9F21-5A142E624C8E}" destId="{C1A91240-39C6-43BD-ADD8-BCFC22AE4C44}" srcOrd="0" destOrd="0" presId="urn:microsoft.com/office/officeart/2018/2/layout/IconVerticalSolidList"/>
    <dgm:cxn modelId="{5EE01EAF-B6BD-4666-B23C-DFF8D49F2339}" srcId="{A5E2313F-F09D-4E6D-A807-1DD2F4D645E2}" destId="{F3BF5587-6C77-4BEF-9F21-5A142E624C8E}" srcOrd="1" destOrd="0" parTransId="{F4CC4336-621A-49C2-AAB8-719962CEE50D}" sibTransId="{982F0532-E3E4-4FEF-8FFF-BE14C4E2323C}"/>
    <dgm:cxn modelId="{AF5320BA-C7C3-4F57-8E45-65D690215585}" type="presOf" srcId="{00447E1C-065E-463B-9092-B8161BF7B6DF}" destId="{2C74C369-1697-4957-9039-8A7C218CE95F}" srcOrd="0" destOrd="0" presId="urn:microsoft.com/office/officeart/2018/2/layout/IconVerticalSolidList"/>
    <dgm:cxn modelId="{B78C86C7-9443-4915-9900-F612FC474A81}" srcId="{A5E2313F-F09D-4E6D-A807-1DD2F4D645E2}" destId="{00447E1C-065E-463B-9092-B8161BF7B6DF}" srcOrd="3" destOrd="0" parTransId="{CEA1D6AD-2054-461D-8381-3C3E764E7381}" sibTransId="{E1CE5313-9631-43C7-B48D-B31378002AC9}"/>
    <dgm:cxn modelId="{1E260EF2-F2CA-4E7D-9250-8C4E8181F9BB}" srcId="{A5E2313F-F09D-4E6D-A807-1DD2F4D645E2}" destId="{46915D30-8173-4456-8845-E2F73DD55C89}" srcOrd="2" destOrd="0" parTransId="{ECDDE910-4672-47B5-BB01-916EA1157C60}" sibTransId="{25496B92-2168-4CC8-8AE0-7EF728FD1983}"/>
    <dgm:cxn modelId="{2B6550DF-56D6-4AFE-BF67-DFA68951E001}" type="presParOf" srcId="{9D597CA3-2B7A-4753-9995-F1188E41D601}" destId="{90988601-6AC0-425F-8CD5-CB15FA8661C6}" srcOrd="0" destOrd="0" presId="urn:microsoft.com/office/officeart/2018/2/layout/IconVerticalSolidList"/>
    <dgm:cxn modelId="{27900B95-42AC-454E-93F7-25CB0F759C9C}" type="presParOf" srcId="{90988601-6AC0-425F-8CD5-CB15FA8661C6}" destId="{70E06B67-770D-4418-9BC0-218FEB2DDE11}" srcOrd="0" destOrd="0" presId="urn:microsoft.com/office/officeart/2018/2/layout/IconVerticalSolidList"/>
    <dgm:cxn modelId="{5E8B0FA8-6E5F-4631-93B3-FE05EC8CC1A0}" type="presParOf" srcId="{90988601-6AC0-425F-8CD5-CB15FA8661C6}" destId="{CDB6D5EF-32EC-4DBE-AB62-25CC233246FD}" srcOrd="1" destOrd="0" presId="urn:microsoft.com/office/officeart/2018/2/layout/IconVerticalSolidList"/>
    <dgm:cxn modelId="{A7E43924-E187-4058-AFF1-5DDA1FE5E88B}" type="presParOf" srcId="{90988601-6AC0-425F-8CD5-CB15FA8661C6}" destId="{3959E510-A012-4CEE-A2E4-56ADAFB1F3DC}" srcOrd="2" destOrd="0" presId="urn:microsoft.com/office/officeart/2018/2/layout/IconVerticalSolidList"/>
    <dgm:cxn modelId="{EEEDF98A-4BC3-4819-920F-088859B30FF0}" type="presParOf" srcId="{90988601-6AC0-425F-8CD5-CB15FA8661C6}" destId="{2FD8E786-A538-41BC-9AA3-E5204405BFA9}" srcOrd="3" destOrd="0" presId="urn:microsoft.com/office/officeart/2018/2/layout/IconVerticalSolidList"/>
    <dgm:cxn modelId="{D3E2B8F3-6D5E-4B23-A42B-2D4AB567329A}" type="presParOf" srcId="{9D597CA3-2B7A-4753-9995-F1188E41D601}" destId="{E39D40DA-EBFA-431F-B5F8-A4587BBD57DB}" srcOrd="1" destOrd="0" presId="urn:microsoft.com/office/officeart/2018/2/layout/IconVerticalSolidList"/>
    <dgm:cxn modelId="{029AFC85-0018-4314-AA58-BF322D52DDC9}" type="presParOf" srcId="{9D597CA3-2B7A-4753-9995-F1188E41D601}" destId="{164F56A6-CE22-4EC5-99EA-6D2ACF95DC00}" srcOrd="2" destOrd="0" presId="urn:microsoft.com/office/officeart/2018/2/layout/IconVerticalSolidList"/>
    <dgm:cxn modelId="{E0868622-64F2-4022-B632-E1F478BF35D6}" type="presParOf" srcId="{164F56A6-CE22-4EC5-99EA-6D2ACF95DC00}" destId="{54A743A0-A54C-4765-9D4B-9A0C9AA1364E}" srcOrd="0" destOrd="0" presId="urn:microsoft.com/office/officeart/2018/2/layout/IconVerticalSolidList"/>
    <dgm:cxn modelId="{39D9B516-95AC-485B-95A1-DAFDEDBA9AC9}" type="presParOf" srcId="{164F56A6-CE22-4EC5-99EA-6D2ACF95DC00}" destId="{C43A5455-54FF-4DC7-8CD6-3A720322CEC6}" srcOrd="1" destOrd="0" presId="urn:microsoft.com/office/officeart/2018/2/layout/IconVerticalSolidList"/>
    <dgm:cxn modelId="{004F8776-D2E4-4654-B22B-E15B6E5A002E}" type="presParOf" srcId="{164F56A6-CE22-4EC5-99EA-6D2ACF95DC00}" destId="{FCD71999-0C23-4ED6-BCB8-39838D042E56}" srcOrd="2" destOrd="0" presId="urn:microsoft.com/office/officeart/2018/2/layout/IconVerticalSolidList"/>
    <dgm:cxn modelId="{ADEBDF36-5D3B-4239-9B71-4A2766CFFB04}" type="presParOf" srcId="{164F56A6-CE22-4EC5-99EA-6D2ACF95DC00}" destId="{C1A91240-39C6-43BD-ADD8-BCFC22AE4C44}" srcOrd="3" destOrd="0" presId="urn:microsoft.com/office/officeart/2018/2/layout/IconVerticalSolidList"/>
    <dgm:cxn modelId="{40FEF879-5EB9-4ED1-A26D-B17E6069B9ED}" type="presParOf" srcId="{9D597CA3-2B7A-4753-9995-F1188E41D601}" destId="{41ECB415-80AD-44B6-9976-62DB5EDBB715}" srcOrd="3" destOrd="0" presId="urn:microsoft.com/office/officeart/2018/2/layout/IconVerticalSolidList"/>
    <dgm:cxn modelId="{5577433E-2558-478D-BE23-1231462F80BF}" type="presParOf" srcId="{9D597CA3-2B7A-4753-9995-F1188E41D601}" destId="{66F88C21-AC6C-4268-8C00-36D0EBFCFE3C}" srcOrd="4" destOrd="0" presId="urn:microsoft.com/office/officeart/2018/2/layout/IconVerticalSolidList"/>
    <dgm:cxn modelId="{29F628F6-EF18-42F8-96CF-2C925A064452}" type="presParOf" srcId="{66F88C21-AC6C-4268-8C00-36D0EBFCFE3C}" destId="{4A9B6A9F-5945-410E-B7B6-A1FFC6C5A43E}" srcOrd="0" destOrd="0" presId="urn:microsoft.com/office/officeart/2018/2/layout/IconVerticalSolidList"/>
    <dgm:cxn modelId="{C5807298-8F2B-4779-92D2-3D2030354FFB}" type="presParOf" srcId="{66F88C21-AC6C-4268-8C00-36D0EBFCFE3C}" destId="{106EEC55-06BB-402E-8236-349375A2F5AF}" srcOrd="1" destOrd="0" presId="urn:microsoft.com/office/officeart/2018/2/layout/IconVerticalSolidList"/>
    <dgm:cxn modelId="{01629F3D-4ED5-4047-96F7-258F7914FBDD}" type="presParOf" srcId="{66F88C21-AC6C-4268-8C00-36D0EBFCFE3C}" destId="{C828975D-74A1-4174-817A-ABDC6A0D6459}" srcOrd="2" destOrd="0" presId="urn:microsoft.com/office/officeart/2018/2/layout/IconVerticalSolidList"/>
    <dgm:cxn modelId="{3547C25F-B3EA-49C1-9693-9AD54B092DF3}" type="presParOf" srcId="{66F88C21-AC6C-4268-8C00-36D0EBFCFE3C}" destId="{E14C82CB-BC92-404B-B66B-02577396056B}" srcOrd="3" destOrd="0" presId="urn:microsoft.com/office/officeart/2018/2/layout/IconVerticalSolidList"/>
    <dgm:cxn modelId="{961B0F5E-B0CB-452B-BE5E-EF53654B3B04}" type="presParOf" srcId="{9D597CA3-2B7A-4753-9995-F1188E41D601}" destId="{36493B0C-F504-4C73-84AB-36DEF1C6B202}" srcOrd="5" destOrd="0" presId="urn:microsoft.com/office/officeart/2018/2/layout/IconVerticalSolidList"/>
    <dgm:cxn modelId="{F6953E12-09EF-46CD-9A74-6AF3B6D13513}" type="presParOf" srcId="{9D597CA3-2B7A-4753-9995-F1188E41D601}" destId="{29B7226D-4564-4609-9E0E-6D67522EF56B}" srcOrd="6" destOrd="0" presId="urn:microsoft.com/office/officeart/2018/2/layout/IconVerticalSolidList"/>
    <dgm:cxn modelId="{6A76C060-0D43-4316-974B-B80E4FA31334}" type="presParOf" srcId="{29B7226D-4564-4609-9E0E-6D67522EF56B}" destId="{97C757D9-C95A-4F90-B448-99112307DF91}" srcOrd="0" destOrd="0" presId="urn:microsoft.com/office/officeart/2018/2/layout/IconVerticalSolidList"/>
    <dgm:cxn modelId="{99F39BD5-FDDF-429A-B909-1E9947C995F2}" type="presParOf" srcId="{29B7226D-4564-4609-9E0E-6D67522EF56B}" destId="{B140EC10-AB44-4954-BEA0-A386F8515DE2}" srcOrd="1" destOrd="0" presId="urn:microsoft.com/office/officeart/2018/2/layout/IconVerticalSolidList"/>
    <dgm:cxn modelId="{C09599F3-F5FC-4B0D-A387-4E80DC4A5A9F}" type="presParOf" srcId="{29B7226D-4564-4609-9E0E-6D67522EF56B}" destId="{76720357-FB49-4C7E-9E44-B87844A83AE9}" srcOrd="2" destOrd="0" presId="urn:microsoft.com/office/officeart/2018/2/layout/IconVerticalSolidList"/>
    <dgm:cxn modelId="{56C26D40-835F-4EB8-9920-546800496126}" type="presParOf" srcId="{29B7226D-4564-4609-9E0E-6D67522EF56B}" destId="{2C74C369-1697-4957-9039-8A7C218CE9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5A0D7-0556-4DAE-B374-6001EFFBD975}">
      <dsp:nvSpPr>
        <dsp:cNvPr id="0" name=""/>
        <dsp:cNvSpPr/>
      </dsp:nvSpPr>
      <dsp:spPr>
        <a:xfrm>
          <a:off x="7290785" y="2583258"/>
          <a:ext cx="91440" cy="1621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F4BB7C-F72D-4829-8315-555FDF5F4D6F}">
      <dsp:nvSpPr>
        <dsp:cNvPr id="0" name=""/>
        <dsp:cNvSpPr/>
      </dsp:nvSpPr>
      <dsp:spPr>
        <a:xfrm>
          <a:off x="6628696" y="1906334"/>
          <a:ext cx="707809" cy="1621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19"/>
              </a:lnTo>
              <a:lnTo>
                <a:pt x="707809" y="81719"/>
              </a:lnTo>
              <a:lnTo>
                <a:pt x="707809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A2B9B0-69B8-49DD-8737-55F6BE42716A}">
      <dsp:nvSpPr>
        <dsp:cNvPr id="0" name=""/>
        <dsp:cNvSpPr/>
      </dsp:nvSpPr>
      <dsp:spPr>
        <a:xfrm>
          <a:off x="5875166" y="2583258"/>
          <a:ext cx="91440" cy="1621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44B83B-A02A-42B2-9B5A-686EFDE2628E}">
      <dsp:nvSpPr>
        <dsp:cNvPr id="0" name=""/>
        <dsp:cNvSpPr/>
      </dsp:nvSpPr>
      <dsp:spPr>
        <a:xfrm>
          <a:off x="5920886" y="1906334"/>
          <a:ext cx="707809" cy="162152"/>
        </a:xfrm>
        <a:custGeom>
          <a:avLst/>
          <a:gdLst/>
          <a:ahLst/>
          <a:cxnLst/>
          <a:rect l="0" t="0" r="0" b="0"/>
          <a:pathLst>
            <a:path>
              <a:moveTo>
                <a:pt x="707809" y="0"/>
              </a:moveTo>
              <a:lnTo>
                <a:pt x="707809" y="81719"/>
              </a:lnTo>
              <a:lnTo>
                <a:pt x="0" y="81719"/>
              </a:lnTo>
              <a:lnTo>
                <a:pt x="0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41B49-5058-442C-B7E0-CD4AB78A2E2F}">
      <dsp:nvSpPr>
        <dsp:cNvPr id="0" name=""/>
        <dsp:cNvSpPr/>
      </dsp:nvSpPr>
      <dsp:spPr>
        <a:xfrm>
          <a:off x="3814735" y="1224963"/>
          <a:ext cx="2813960" cy="16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167"/>
              </a:lnTo>
              <a:lnTo>
                <a:pt x="2813960" y="86167"/>
              </a:lnTo>
              <a:lnTo>
                <a:pt x="2813960" y="1666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9F2EF-7D71-451D-847A-234FC9C7CFC9}">
      <dsp:nvSpPr>
        <dsp:cNvPr id="0" name=""/>
        <dsp:cNvSpPr/>
      </dsp:nvSpPr>
      <dsp:spPr>
        <a:xfrm>
          <a:off x="4459546" y="2583258"/>
          <a:ext cx="91440" cy="1621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BF6428-C0DA-4AF4-8EA6-E1833B8759E7}">
      <dsp:nvSpPr>
        <dsp:cNvPr id="0" name=""/>
        <dsp:cNvSpPr/>
      </dsp:nvSpPr>
      <dsp:spPr>
        <a:xfrm>
          <a:off x="3797456" y="1906334"/>
          <a:ext cx="707809" cy="1621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19"/>
              </a:lnTo>
              <a:lnTo>
                <a:pt x="707809" y="81719"/>
              </a:lnTo>
              <a:lnTo>
                <a:pt x="707809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0C396D-0CE3-446E-A4AD-2F8E480471D0}">
      <dsp:nvSpPr>
        <dsp:cNvPr id="0" name=""/>
        <dsp:cNvSpPr/>
      </dsp:nvSpPr>
      <dsp:spPr>
        <a:xfrm>
          <a:off x="3043926" y="2583258"/>
          <a:ext cx="91440" cy="1621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4CA8CC-F54C-4523-B66A-46875DDEB2B5}">
      <dsp:nvSpPr>
        <dsp:cNvPr id="0" name=""/>
        <dsp:cNvSpPr/>
      </dsp:nvSpPr>
      <dsp:spPr>
        <a:xfrm>
          <a:off x="3089646" y="1906334"/>
          <a:ext cx="707809" cy="162152"/>
        </a:xfrm>
        <a:custGeom>
          <a:avLst/>
          <a:gdLst/>
          <a:ahLst/>
          <a:cxnLst/>
          <a:rect l="0" t="0" r="0" b="0"/>
          <a:pathLst>
            <a:path>
              <a:moveTo>
                <a:pt x="707809" y="0"/>
              </a:moveTo>
              <a:lnTo>
                <a:pt x="707809" y="81719"/>
              </a:lnTo>
              <a:lnTo>
                <a:pt x="0" y="81719"/>
              </a:lnTo>
              <a:lnTo>
                <a:pt x="0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EDDF60-040F-4F8B-9BDA-1EC610D15A78}">
      <dsp:nvSpPr>
        <dsp:cNvPr id="0" name=""/>
        <dsp:cNvSpPr/>
      </dsp:nvSpPr>
      <dsp:spPr>
        <a:xfrm>
          <a:off x="3751736" y="1224963"/>
          <a:ext cx="91440" cy="166600"/>
        </a:xfrm>
        <a:custGeom>
          <a:avLst/>
          <a:gdLst/>
          <a:ahLst/>
          <a:cxnLst/>
          <a:rect l="0" t="0" r="0" b="0"/>
          <a:pathLst>
            <a:path>
              <a:moveTo>
                <a:pt x="62999" y="0"/>
              </a:moveTo>
              <a:lnTo>
                <a:pt x="62999" y="86167"/>
              </a:lnTo>
              <a:lnTo>
                <a:pt x="45720" y="86167"/>
              </a:lnTo>
              <a:lnTo>
                <a:pt x="45720" y="1666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AE977D-10AD-421D-A419-E8B0B7AF9CB6}">
      <dsp:nvSpPr>
        <dsp:cNvPr id="0" name=""/>
        <dsp:cNvSpPr/>
      </dsp:nvSpPr>
      <dsp:spPr>
        <a:xfrm>
          <a:off x="1628306" y="2583258"/>
          <a:ext cx="91440" cy="1621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EC803-4DEA-4EFD-9CE2-E7905B6B3FE8}">
      <dsp:nvSpPr>
        <dsp:cNvPr id="0" name=""/>
        <dsp:cNvSpPr/>
      </dsp:nvSpPr>
      <dsp:spPr>
        <a:xfrm>
          <a:off x="966216" y="1906334"/>
          <a:ext cx="707809" cy="1621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719"/>
              </a:lnTo>
              <a:lnTo>
                <a:pt x="707809" y="81719"/>
              </a:lnTo>
              <a:lnTo>
                <a:pt x="707809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373A36-218C-40FB-A674-2A47B06B5221}">
      <dsp:nvSpPr>
        <dsp:cNvPr id="0" name=""/>
        <dsp:cNvSpPr/>
      </dsp:nvSpPr>
      <dsp:spPr>
        <a:xfrm>
          <a:off x="212686" y="2583258"/>
          <a:ext cx="91440" cy="1621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690FD6-1CFB-40CF-8A24-8D8EDD4B84E5}">
      <dsp:nvSpPr>
        <dsp:cNvPr id="0" name=""/>
        <dsp:cNvSpPr/>
      </dsp:nvSpPr>
      <dsp:spPr>
        <a:xfrm>
          <a:off x="258406" y="1906334"/>
          <a:ext cx="707809" cy="162152"/>
        </a:xfrm>
        <a:custGeom>
          <a:avLst/>
          <a:gdLst/>
          <a:ahLst/>
          <a:cxnLst/>
          <a:rect l="0" t="0" r="0" b="0"/>
          <a:pathLst>
            <a:path>
              <a:moveTo>
                <a:pt x="707809" y="0"/>
              </a:moveTo>
              <a:lnTo>
                <a:pt x="707809" y="81719"/>
              </a:lnTo>
              <a:lnTo>
                <a:pt x="0" y="81719"/>
              </a:lnTo>
              <a:lnTo>
                <a:pt x="0" y="1621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6DD89A-C8B5-4976-A2A4-5C1875C030D3}">
      <dsp:nvSpPr>
        <dsp:cNvPr id="0" name=""/>
        <dsp:cNvSpPr/>
      </dsp:nvSpPr>
      <dsp:spPr>
        <a:xfrm>
          <a:off x="966216" y="1224963"/>
          <a:ext cx="2848519" cy="166600"/>
        </a:xfrm>
        <a:custGeom>
          <a:avLst/>
          <a:gdLst/>
          <a:ahLst/>
          <a:cxnLst/>
          <a:rect l="0" t="0" r="0" b="0"/>
          <a:pathLst>
            <a:path>
              <a:moveTo>
                <a:pt x="2848519" y="0"/>
              </a:moveTo>
              <a:lnTo>
                <a:pt x="2848519" y="86167"/>
              </a:lnTo>
              <a:lnTo>
                <a:pt x="0" y="86167"/>
              </a:lnTo>
              <a:lnTo>
                <a:pt x="0" y="1666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9E9118-8FE0-490D-8E64-1509EA5BE491}">
      <dsp:nvSpPr>
        <dsp:cNvPr id="0" name=""/>
        <dsp:cNvSpPr/>
      </dsp:nvSpPr>
      <dsp:spPr>
        <a:xfrm>
          <a:off x="3557350" y="710192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6B418-7F2E-4758-832B-D8F9477D36EB}">
      <dsp:nvSpPr>
        <dsp:cNvPr id="0" name=""/>
        <dsp:cNvSpPr/>
      </dsp:nvSpPr>
      <dsp:spPr>
        <a:xfrm>
          <a:off x="4121351" y="838046"/>
          <a:ext cx="1029608" cy="300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Ранец</a:t>
          </a:r>
          <a:r>
            <a:rPr lang="en-US" sz="1100" kern="1200" dirty="0"/>
            <a:t> = 50</a:t>
          </a:r>
          <a:r>
            <a:rPr lang="ru-RU" sz="1100" kern="1200" dirty="0"/>
            <a:t> кг</a:t>
          </a:r>
        </a:p>
      </dsp:txBody>
      <dsp:txXfrm>
        <a:off x="4121351" y="838046"/>
        <a:ext cx="1029608" cy="300142"/>
      </dsp:txXfrm>
    </dsp:sp>
    <dsp:sp modelId="{7DE8EAD2-9D2B-4B25-A420-4D1D85819D51}">
      <dsp:nvSpPr>
        <dsp:cNvPr id="0" name=""/>
        <dsp:cNvSpPr/>
      </dsp:nvSpPr>
      <dsp:spPr>
        <a:xfrm>
          <a:off x="708831" y="1391563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C86A6-075C-483C-B2C1-A98A234EA371}">
      <dsp:nvSpPr>
        <dsp:cNvPr id="0" name=""/>
        <dsp:cNvSpPr/>
      </dsp:nvSpPr>
      <dsp:spPr>
        <a:xfrm>
          <a:off x="1223602" y="1390276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10кг</a:t>
          </a:r>
        </a:p>
      </dsp:txBody>
      <dsp:txXfrm>
        <a:off x="1223602" y="1390276"/>
        <a:ext cx="772156" cy="514770"/>
      </dsp:txXfrm>
    </dsp:sp>
    <dsp:sp modelId="{8E08740A-ACE9-4ADF-AC38-1F6D8FF5F2A0}">
      <dsp:nvSpPr>
        <dsp:cNvPr id="0" name=""/>
        <dsp:cNvSpPr/>
      </dsp:nvSpPr>
      <dsp:spPr>
        <a:xfrm>
          <a:off x="1021" y="2068487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B6577-6AC4-47C2-84F4-C21480AF3091}">
      <dsp:nvSpPr>
        <dsp:cNvPr id="0" name=""/>
        <dsp:cNvSpPr/>
      </dsp:nvSpPr>
      <dsp:spPr>
        <a:xfrm>
          <a:off x="515792" y="2067200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20кг</a:t>
          </a:r>
        </a:p>
      </dsp:txBody>
      <dsp:txXfrm>
        <a:off x="515792" y="2067200"/>
        <a:ext cx="772156" cy="514770"/>
      </dsp:txXfrm>
    </dsp:sp>
    <dsp:sp modelId="{329964B8-F879-4271-82DF-0B62F04D2E21}">
      <dsp:nvSpPr>
        <dsp:cNvPr id="0" name=""/>
        <dsp:cNvSpPr/>
      </dsp:nvSpPr>
      <dsp:spPr>
        <a:xfrm>
          <a:off x="1021" y="2745411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48BAB-4FFF-4EFD-B1CF-22956BFC67BA}">
      <dsp:nvSpPr>
        <dsp:cNvPr id="0" name=""/>
        <dsp:cNvSpPr/>
      </dsp:nvSpPr>
      <dsp:spPr>
        <a:xfrm>
          <a:off x="515792" y="2744124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515792" y="2744124"/>
        <a:ext cx="772156" cy="514770"/>
      </dsp:txXfrm>
    </dsp:sp>
    <dsp:sp modelId="{08AAAF30-A45A-4BDB-8C6F-937939875675}">
      <dsp:nvSpPr>
        <dsp:cNvPr id="0" name=""/>
        <dsp:cNvSpPr/>
      </dsp:nvSpPr>
      <dsp:spPr>
        <a:xfrm>
          <a:off x="1416641" y="2068487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69DB7-7CC8-40D7-B014-8D7F5F2CB90E}">
      <dsp:nvSpPr>
        <dsp:cNvPr id="0" name=""/>
        <dsp:cNvSpPr/>
      </dsp:nvSpPr>
      <dsp:spPr>
        <a:xfrm>
          <a:off x="1931412" y="2067200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30кг</a:t>
          </a:r>
        </a:p>
      </dsp:txBody>
      <dsp:txXfrm>
        <a:off x="1931412" y="2067200"/>
        <a:ext cx="772156" cy="514770"/>
      </dsp:txXfrm>
    </dsp:sp>
    <dsp:sp modelId="{DE85BA8B-1681-44A1-BFE3-71EBF0CF2CCD}">
      <dsp:nvSpPr>
        <dsp:cNvPr id="0" name=""/>
        <dsp:cNvSpPr/>
      </dsp:nvSpPr>
      <dsp:spPr>
        <a:xfrm>
          <a:off x="1416641" y="2745411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4003B-4EB6-4003-8754-006EEEDEC6F6}">
      <dsp:nvSpPr>
        <dsp:cNvPr id="0" name=""/>
        <dsp:cNvSpPr/>
      </dsp:nvSpPr>
      <dsp:spPr>
        <a:xfrm>
          <a:off x="1931412" y="2744124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1931412" y="2744124"/>
        <a:ext cx="772156" cy="514770"/>
      </dsp:txXfrm>
    </dsp:sp>
    <dsp:sp modelId="{2F521E0B-71D1-4C25-A063-63D5561FBFC9}">
      <dsp:nvSpPr>
        <dsp:cNvPr id="0" name=""/>
        <dsp:cNvSpPr/>
      </dsp:nvSpPr>
      <dsp:spPr>
        <a:xfrm>
          <a:off x="3540070" y="1391563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085C8-BF73-48E9-9EBA-02045E24E890}">
      <dsp:nvSpPr>
        <dsp:cNvPr id="0" name=""/>
        <dsp:cNvSpPr/>
      </dsp:nvSpPr>
      <dsp:spPr>
        <a:xfrm>
          <a:off x="4054841" y="1390276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20кг</a:t>
          </a:r>
        </a:p>
      </dsp:txBody>
      <dsp:txXfrm>
        <a:off x="4054841" y="1390276"/>
        <a:ext cx="772156" cy="514770"/>
      </dsp:txXfrm>
    </dsp:sp>
    <dsp:sp modelId="{4E9F4ECD-5D6E-46D0-95EB-69D943D11FD3}">
      <dsp:nvSpPr>
        <dsp:cNvPr id="0" name=""/>
        <dsp:cNvSpPr/>
      </dsp:nvSpPr>
      <dsp:spPr>
        <a:xfrm>
          <a:off x="2832261" y="2068487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3E7C2-E9EA-4052-8238-2D9C734DC371}">
      <dsp:nvSpPr>
        <dsp:cNvPr id="0" name=""/>
        <dsp:cNvSpPr/>
      </dsp:nvSpPr>
      <dsp:spPr>
        <a:xfrm>
          <a:off x="3353711" y="2135886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10 кг</a:t>
          </a:r>
        </a:p>
      </dsp:txBody>
      <dsp:txXfrm>
        <a:off x="3353711" y="2135886"/>
        <a:ext cx="772156" cy="514770"/>
      </dsp:txXfrm>
    </dsp:sp>
    <dsp:sp modelId="{C746EE18-02D7-47A8-8435-D14896E9D417}">
      <dsp:nvSpPr>
        <dsp:cNvPr id="0" name=""/>
        <dsp:cNvSpPr/>
      </dsp:nvSpPr>
      <dsp:spPr>
        <a:xfrm>
          <a:off x="2832261" y="2745411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FBA4E-20FE-4989-9DE1-E0C04740AA74}">
      <dsp:nvSpPr>
        <dsp:cNvPr id="0" name=""/>
        <dsp:cNvSpPr/>
      </dsp:nvSpPr>
      <dsp:spPr>
        <a:xfrm>
          <a:off x="3347031" y="2744124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3347031" y="2744124"/>
        <a:ext cx="772156" cy="514770"/>
      </dsp:txXfrm>
    </dsp:sp>
    <dsp:sp modelId="{D79E062F-5398-4F0A-A448-A5C48C4F0857}">
      <dsp:nvSpPr>
        <dsp:cNvPr id="0" name=""/>
        <dsp:cNvSpPr/>
      </dsp:nvSpPr>
      <dsp:spPr>
        <a:xfrm>
          <a:off x="4247880" y="2068487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EED46-3158-4900-8090-8F268222F669}">
      <dsp:nvSpPr>
        <dsp:cNvPr id="0" name=""/>
        <dsp:cNvSpPr/>
      </dsp:nvSpPr>
      <dsp:spPr>
        <a:xfrm>
          <a:off x="4762651" y="2067200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4762651" y="2067200"/>
        <a:ext cx="772156" cy="514770"/>
      </dsp:txXfrm>
    </dsp:sp>
    <dsp:sp modelId="{524CF180-7B83-431D-A9F1-95A01E7D3F49}">
      <dsp:nvSpPr>
        <dsp:cNvPr id="0" name=""/>
        <dsp:cNvSpPr/>
      </dsp:nvSpPr>
      <dsp:spPr>
        <a:xfrm>
          <a:off x="4247880" y="2745411"/>
          <a:ext cx="514770" cy="514770"/>
        </a:xfrm>
        <a:prstGeom prst="mathMultiply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1E51F-C64F-4486-A600-85E8B3E31E64}">
      <dsp:nvSpPr>
        <dsp:cNvPr id="0" name=""/>
        <dsp:cNvSpPr/>
      </dsp:nvSpPr>
      <dsp:spPr>
        <a:xfrm>
          <a:off x="4762651" y="2744124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4762651" y="2744124"/>
        <a:ext cx="772156" cy="514770"/>
      </dsp:txXfrm>
    </dsp:sp>
    <dsp:sp modelId="{82F2788D-6E13-423F-907F-3D260894041F}">
      <dsp:nvSpPr>
        <dsp:cNvPr id="0" name=""/>
        <dsp:cNvSpPr/>
      </dsp:nvSpPr>
      <dsp:spPr>
        <a:xfrm>
          <a:off x="6371310" y="1391563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71F5C-50AD-4488-B5A3-287F39929F1A}">
      <dsp:nvSpPr>
        <dsp:cNvPr id="0" name=""/>
        <dsp:cNvSpPr/>
      </dsp:nvSpPr>
      <dsp:spPr>
        <a:xfrm>
          <a:off x="6886081" y="1390276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6886081" y="1390276"/>
        <a:ext cx="772156" cy="514770"/>
      </dsp:txXfrm>
    </dsp:sp>
    <dsp:sp modelId="{041B3700-2A5E-4B9D-A633-732B5884F379}">
      <dsp:nvSpPr>
        <dsp:cNvPr id="0" name=""/>
        <dsp:cNvSpPr/>
      </dsp:nvSpPr>
      <dsp:spPr>
        <a:xfrm>
          <a:off x="5663500" y="2068487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B5CCC-5966-43FE-8731-3C7568A67476}">
      <dsp:nvSpPr>
        <dsp:cNvPr id="0" name=""/>
        <dsp:cNvSpPr/>
      </dsp:nvSpPr>
      <dsp:spPr>
        <a:xfrm>
          <a:off x="6178271" y="2067200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6178271" y="2067200"/>
        <a:ext cx="772156" cy="514770"/>
      </dsp:txXfrm>
    </dsp:sp>
    <dsp:sp modelId="{579261AF-40EC-4B84-8F47-A1903BEF9773}">
      <dsp:nvSpPr>
        <dsp:cNvPr id="0" name=""/>
        <dsp:cNvSpPr/>
      </dsp:nvSpPr>
      <dsp:spPr>
        <a:xfrm>
          <a:off x="5663500" y="2745411"/>
          <a:ext cx="514770" cy="514770"/>
        </a:xfrm>
        <a:prstGeom prst="mathMultiply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9B185-162D-4B49-85E4-C9332583AB35}">
      <dsp:nvSpPr>
        <dsp:cNvPr id="0" name=""/>
        <dsp:cNvSpPr/>
      </dsp:nvSpPr>
      <dsp:spPr>
        <a:xfrm>
          <a:off x="6178271" y="2744124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6178271" y="2744124"/>
        <a:ext cx="772156" cy="514770"/>
      </dsp:txXfrm>
    </dsp:sp>
    <dsp:sp modelId="{5BC55C57-E100-4F40-B211-4FE6F3D36D5F}">
      <dsp:nvSpPr>
        <dsp:cNvPr id="0" name=""/>
        <dsp:cNvSpPr/>
      </dsp:nvSpPr>
      <dsp:spPr>
        <a:xfrm>
          <a:off x="7079120" y="2068487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84F20-5D55-4347-977F-FA601A52D9A5}">
      <dsp:nvSpPr>
        <dsp:cNvPr id="0" name=""/>
        <dsp:cNvSpPr/>
      </dsp:nvSpPr>
      <dsp:spPr>
        <a:xfrm>
          <a:off x="7593891" y="2067200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7593891" y="2067200"/>
        <a:ext cx="772156" cy="514770"/>
      </dsp:txXfrm>
    </dsp:sp>
    <dsp:sp modelId="{150FD50D-93D3-4127-BF4F-A2F4227B8D58}">
      <dsp:nvSpPr>
        <dsp:cNvPr id="0" name=""/>
        <dsp:cNvSpPr/>
      </dsp:nvSpPr>
      <dsp:spPr>
        <a:xfrm>
          <a:off x="7079120" y="2745411"/>
          <a:ext cx="514770" cy="5147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70EBB-6B05-4611-B763-C182968EF533}">
      <dsp:nvSpPr>
        <dsp:cNvPr id="0" name=""/>
        <dsp:cNvSpPr/>
      </dsp:nvSpPr>
      <dsp:spPr>
        <a:xfrm>
          <a:off x="7593891" y="2744124"/>
          <a:ext cx="772156" cy="51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7593891" y="2744124"/>
        <a:ext cx="772156" cy="5147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F3961-00F7-4334-BDCC-2E04945667A3}">
      <dsp:nvSpPr>
        <dsp:cNvPr id="0" name=""/>
        <dsp:cNvSpPr/>
      </dsp:nvSpPr>
      <dsp:spPr>
        <a:xfrm>
          <a:off x="38" y="660080"/>
          <a:ext cx="3685337" cy="1201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Булева: ИСТИНА, ЛОЖЬ (0,1)</a:t>
          </a:r>
          <a:endParaRPr lang="en-US" sz="3100" kern="1200" dirty="0"/>
        </a:p>
      </dsp:txBody>
      <dsp:txXfrm>
        <a:off x="38" y="660080"/>
        <a:ext cx="3685337" cy="1201634"/>
      </dsp:txXfrm>
    </dsp:sp>
    <dsp:sp modelId="{E6A01107-2C15-4DA2-BC3D-A7856F407202}">
      <dsp:nvSpPr>
        <dsp:cNvPr id="0" name=""/>
        <dsp:cNvSpPr/>
      </dsp:nvSpPr>
      <dsp:spPr>
        <a:xfrm>
          <a:off x="38" y="1861714"/>
          <a:ext cx="3685337" cy="18295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9AF0C-C7D3-4766-BE7D-CB2A556E0AE3}">
      <dsp:nvSpPr>
        <dsp:cNvPr id="0" name=""/>
        <dsp:cNvSpPr/>
      </dsp:nvSpPr>
      <dsp:spPr>
        <a:xfrm>
          <a:off x="4201323" y="660080"/>
          <a:ext cx="3685337" cy="1201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Многозначная логика:</a:t>
          </a:r>
          <a:r>
            <a:rPr lang="en-US" sz="3100" kern="1200" dirty="0"/>
            <a:t> (0,1,2,…,n)</a:t>
          </a:r>
        </a:p>
      </dsp:txBody>
      <dsp:txXfrm>
        <a:off x="4201323" y="660080"/>
        <a:ext cx="3685337" cy="1201634"/>
      </dsp:txXfrm>
    </dsp:sp>
    <dsp:sp modelId="{E2236BF2-A617-4B9F-9100-E0AB1061128B}">
      <dsp:nvSpPr>
        <dsp:cNvPr id="0" name=""/>
        <dsp:cNvSpPr/>
      </dsp:nvSpPr>
      <dsp:spPr>
        <a:xfrm>
          <a:off x="4201323" y="1861714"/>
          <a:ext cx="3685337" cy="18295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100" kern="1200" dirty="0"/>
            <a:t>Расстояние (Близко, Средне, Далеко)</a:t>
          </a:r>
          <a:endParaRPr lang="en-US" sz="3100" kern="1200" dirty="0"/>
        </a:p>
      </dsp:txBody>
      <dsp:txXfrm>
        <a:off x="4201323" y="1861714"/>
        <a:ext cx="3685337" cy="18295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D49C6-119D-45BB-84F2-DD9D3A1E6D5C}">
      <dsp:nvSpPr>
        <dsp:cNvPr id="0" name=""/>
        <dsp:cNvSpPr/>
      </dsp:nvSpPr>
      <dsp:spPr>
        <a:xfrm>
          <a:off x="0" y="39010"/>
          <a:ext cx="535339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ru-RU" sz="1100" b="1" i="1" kern="1200" dirty="0"/>
            <a:t>Нечеткое продукционное (композиционное) правило</a:t>
          </a:r>
          <a:r>
            <a:rPr lang="ru-RU" sz="1100" b="1" kern="1200" dirty="0"/>
            <a:t> </a:t>
          </a:r>
          <a:r>
            <a:rPr lang="ru-RU" sz="1100" kern="1200" dirty="0"/>
            <a:t>– это выражение вида:(i):Q;P;A═&gt;B;S,F,N,</a:t>
          </a:r>
          <a:endParaRPr lang="en-US" sz="1100" kern="1200" dirty="0"/>
        </a:p>
        <a:p>
          <a:pPr marL="0"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33926" y="72936"/>
        <a:ext cx="5285545" cy="627128"/>
      </dsp:txXfrm>
    </dsp:sp>
    <dsp:sp modelId="{2EFB5F10-1D16-42C6-B7C2-BBCF824CD4C5}">
      <dsp:nvSpPr>
        <dsp:cNvPr id="0" name=""/>
        <dsp:cNvSpPr/>
      </dsp:nvSpPr>
      <dsp:spPr>
        <a:xfrm>
          <a:off x="0" y="733990"/>
          <a:ext cx="5353397" cy="182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970" tIns="13970" rIns="78232" bIns="1397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900" kern="1200" dirty="0"/>
        </a:p>
      </dsp:txBody>
      <dsp:txXfrm>
        <a:off x="0" y="733990"/>
        <a:ext cx="5353397" cy="182160"/>
      </dsp:txXfrm>
    </dsp:sp>
    <dsp:sp modelId="{7D415286-4F8A-43AC-B0EF-FFE3C02F9866}">
      <dsp:nvSpPr>
        <dsp:cNvPr id="0" name=""/>
        <dsp:cNvSpPr/>
      </dsp:nvSpPr>
      <dsp:spPr>
        <a:xfrm>
          <a:off x="0" y="916150"/>
          <a:ext cx="535339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где (i) – имя нечеткой продукции, </a:t>
          </a:r>
          <a:endParaRPr lang="en-US" sz="1100" kern="1200"/>
        </a:p>
      </dsp:txBody>
      <dsp:txXfrm>
        <a:off x="33926" y="950076"/>
        <a:ext cx="5285545" cy="627128"/>
      </dsp:txXfrm>
    </dsp:sp>
    <dsp:sp modelId="{F9ABD22C-38D2-492C-A05A-004FB6825343}">
      <dsp:nvSpPr>
        <dsp:cNvPr id="0" name=""/>
        <dsp:cNvSpPr/>
      </dsp:nvSpPr>
      <dsp:spPr>
        <a:xfrm>
          <a:off x="0" y="1642810"/>
          <a:ext cx="535339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Q – сфера применения нечеткой продукции, </a:t>
          </a:r>
          <a:endParaRPr lang="en-US" sz="1100" kern="1200"/>
        </a:p>
      </dsp:txBody>
      <dsp:txXfrm>
        <a:off x="33926" y="1676736"/>
        <a:ext cx="5285545" cy="627128"/>
      </dsp:txXfrm>
    </dsp:sp>
    <dsp:sp modelId="{DA8A8E01-8336-4753-919C-DC353F70C3A7}">
      <dsp:nvSpPr>
        <dsp:cNvPr id="0" name=""/>
        <dsp:cNvSpPr/>
      </dsp:nvSpPr>
      <dsp:spPr>
        <a:xfrm>
          <a:off x="0" y="2369470"/>
          <a:ext cx="535339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P – условие применимости ядра нечеткой продукции, </a:t>
          </a:r>
          <a:endParaRPr lang="en-US" sz="1100" kern="1200"/>
        </a:p>
      </dsp:txBody>
      <dsp:txXfrm>
        <a:off x="33926" y="2403396"/>
        <a:ext cx="5285545" cy="627128"/>
      </dsp:txXfrm>
    </dsp:sp>
    <dsp:sp modelId="{FBD9DAC0-4725-41DF-A57F-FA03A3798442}">
      <dsp:nvSpPr>
        <dsp:cNvPr id="0" name=""/>
        <dsp:cNvSpPr/>
      </dsp:nvSpPr>
      <dsp:spPr>
        <a:xfrm>
          <a:off x="0" y="3096130"/>
          <a:ext cx="535339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A═&gt;B – ядро нечеткой продукции, в котором A – условие ядра (или антецедент), B – заключение ядра (или консеквент), ═&gt; – знак логической секвенции или следования, </a:t>
          </a:r>
          <a:endParaRPr lang="en-US" sz="1100" kern="1200"/>
        </a:p>
      </dsp:txBody>
      <dsp:txXfrm>
        <a:off x="33926" y="3130056"/>
        <a:ext cx="5285545" cy="627128"/>
      </dsp:txXfrm>
    </dsp:sp>
    <dsp:sp modelId="{A5BE18D9-70A3-4626-91C5-A4B01018E350}">
      <dsp:nvSpPr>
        <dsp:cNvPr id="0" name=""/>
        <dsp:cNvSpPr/>
      </dsp:nvSpPr>
      <dsp:spPr>
        <a:xfrm>
          <a:off x="0" y="3822790"/>
          <a:ext cx="535339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S – метод или способ определения количественного значения степени истинности заключения ядра, </a:t>
          </a:r>
          <a:endParaRPr lang="en-US" sz="1100" kern="1200"/>
        </a:p>
      </dsp:txBody>
      <dsp:txXfrm>
        <a:off x="33926" y="3856716"/>
        <a:ext cx="5285545" cy="627128"/>
      </dsp:txXfrm>
    </dsp:sp>
    <dsp:sp modelId="{5911039F-91D1-452F-B735-B25EE796D7A8}">
      <dsp:nvSpPr>
        <dsp:cNvPr id="0" name=""/>
        <dsp:cNvSpPr/>
      </dsp:nvSpPr>
      <dsp:spPr>
        <a:xfrm>
          <a:off x="0" y="4549450"/>
          <a:ext cx="535339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F – коэффициент определенности или уверенности нечеткой продукции, </a:t>
          </a:r>
          <a:endParaRPr lang="en-US" sz="1100" kern="1200"/>
        </a:p>
      </dsp:txBody>
      <dsp:txXfrm>
        <a:off x="33926" y="4583376"/>
        <a:ext cx="5285545" cy="627128"/>
      </dsp:txXfrm>
    </dsp:sp>
    <dsp:sp modelId="{70770455-7EF6-44BA-ADB3-420849D11BD5}">
      <dsp:nvSpPr>
        <dsp:cNvPr id="0" name=""/>
        <dsp:cNvSpPr/>
      </dsp:nvSpPr>
      <dsp:spPr>
        <a:xfrm>
          <a:off x="0" y="5276110"/>
          <a:ext cx="535339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N – постусловия продукции (не обязательны)</a:t>
          </a:r>
          <a:endParaRPr lang="en-US" sz="1100" kern="1200"/>
        </a:p>
      </dsp:txBody>
      <dsp:txXfrm>
        <a:off x="33926" y="5310036"/>
        <a:ext cx="5285545" cy="6271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4169C-9DE5-4B66-B172-A83CBE44F9E5}">
      <dsp:nvSpPr>
        <dsp:cNvPr id="0" name=""/>
        <dsp:cNvSpPr/>
      </dsp:nvSpPr>
      <dsp:spPr>
        <a:xfrm>
          <a:off x="0" y="2948"/>
          <a:ext cx="8928242" cy="15083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B4B84-B691-445A-84A7-085E86CE5D5A}">
      <dsp:nvSpPr>
        <dsp:cNvPr id="0" name=""/>
        <dsp:cNvSpPr/>
      </dsp:nvSpPr>
      <dsp:spPr>
        <a:xfrm>
          <a:off x="456273" y="342325"/>
          <a:ext cx="830399" cy="829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57A49-C4A1-45FB-A3CF-78DEA447D371}">
      <dsp:nvSpPr>
        <dsp:cNvPr id="0" name=""/>
        <dsp:cNvSpPr/>
      </dsp:nvSpPr>
      <dsp:spPr>
        <a:xfrm>
          <a:off x="1742945" y="2948"/>
          <a:ext cx="6953935" cy="1509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89" tIns="159789" rIns="159789" bIns="1597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i="1" kern="1200" dirty="0" err="1"/>
            <a:t>Фаззификация</a:t>
          </a:r>
          <a:r>
            <a:rPr lang="ru-RU" sz="1400" b="1" kern="1200" dirty="0"/>
            <a:t> (введение нечеткости)</a:t>
          </a:r>
          <a:r>
            <a:rPr lang="ru-RU" sz="1400" kern="1200" dirty="0"/>
            <a:t> – это установка соответствия между численным значением входной переменной системы нечеткого вывода и значением функции принадлежности соответствующего ей терма лингвистической переменной. </a:t>
          </a:r>
          <a:endParaRPr lang="en-US" sz="1400" kern="1200" dirty="0"/>
        </a:p>
      </dsp:txBody>
      <dsp:txXfrm>
        <a:off x="1742945" y="2948"/>
        <a:ext cx="6953935" cy="1509816"/>
      </dsp:txXfrm>
    </dsp:sp>
    <dsp:sp modelId="{FEC2C211-6BAD-4042-BA5F-72D655D58EF5}">
      <dsp:nvSpPr>
        <dsp:cNvPr id="0" name=""/>
        <dsp:cNvSpPr/>
      </dsp:nvSpPr>
      <dsp:spPr>
        <a:xfrm>
          <a:off x="0" y="1814727"/>
          <a:ext cx="8928242" cy="15083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E83D2-8B11-4B16-9810-E1D28D2561FF}">
      <dsp:nvSpPr>
        <dsp:cNvPr id="0" name=""/>
        <dsp:cNvSpPr/>
      </dsp:nvSpPr>
      <dsp:spPr>
        <a:xfrm>
          <a:off x="456273" y="2154104"/>
          <a:ext cx="830399" cy="829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2E25A-91E7-4DD8-AFC0-C0BE358D38B8}">
      <dsp:nvSpPr>
        <dsp:cNvPr id="0" name=""/>
        <dsp:cNvSpPr/>
      </dsp:nvSpPr>
      <dsp:spPr>
        <a:xfrm>
          <a:off x="1742945" y="1814727"/>
          <a:ext cx="6953935" cy="1509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89" tIns="159789" rIns="159789" bIns="1597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На этапе </a:t>
          </a:r>
          <a:r>
            <a:rPr lang="ru-RU" sz="1400" kern="1200" dirty="0" err="1"/>
            <a:t>фаззификации</a:t>
          </a:r>
          <a:r>
            <a:rPr lang="ru-RU" sz="1400" kern="1200" dirty="0"/>
            <a:t> значениям всех входным переменным системы нечеткого вывода, полученным внешним по отношению к системе нечеткого вывода способом, например, при помощи датчиков, ставятся в соответствие конкретные значения функций принадлежности соответствующих лингвистических термов, которые используются в условиях (антецедентах) ядер нечетких продукционных правил, составляющих базу нечетких продукционных правил системы нечеткого вывода. </a:t>
          </a:r>
          <a:endParaRPr lang="en-US" sz="1400" kern="1200" dirty="0"/>
        </a:p>
      </dsp:txBody>
      <dsp:txXfrm>
        <a:off x="1742945" y="1814727"/>
        <a:ext cx="6953935" cy="1509816"/>
      </dsp:txXfrm>
    </dsp:sp>
    <dsp:sp modelId="{44AAD253-1EE0-4E7F-A459-7066A34DE65E}">
      <dsp:nvSpPr>
        <dsp:cNvPr id="0" name=""/>
        <dsp:cNvSpPr/>
      </dsp:nvSpPr>
      <dsp:spPr>
        <a:xfrm>
          <a:off x="0" y="3630930"/>
          <a:ext cx="8928242" cy="15083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08676-56EA-4FDD-97C4-18F23C21E4C4}">
      <dsp:nvSpPr>
        <dsp:cNvPr id="0" name=""/>
        <dsp:cNvSpPr/>
      </dsp:nvSpPr>
      <dsp:spPr>
        <a:xfrm>
          <a:off x="456273" y="3965884"/>
          <a:ext cx="830399" cy="8295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F491D-4921-4931-B296-D102A76DA2A3}">
      <dsp:nvSpPr>
        <dsp:cNvPr id="0" name=""/>
        <dsp:cNvSpPr/>
      </dsp:nvSpPr>
      <dsp:spPr>
        <a:xfrm>
          <a:off x="1742945" y="3626507"/>
          <a:ext cx="6953935" cy="1509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789" tIns="159789" rIns="159789" bIns="15978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 err="1"/>
            <a:t>Фаззификация</a:t>
          </a:r>
          <a:r>
            <a:rPr lang="ru-RU" sz="1400" kern="1200" dirty="0"/>
            <a:t> считается выполненной, если найдены степени истинности μ A (x) всех элементов, входящих в антецеденты нечетких продукционных правил, где ά – некоторый терм с известной функцией принадлежности μ </a:t>
          </a:r>
          <a:r>
            <a:rPr lang="ru-RU" sz="1400" kern="1200" dirty="0" err="1"/>
            <a:t>арных</a:t>
          </a:r>
          <a:r>
            <a:rPr lang="ru-RU" sz="1400" kern="1200" dirty="0"/>
            <a:t> логических высказываний вида « β ЕСТЬ ά », A (x) , a – четкое численное значение, принадлежащее универсуму лингвистической переменной β .</a:t>
          </a:r>
          <a:endParaRPr lang="en-US" sz="1400" kern="1200" dirty="0"/>
        </a:p>
      </dsp:txBody>
      <dsp:txXfrm>
        <a:off x="1742945" y="3626507"/>
        <a:ext cx="6953935" cy="1509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94F16-DA27-410A-972E-ECD921049331}">
      <dsp:nvSpPr>
        <dsp:cNvPr id="0" name=""/>
        <dsp:cNvSpPr/>
      </dsp:nvSpPr>
      <dsp:spPr>
        <a:xfrm>
          <a:off x="0" y="604387"/>
          <a:ext cx="7886700" cy="11157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6DA6C-E67C-427D-9569-173981F07839}">
      <dsp:nvSpPr>
        <dsp:cNvPr id="0" name=""/>
        <dsp:cNvSpPr/>
      </dsp:nvSpPr>
      <dsp:spPr>
        <a:xfrm>
          <a:off x="337527" y="855440"/>
          <a:ext cx="613685" cy="6136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278AF-AD23-4761-ACE5-C99AC53115EF}">
      <dsp:nvSpPr>
        <dsp:cNvPr id="0" name=""/>
        <dsp:cNvSpPr/>
      </dsp:nvSpPr>
      <dsp:spPr>
        <a:xfrm>
          <a:off x="1288739" y="604387"/>
          <a:ext cx="6597960" cy="1115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088" tIns="118088" rIns="118088" bIns="11808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Активизация</a:t>
          </a:r>
          <a:r>
            <a:rPr lang="ru-RU" sz="1400" kern="1200" dirty="0"/>
            <a:t> в системах нечеткого вывода – это процедура или процесс нахождения степени истинности каждого из элементарных логических высказываний (</a:t>
          </a:r>
          <a:r>
            <a:rPr lang="ru-RU" sz="1400" kern="1200" dirty="0" err="1"/>
            <a:t>подзаключений</a:t>
          </a:r>
          <a:r>
            <a:rPr lang="ru-RU" sz="1400" kern="1200" dirty="0"/>
            <a:t>), составляющих </a:t>
          </a:r>
          <a:r>
            <a:rPr lang="ru-RU" sz="1400" kern="1200" dirty="0" err="1"/>
            <a:t>консеквенты</a:t>
          </a:r>
          <a:r>
            <a:rPr lang="ru-RU" sz="1400" kern="1200" dirty="0"/>
            <a:t> ядер всех нечетких продукционных правил. </a:t>
          </a:r>
          <a:endParaRPr lang="en-US" sz="1400" kern="1200" dirty="0"/>
        </a:p>
      </dsp:txBody>
      <dsp:txXfrm>
        <a:off x="1288739" y="604387"/>
        <a:ext cx="6597960" cy="1115791"/>
      </dsp:txXfrm>
    </dsp:sp>
    <dsp:sp modelId="{18677C8A-9417-4075-A613-87146AAA4D40}">
      <dsp:nvSpPr>
        <dsp:cNvPr id="0" name=""/>
        <dsp:cNvSpPr/>
      </dsp:nvSpPr>
      <dsp:spPr>
        <a:xfrm>
          <a:off x="0" y="1999126"/>
          <a:ext cx="7886700" cy="11157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F02D3-E7F5-4729-BC33-D14B2C12E7A8}">
      <dsp:nvSpPr>
        <dsp:cNvPr id="0" name=""/>
        <dsp:cNvSpPr/>
      </dsp:nvSpPr>
      <dsp:spPr>
        <a:xfrm>
          <a:off x="337527" y="2250180"/>
          <a:ext cx="613685" cy="6136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E5BC2-2832-4614-A1D0-BA6E4F098FC3}">
      <dsp:nvSpPr>
        <dsp:cNvPr id="0" name=""/>
        <dsp:cNvSpPr/>
      </dsp:nvSpPr>
      <dsp:spPr>
        <a:xfrm>
          <a:off x="1288739" y="1999126"/>
          <a:ext cx="6597960" cy="1115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088" tIns="118088" rIns="118088" bIns="11808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Поскольку заключения делаются относительно выходных лингвистических переменных, то степеням истинности элементарных </a:t>
          </a:r>
          <a:r>
            <a:rPr lang="ru-RU" sz="1400" kern="1200" dirty="0" err="1"/>
            <a:t>подзаключений</a:t>
          </a:r>
          <a:r>
            <a:rPr lang="ru-RU" sz="1400" kern="1200" dirty="0"/>
            <a:t> при активизации ставятся в соответствие элементарные функции принадлежности</a:t>
          </a:r>
          <a:endParaRPr lang="en-US" sz="1400" kern="1200" dirty="0"/>
        </a:p>
      </dsp:txBody>
      <dsp:txXfrm>
        <a:off x="1288739" y="1999126"/>
        <a:ext cx="6597960" cy="11157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06B67-770D-4418-9BC0-218FEB2DDE11}">
      <dsp:nvSpPr>
        <dsp:cNvPr id="0" name=""/>
        <dsp:cNvSpPr/>
      </dsp:nvSpPr>
      <dsp:spPr>
        <a:xfrm>
          <a:off x="0" y="2225"/>
          <a:ext cx="6074227" cy="11281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6D5EF-32EC-4DBE-AB62-25CC233246FD}">
      <dsp:nvSpPr>
        <dsp:cNvPr id="0" name=""/>
        <dsp:cNvSpPr/>
      </dsp:nvSpPr>
      <dsp:spPr>
        <a:xfrm>
          <a:off x="341256" y="256053"/>
          <a:ext cx="620466" cy="6204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8E786-A538-41BC-9AA3-E5204405BFA9}">
      <dsp:nvSpPr>
        <dsp:cNvPr id="0" name=""/>
        <dsp:cNvSpPr/>
      </dsp:nvSpPr>
      <dsp:spPr>
        <a:xfrm>
          <a:off x="1302980" y="2225"/>
          <a:ext cx="4771247" cy="1128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93" tIns="119393" rIns="119393" bIns="1193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В1) =</a:t>
          </a:r>
          <a:r>
            <a:rPr lang="el-GR" sz="2200" kern="1200" dirty="0"/>
            <a:t> </a:t>
          </a:r>
          <a:r>
            <a:rPr lang="en-US" sz="2200" kern="1200" dirty="0"/>
            <a:t>min(</a:t>
          </a: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Рост)</a:t>
          </a:r>
          <a:r>
            <a:rPr lang="en-US" sz="2200" kern="1200" dirty="0"/>
            <a:t>)</a:t>
          </a:r>
          <a:r>
            <a:rPr lang="ru-RU" sz="2200" kern="1200" dirty="0"/>
            <a:t> ∩</a:t>
          </a:r>
          <a:r>
            <a:rPr lang="el-GR" sz="2200" kern="1200" dirty="0"/>
            <a:t> </a:t>
          </a:r>
          <a:r>
            <a:rPr lang="en-US" sz="2200" kern="1200" dirty="0"/>
            <a:t>min(</a:t>
          </a: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Техника)</a:t>
          </a:r>
          <a:r>
            <a:rPr lang="en-US" sz="2200" kern="1200" dirty="0"/>
            <a:t>)</a:t>
          </a:r>
          <a:r>
            <a:rPr lang="ru-RU" sz="2200" kern="1200" dirty="0"/>
            <a:t> ∩</a:t>
          </a:r>
          <a:r>
            <a:rPr lang="el-GR" sz="2200" kern="1200" dirty="0"/>
            <a:t> </a:t>
          </a:r>
          <a:r>
            <a:rPr lang="en-US" sz="2200" kern="1200" dirty="0"/>
            <a:t>min(</a:t>
          </a: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Рез)</a:t>
          </a:r>
          <a:r>
            <a:rPr lang="en-US" sz="2200" kern="1200" dirty="0"/>
            <a:t>)</a:t>
          </a:r>
        </a:p>
      </dsp:txBody>
      <dsp:txXfrm>
        <a:off x="1302980" y="2225"/>
        <a:ext cx="4771247" cy="1128121"/>
      </dsp:txXfrm>
    </dsp:sp>
    <dsp:sp modelId="{54A743A0-A54C-4765-9D4B-9A0C9AA1364E}">
      <dsp:nvSpPr>
        <dsp:cNvPr id="0" name=""/>
        <dsp:cNvSpPr/>
      </dsp:nvSpPr>
      <dsp:spPr>
        <a:xfrm>
          <a:off x="0" y="1412378"/>
          <a:ext cx="6074227" cy="11281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3A5455-54FF-4DC7-8CD6-3A720322CEC6}">
      <dsp:nvSpPr>
        <dsp:cNvPr id="0" name=""/>
        <dsp:cNvSpPr/>
      </dsp:nvSpPr>
      <dsp:spPr>
        <a:xfrm>
          <a:off x="341256" y="1666205"/>
          <a:ext cx="620466" cy="6204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91240-39C6-43BD-ADD8-BCFC22AE4C44}">
      <dsp:nvSpPr>
        <dsp:cNvPr id="0" name=""/>
        <dsp:cNvSpPr/>
      </dsp:nvSpPr>
      <dsp:spPr>
        <a:xfrm>
          <a:off x="1302980" y="1412378"/>
          <a:ext cx="4771247" cy="1128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93" tIns="119393" rIns="119393" bIns="1193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200" kern="1200" dirty="0"/>
            <a:t>μ</a:t>
          </a:r>
          <a:r>
            <a:rPr lang="en-US" sz="2200" kern="1200" dirty="0"/>
            <a:t>(</a:t>
          </a:r>
          <a:r>
            <a:rPr lang="ru-RU" sz="2200" kern="1200" dirty="0"/>
            <a:t>В</a:t>
          </a:r>
          <a:r>
            <a:rPr lang="en-US" sz="2200" kern="1200" dirty="0"/>
            <a:t>2</a:t>
          </a:r>
          <a:r>
            <a:rPr lang="ru-RU" sz="2200" kern="1200" dirty="0"/>
            <a:t>) =</a:t>
          </a:r>
          <a:r>
            <a:rPr lang="el-GR" sz="2200" kern="1200" dirty="0"/>
            <a:t> μ</a:t>
          </a:r>
          <a:r>
            <a:rPr lang="en-US" sz="2200" kern="1200" dirty="0"/>
            <a:t>(</a:t>
          </a:r>
          <a:r>
            <a:rPr lang="ru-RU" sz="2200" kern="1200" dirty="0"/>
            <a:t>Рост) </a:t>
          </a:r>
          <a:r>
            <a:rPr lang="en-US" sz="2200" kern="1200" dirty="0"/>
            <a:t>U</a:t>
          </a:r>
          <a:r>
            <a:rPr lang="el-GR" sz="2200" kern="1200" dirty="0"/>
            <a:t> μ</a:t>
          </a:r>
          <a:r>
            <a:rPr lang="en-US" sz="2200" kern="1200" dirty="0"/>
            <a:t>(</a:t>
          </a:r>
          <a:r>
            <a:rPr lang="ru-RU" sz="2200" kern="1200" dirty="0"/>
            <a:t>Техника)</a:t>
          </a:r>
          <a:r>
            <a:rPr lang="en-US" sz="2200" kern="1200" dirty="0"/>
            <a:t> U</a:t>
          </a:r>
          <a:r>
            <a:rPr lang="el-GR" sz="2200" kern="1200" dirty="0"/>
            <a:t> μ</a:t>
          </a:r>
          <a:r>
            <a:rPr lang="en-US" sz="2200" kern="1200" dirty="0"/>
            <a:t>(</a:t>
          </a:r>
          <a:r>
            <a:rPr lang="ru-RU" sz="2200" kern="1200" dirty="0"/>
            <a:t>Рез)</a:t>
          </a:r>
          <a:endParaRPr lang="en-US" sz="2200" kern="1200" dirty="0"/>
        </a:p>
      </dsp:txBody>
      <dsp:txXfrm>
        <a:off x="1302980" y="1412378"/>
        <a:ext cx="4771247" cy="1128121"/>
      </dsp:txXfrm>
    </dsp:sp>
    <dsp:sp modelId="{4A9B6A9F-5945-410E-B7B6-A1FFC6C5A43E}">
      <dsp:nvSpPr>
        <dsp:cNvPr id="0" name=""/>
        <dsp:cNvSpPr/>
      </dsp:nvSpPr>
      <dsp:spPr>
        <a:xfrm>
          <a:off x="0" y="2822530"/>
          <a:ext cx="6074227" cy="11281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EEC55-06BB-402E-8236-349375A2F5AF}">
      <dsp:nvSpPr>
        <dsp:cNvPr id="0" name=""/>
        <dsp:cNvSpPr/>
      </dsp:nvSpPr>
      <dsp:spPr>
        <a:xfrm>
          <a:off x="341256" y="3076357"/>
          <a:ext cx="620466" cy="6204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C82CB-BC92-404B-B66B-02577396056B}">
      <dsp:nvSpPr>
        <dsp:cNvPr id="0" name=""/>
        <dsp:cNvSpPr/>
      </dsp:nvSpPr>
      <dsp:spPr>
        <a:xfrm>
          <a:off x="1302980" y="2822530"/>
          <a:ext cx="4771247" cy="1128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93" tIns="119393" rIns="119393" bIns="1193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200" kern="1200"/>
            <a:t>μ</a:t>
          </a:r>
          <a:r>
            <a:rPr lang="en-US" sz="2200" kern="1200"/>
            <a:t>(</a:t>
          </a:r>
          <a:r>
            <a:rPr lang="ru-RU" sz="2200" kern="1200"/>
            <a:t>В</a:t>
          </a:r>
          <a:r>
            <a:rPr lang="en-US" sz="2200" kern="1200"/>
            <a:t>3</a:t>
          </a:r>
          <a:r>
            <a:rPr lang="ru-RU" sz="2200" kern="1200"/>
            <a:t>) =</a:t>
          </a:r>
          <a:r>
            <a:rPr lang="el-GR" sz="2200" kern="1200"/>
            <a:t> μ</a:t>
          </a:r>
          <a:r>
            <a:rPr lang="en-US" sz="2200" kern="1200"/>
            <a:t>(</a:t>
          </a:r>
          <a:r>
            <a:rPr lang="ru-RU" sz="2200" kern="1200"/>
            <a:t>Рост) ∩</a:t>
          </a:r>
          <a:r>
            <a:rPr lang="el-GR" sz="2200" kern="1200"/>
            <a:t> μ</a:t>
          </a:r>
          <a:r>
            <a:rPr lang="en-US" sz="2200" kern="1200"/>
            <a:t>(</a:t>
          </a:r>
          <a:r>
            <a:rPr lang="ru-RU" sz="2200" kern="1200"/>
            <a:t>Техника)</a:t>
          </a:r>
          <a:r>
            <a:rPr lang="en-US" sz="2200" kern="1200"/>
            <a:t> U</a:t>
          </a:r>
          <a:r>
            <a:rPr lang="el-GR" sz="2200" kern="1200"/>
            <a:t> μ</a:t>
          </a:r>
          <a:r>
            <a:rPr lang="en-US" sz="2200" kern="1200"/>
            <a:t>(</a:t>
          </a:r>
          <a:r>
            <a:rPr lang="ru-RU" sz="2200" kern="1200"/>
            <a:t>Рез)</a:t>
          </a:r>
          <a:endParaRPr lang="en-US" sz="2200" kern="1200"/>
        </a:p>
      </dsp:txBody>
      <dsp:txXfrm>
        <a:off x="1302980" y="2822530"/>
        <a:ext cx="4771247" cy="1128121"/>
      </dsp:txXfrm>
    </dsp:sp>
    <dsp:sp modelId="{97C757D9-C95A-4F90-B448-99112307DF91}">
      <dsp:nvSpPr>
        <dsp:cNvPr id="0" name=""/>
        <dsp:cNvSpPr/>
      </dsp:nvSpPr>
      <dsp:spPr>
        <a:xfrm>
          <a:off x="0" y="4232682"/>
          <a:ext cx="6074227" cy="11281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0EC10-AB44-4954-BEA0-A386F8515DE2}">
      <dsp:nvSpPr>
        <dsp:cNvPr id="0" name=""/>
        <dsp:cNvSpPr/>
      </dsp:nvSpPr>
      <dsp:spPr>
        <a:xfrm>
          <a:off x="341256" y="4486509"/>
          <a:ext cx="620466" cy="6204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4C369-1697-4957-9039-8A7C218CE95F}">
      <dsp:nvSpPr>
        <dsp:cNvPr id="0" name=""/>
        <dsp:cNvSpPr/>
      </dsp:nvSpPr>
      <dsp:spPr>
        <a:xfrm>
          <a:off x="1302980" y="4232682"/>
          <a:ext cx="4771247" cy="1128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93" tIns="119393" rIns="119393" bIns="11939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200" kern="1200"/>
            <a:t>μ</a:t>
          </a:r>
          <a:r>
            <a:rPr lang="en-US" sz="2200" kern="1200"/>
            <a:t>(</a:t>
          </a:r>
          <a:r>
            <a:rPr lang="ru-RU" sz="2200" kern="1200"/>
            <a:t>В</a:t>
          </a:r>
          <a:r>
            <a:rPr lang="en-US" sz="2200" kern="1200"/>
            <a:t>4</a:t>
          </a:r>
          <a:r>
            <a:rPr lang="ru-RU" sz="2200" kern="1200"/>
            <a:t>) =</a:t>
          </a:r>
          <a:r>
            <a:rPr lang="el-GR" sz="2200" kern="1200"/>
            <a:t> μ</a:t>
          </a:r>
          <a:r>
            <a:rPr lang="en-US" sz="2200" kern="1200"/>
            <a:t>(</a:t>
          </a:r>
          <a:r>
            <a:rPr lang="ru-RU" sz="2200" kern="1200"/>
            <a:t>Рост)</a:t>
          </a:r>
          <a:r>
            <a:rPr lang="en-US" sz="2200" kern="1200"/>
            <a:t> U</a:t>
          </a:r>
          <a:r>
            <a:rPr lang="el-GR" sz="2200" kern="1200"/>
            <a:t> μ</a:t>
          </a:r>
          <a:r>
            <a:rPr lang="en-US" sz="2200" kern="1200"/>
            <a:t>(</a:t>
          </a:r>
          <a:r>
            <a:rPr lang="ru-RU" sz="2200" kern="1200"/>
            <a:t>Техника) ∩</a:t>
          </a:r>
          <a:r>
            <a:rPr lang="el-GR" sz="2200" kern="1200"/>
            <a:t> μ</a:t>
          </a:r>
          <a:r>
            <a:rPr lang="en-US" sz="2200" kern="1200"/>
            <a:t>(</a:t>
          </a:r>
          <a:r>
            <a:rPr lang="ru-RU" sz="2200" kern="1200"/>
            <a:t>Рез)</a:t>
          </a:r>
          <a:endParaRPr lang="en-US" sz="2200" kern="1200"/>
        </a:p>
      </dsp:txBody>
      <dsp:txXfrm>
        <a:off x="1302980" y="4232682"/>
        <a:ext cx="4771247" cy="1128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C6F35-8843-4F4D-ADB7-A6E3E46B4215}" type="datetimeFigureOut">
              <a:rPr lang="ru-RU" smtClean="0"/>
              <a:t>10.12.2021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E4C15-83E2-4053-8D48-0BAD6CEC89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15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ciology_encyclopedy.academic.ru/47/%D0%90%D0%9D%D0%90%D0%9B%D0%98%D0%97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atareview.info/article/analiz-sotsialnyih-setey-instrumentyi-vizualizatsii-grafa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atareview.info/article/analiz-sotsialnyih-setey-instrumentyi-vizualizatsii-grafa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atareview.info/article/analiz-sotsialnyih-setey-instrumentyi-vizualizatsii-grafa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algolist.ru/maths/graphs/linked.php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post/119158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ru.stackoverflow.com/questions/739470/%D0%A0%D0%B5%D1%88%D0%B5%D0%BD%D0%B8%D0%B5-%D0%B7%D0%B0%D0%B4%D0%B0%D1%87%D0%B8-%D0%BE-%D1%80%D1%8E%D0%BA%D0%B7%D0%B0%D0%BA%D0%B5-%D0%BC%D0%B5%D1%82%D0%BE%D0%B4%D0%BE%D0%BC-%D0%B2%D0%B5%D1%82%D0%B2%D0%B5%D0%B9-%D0%B8-%D0%B3%D1%80%D0%B0%D0%BD%D0%B8%D1%86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synset.com/ai/ru/tsp/Salesman_Intro.html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F%D0%BB%D0%B0%D0%BD%D0%B0%D1%80%D0%BD%D1%8B%D0%B9_%D0%B3%D1%80%D0%B0%D1%84" TargetMode="External"/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gpedia.ru/id648798p1.html" TargetMode="External"/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ingostat.com/ru/koroche-chto-takoe-customer-journey-za-4-minuty/" TargetMode="External"/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issatayev/customer-journey-map-%D1%87%D1%82%D0%BE-%D1%8D%D1%82%D0%BE-%D0%B8-%D0%BA%D0%BE%D0%B3%D0%B4%D0%B0-%D0%B8%D1%81%D0%BF%D0%BE%D0%BB%D1%8C%D0%B7%D0%BE%D0%B2%D0%B0%D1%82%D1%8C-9b3b9a00f7b6" TargetMode="External"/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issatayev/customer-journey-map-%D1%87%D1%82%D0%BE-%D1%8D%D1%82%D0%BE-%D0%B8-%D0%BA%D0%BE%D0%B3%D0%B4%D0%B0-%D0%B8%D1%81%D0%BF%D0%BE%D0%BB%D1%8C%D0%B7%D0%BE%D0%B2%D0%B0%D1%82%D1%8C-9b3b9a00f7b6" TargetMode="External"/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neerc.ifmo.ru/wiki/index.php?title=%D0%A4%D0%B0%D0%B9%D0%BB:Prime_cyclic_chain.png" TargetMode="External"/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neerc.ifmo.ru/wiki/index.php?title=%D0%9C%D0%B0%D1%80%D0%BA%D0%BE%D0%B2%D1%81%D0%BA%D0%B0%D1%8F_%D1%86%D0%B5%D0%BF%D1%8C" TargetMode="External"/></Relationships>
</file>

<file path=ppt/notesSlides/_rels/notes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dit.isuct.ru/IVT/BOOKS/IS/Model/gl43.htm" TargetMode="External"/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me.org/133130/informatika/osnovy_nechetkoy_logiki_sistemy_nechetkogo_vyvoda" TargetMode="External"/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2-nechetkie-mnozhestva.html" TargetMode="External"/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2-nechetkie-mnozhestva.html" TargetMode="External"/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D%D0%B5%D1%87%D1%91%D1%82%D0%BA%D0%BE%D0%B5_%D0%BC%D0%BD%D0%BE%D0%B6%D0%B5%D1%81%D1%82%D0%B2%D0%BE" TargetMode="External"/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D%D0%B5%D1%87%D1%91%D1%82%D0%BA%D0%BE%D0%B5_%D0%BC%D0%BD%D0%BE%D0%B6%D0%B5%D1%81%D1%82%D0%B2%D0%BE" TargetMode="External"/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moiseevs.ru/tasks/Fuzzy_Sets_lec.pdf" TargetMode="External"/></Relationships>
</file>

<file path=ppt/notesSlides/_rels/notes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D%D0%B5%D1%87%D1%91%D1%82%D0%BA%D0%BE%D0%B5_%D0%BC%D0%BD%D0%BE%D0%B6%D0%B5%D1%81%D1%82%D0%B2%D0%BE" TargetMode="External"/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nus.com/theory/fl/310-chast-3-nechetkaya-i-lingvisticheskaya-peremennye.html" TargetMode="External"/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nrsu.bstu.ru/chap27.html" TargetMode="External"/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098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891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5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636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571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428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77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634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4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Дополнительно: </a:t>
            </a:r>
            <a:r>
              <a:rPr lang="en-US" dirty="0">
                <a:hlinkClick r:id="rId3"/>
              </a:rPr>
              <a:t>https://sociology_encyclopedy.academic.ru/47/%D0%90%D0%9D%D0%90%D0%9B%D0%98%D0%97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855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413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http://datareview.info/article/analiz-sotsialnyih-setey-instrumentyi-vizualizatsii-grafa/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456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965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http://datareview.info/article/analiz-sotsialnyih-setey-instrumentyi-vizualizatsii-grafa/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468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http://datareview.info/article/analiz-sotsialnyih-setey-instrumentyi-vizualizatsii-grafa/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3640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http://algolist.ru/maths/graphs/linked.php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110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685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https://habr.com/ru/post/119158/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24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https://habr.com/ru/post/111361/</a:t>
            </a:r>
            <a:r>
              <a:rPr lang="ru-RU" dirty="0"/>
              <a:t> - с примерами кода для каждого алгоритма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879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214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695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9498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8434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1067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4447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8576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1943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stackoverflow.com/questions/739470/%D0%A0%D0%B5%D1%88%D0%B5%D0%BD%D0%B8%D0%B5-%D0%B7%D0%B0%D0%B4%D0%B0%D1%87%D0%B8-%D0%BE-%D1%80%D1%8E%D0%BA%D0%B7%D0%B0%D0%BA%D0%B5-%D0%BC%D0%B5%D1%82%D0%BE%D0%B4%D0%BE%D0%BC-%D0%B2%D0%B5%D1%82%D0%B2%D0%B5%D0%B9-%D0%B8-%D0%B3%D1%80%D0%B0%D0%BD%D0%B8%D1%86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7299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http://synset.com/ai/ru/tsp/Salesman_Intro.html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0632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7654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921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3053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7197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0856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8973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https://ru.wikipedia.org/wiki/%D0%9F%D0%BB%D0%B0%D0%BD%D0%B0%D1%80%D0%BD%D1%8B%D0%B9_%D0%B3%D1%80%D0%B0%D1%84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4666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2346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605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9547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https://www.ngpedia.ru/id648798p1.html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6290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en-US" dirty="0">
                <a:hlinkClick r:id="rId3"/>
              </a:rPr>
              <a:t>https://blog.ringostat.com/ru/koroche-chto-takoe-customer-journey-za-4-minuty/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0464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https://medium.com/@aissatayev/customer-journey-map-%D1%87%D1%82%D0%BE-%D1%8D%D1%82%D0%BE-%D0%B8-%D0%BA%D0%BE%D0%B3%D0%B4%D0%B0-%D0%B8%D1%81%D0%BF%D0%BE%D0%BB%D1%8C%D0%B7%D0%BE%D0%B2%D0%B0%D1%82%D1%8C-9b3b9a00f7b6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0552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https://medium.com/@aissatayev/customer-journey-map-%D1%87%D1%82%D0%BE-%D1%8D%D1%82%D0%BE-%D0%B8-%D0%BA%D0%BE%D0%B3%D0%B4%D0%B0-%D0%B8%D1%81%D0%BF%D0%BE%D0%BB%D1%8C%D0%B7%D0%BE%D0%B2%D0%B0%D1%82%D1%8C-9b3b9a00f7b6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869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https://neerc.ifmo.ru/wiki/index.php?title=%D0%A4%D0%B0%D0%B9%D0%BB:Prime_cyclic_chain.png</a:t>
            </a:r>
            <a:endParaRPr lang="ru-RU" dirty="0"/>
          </a:p>
          <a:p>
            <a:r>
              <a:rPr lang="en-US" dirty="0">
                <a:hlinkClick r:id="rId4"/>
              </a:rPr>
              <a:t>https://neerc.ifmo.ru/wiki/index.php?title=%D0%9C%D0%B0%D1%80%D0%BA%D0%BE%D0%B2%D1%81%D0%BA%D0%B0%D1%8F_%D1%86%D0%B5%D0%BF%D1%8C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5459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5359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818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5444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0604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14392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http://dit.isuct.ru/IVT/BOOKS/IS/Model/gl43.htm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0315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https://studme.org/133130/informatika/osnovy_nechetkoy_logiki_sistemy_nechetkogo_vyvoda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63184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39103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3970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2529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56661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https://neuronus.com/theory/fl/312-nechetkie-mnozhestva.html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7154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7941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https://neuronus.com/theory/fl/312-nechetkie-mnozhestva.html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22573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25691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68811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https://ru.wikipedia.org/wiki/%D0%9D%D0%B5%D1%87%D1%91%D1%82%D0%BA%D0%BE%D0%B5_%D0%BC%D0%BD%D0%BE%D0%B6%D0%B5%D1%81%D1%82%D0%B2%D0%BE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09686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https://ru.wikipedia.org/wiki/%D0%9D%D0%B5%D1%87%D1%91%D1%82%D0%BA%D0%BE%D0%B5_%D0%BC%D0%BD%D0%BE%D0%B6%D0%B5%D1%81%D1%82%D0%B2%D0%BE</a:t>
            </a:r>
            <a:endParaRPr lang="ru-RU" dirty="0"/>
          </a:p>
          <a:p>
            <a:r>
              <a:rPr lang="en-US" dirty="0">
                <a:hlinkClick r:id="rId4"/>
              </a:rPr>
              <a:t>http://www.moiseevs.ru/tasks/Fuzzy_Sets_lec.pdf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04841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https://ru.wikipedia.org/wiki/%D0%9D%D0%B5%D1%87%D1%91%D1%82%D0%BA%D0%BE%D0%B5_%D0%BC%D0%BD%D0%BE%D0%B6%D0%B5%D1%81%D1%82%D0%B2%D0%BE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815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2405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4181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https://neuronus.com/theory/fl/310-chast-3-nechetkaya-i-lingvisticheskaya-peremennye.html</a:t>
            </a:r>
            <a:endParaRPr lang="ru-RU" dirty="0"/>
          </a:p>
          <a:p>
            <a:r>
              <a:rPr lang="en-US" dirty="0"/>
              <a:t>https://ru.bmstu.wiki/%D0%9F%D1%80%D0%B8%D0%BC%D0%B5%D1%80_%D0%BF%D0%BE%D0%B4%D1%81%D0%B8%D1%81%D1%82%D0%B5%D0%BC%D1%8B_%D1%80%D0%B0%D1%81%D0%BF%D0%BE%D0%B7%D0%BD%D0%B0%D0%B2%D0%B0%D0%BD%D0%B8%D1%8F_%D0%BE%D0%B1%D1%8A%D0%B5%D0%BA%D1%82%D0%BE%D0%B2_%D0%BF%D0%BE_%D1%86%D0%B2%D0%B5%D1%82%D1%83,_%D1%80%D0%B5%D0%B0%D0%BB%D0%B8%D0%B7%D1%83%D1%8E%D1%89%D0%B5%D0%B9_%D0%BD%D0%B5%D1%87%D0%B5%D1%82%D0%BA%D0%B8%D0%B9_%D0%B7%D0%B0%D0%BF%D1%80%D0%BE%D1%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88082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ru-RU" dirty="0"/>
          </a:p>
          <a:p>
            <a:r>
              <a:rPr lang="en-US" dirty="0"/>
              <a:t>https://ru.bmstu.wiki/%D0%9F%D1%80%D0%B8%D0%BC%D0%B5%D1%80_%D0%BF%D0%BE%D0%B4%D1%81%D0%B8%D1%81%D1%82%D0%B5%D0%BC%D1%8B_%D1%80%D0%B0%D1%81%D0%BF%D0%BE%D0%B7%D0%BD%D0%B0%D0%B2%D0%B0%D0%BD%D0%B8%D1%8F_%D0%BE%D0%B1%D1%8A%D0%B5%D0%BA%D1%82%D0%BE%D0%B2_%D0%BF%D0%BE_%D1%86%D0%B2%D0%B5%D1%82%D1%83,_%D1%80%D0%B5%D0%B0%D0%BB%D0%B8%D0%B7%D1%83%D1%8E%D1%89%D0%B5%D0%B9_%D0%BD%D0%B5%D1%87%D0%B5%D1%82%D0%BA%D0%B8%D0%B9_%D0%B7%D0%B0%D0%BF%D1%80%D0%BE%D1%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22158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35925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76628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81950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2055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14176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5765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09763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46670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12730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65716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87603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9689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http://nrsu.bstu.ru/chap27.html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E4C15-83E2-4053-8D48-0BAD6CEC897C}" type="slidenum">
              <a:rPr lang="ru-RU" smtClean="0"/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742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886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2140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27467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5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592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488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91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95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78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49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541106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105745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6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3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ibac.info/studconf/tech/xxix/41099" TargetMode="External"/><Relationship Id="rId7" Type="http://schemas.openxmlformats.org/officeDocument/2006/relationships/hyperlink" Target="https://ru.wikipedia.org/wiki/%D0%97%D0%B0%D0%B4%D0%B0%D1%87%D0%B0_%D0%BE_%D0%BA%D1%80%D0%B0%D1%82%D1%87%D0%B0%D0%B9%D1%88%D0%B5%D0%BC_%D0%BF%D1%83%D1%82%D0%B8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hyperlink" Target="http://ru.wikipedia.org/wiki/%D0%9F%D0%B5%D1%82%D0%BB%D1%8F_(%D1%82%D0%B5%D0%BE%D1%80%D0%B8%D1%8F_%D0%B3%D1%80%D0%B0%D1%84%D0%BE%D0%B2)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A4%D0%B0%D0%B9%D0%BB:Moscow_metro_map_-_daily_ridership_scheme.png" TargetMode="External"/><Relationship Id="rId3" Type="http://schemas.openxmlformats.org/officeDocument/2006/relationships/image" Target="../media/image14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u.wikipedia.org/wiki/%D0%9F%D0%B0%D1%80%D0%B0%D0%B4%D0%BE%D0%BA%D1%81_%D0%B4%D1%80%D1%83%D0%B6%D0%B1%D1%8B" TargetMode="External"/><Relationship Id="rId5" Type="http://schemas.openxmlformats.org/officeDocument/2006/relationships/image" Target="../media/image15.png"/><Relationship Id="rId10" Type="http://schemas.openxmlformats.org/officeDocument/2006/relationships/hyperlink" Target="https://commons.wikimedia.org/wiki/File:%D0%92%D0%B8%D0%B4%D1%8B_%D1%81%D1%83%D0%B1%D1%8A%D0%B5%D0%BA%D1%82%D0%BE%D0%B2_%D0%A0%D0%BE%D1%81%D1%81%D0%B8%D0%B8_%D0%BD%D0%B0_%D0%BF%D0%BE%D0%BB%D0%B8%D1%82%D0%B8%D1%87%D0%B5%D1%81%D0%BA%D0%BE%D0%B9_%D0%BA%D0%B0%D1%80%D1%82%D0%B5.png" TargetMode="External"/><Relationship Id="rId4" Type="http://schemas.openxmlformats.org/officeDocument/2006/relationships/hyperlink" Target="https://www.science-education.ru/ru/article/view?id=11763" TargetMode="External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9F%D0%B5%D1%82%D0%BB%D1%8F_(%D1%82%D0%B5%D0%BE%D1%80%D0%B8%D1%8F_%D0%B3%D1%80%D0%B0%D1%84%D0%BE%D0%B2)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ru.wikipedia.org/wiki/%D0%97%D0%B0%D0%B4%D0%B0%D1%87%D0%B0_%D0%BE_%D0%BA%D1%80%D0%B0%D1%82%D1%87%D0%B0%D0%B9%D1%88%D0%B5%D0%BC_%D0%BF%D1%83%D1%82%D0%B8" TargetMode="Externa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7%D0%B0%D0%B4%D0%B0%D1%87%D0%B0_%D0%BE_%D0%BA%D1%80%D0%B0%D1%82%D1%87%D0%B0%D0%B9%D1%88%D0%B5%D0%BC_%D0%BF%D1%83%D1%82%D0%B8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ultigraph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-koncept.ru/2015/65227.htm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ocnetv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2%D0%B5%D1%80%D0%B5%D1%82%D0%B5%D0%BD%D0%BE_%D0%9C%D0%BE%D0%B7%D0%B5%D1%80%D0%B0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ru.wikipedia.org/wiki/%D0%A0%D1%91%D0%B1%D0%B5%D1%80%D0%BD%D0%B0%D1%8F_%D1%80%D0%B0%D1%81%D0%BA%D1%80%D0%B0%D1%81%D0%BA%D0%B0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numpy.scipy.org/" TargetMode="External"/><Relationship Id="rId7" Type="http://schemas.openxmlformats.org/officeDocument/2006/relationships/hyperlink" Target="https://www.chitai-gorod.ru/catalog/book/960907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ics.uci.edu/~eppstein/PADS" TargetMode="External"/><Relationship Id="rId5" Type="http://schemas.openxmlformats.org/officeDocument/2006/relationships/hyperlink" Target="https://www.sciencedirect.com/science/article/abs/pii/S0378873306000372" TargetMode="External"/><Relationship Id="rId4" Type="http://schemas.openxmlformats.org/officeDocument/2006/relationships/hyperlink" Target="http://networkx.lanl.gov/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Fuzzy_logic" TargetMode="Externa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8.png"/><Relationship Id="rId4" Type="http://schemas.openxmlformats.org/officeDocument/2006/relationships/image" Target="../media/image3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9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9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inosmi.ru/social/20200620/247613100.html" TargetMode="External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9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u.wikipedia.org/wiki/%D0%91%D1%80%D0%B0%D1%83%D0%BD,_%D0%A0%D0%BE%D0%B4%D0%B6%D0%B5%D1%80_(%D0%B1%D0%B0%D1%81%D0%BA%D0%B5%D1%82%D0%B1%D0%BE%D0%BB%D0%B8%D1%81%D1%82,_1942)" TargetMode="Externa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hyperlink" Target="mailto:consult@Dintsis.org" TargetMode="External"/><Relationship Id="rId2" Type="http://schemas.openxmlformats.org/officeDocument/2006/relationships/hyperlink" Target="mailto:dinzis@specialist.ru" TargetMode="Externa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t.me/pmtips" TargetMode="External"/><Relationship Id="rId4" Type="http://schemas.openxmlformats.org/officeDocument/2006/relationships/hyperlink" Target="http://www.ddintsi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469908" y="4752473"/>
            <a:ext cx="8239874" cy="902369"/>
          </a:xfrm>
        </p:spPr>
        <p:txBody>
          <a:bodyPr>
            <a:normAutofit/>
          </a:bodyPr>
          <a:lstStyle/>
          <a:p>
            <a:r>
              <a:rPr lang="ru-RU" dirty="0"/>
              <a:t>Основы графов и нечетких логик </a:t>
            </a:r>
            <a:br>
              <a:rPr lang="en-US" dirty="0"/>
            </a:br>
            <a:r>
              <a:rPr lang="ru-RU" dirty="0"/>
              <a:t>для анализа больших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45862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6731" y="218866"/>
            <a:ext cx="7886700" cy="744483"/>
          </a:xfrm>
        </p:spPr>
        <p:txBody>
          <a:bodyPr/>
          <a:lstStyle/>
          <a:p>
            <a:r>
              <a:rPr lang="ru-RU" dirty="0"/>
              <a:t>Преподаватели по курсу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b="19712"/>
          <a:stretch/>
        </p:blipFill>
        <p:spPr>
          <a:xfrm>
            <a:off x="337825" y="1147882"/>
            <a:ext cx="1571625" cy="1888920"/>
          </a:xfrm>
          <a:prstGeom prst="rect">
            <a:avLst/>
          </a:prstGeom>
        </p:spPr>
      </p:pic>
      <p:sp>
        <p:nvSpPr>
          <p:cNvPr id="11" name="Объект 10"/>
          <p:cNvSpPr>
            <a:spLocks noGrp="1"/>
          </p:cNvSpPr>
          <p:nvPr>
            <p:ph idx="1"/>
          </p:nvPr>
        </p:nvSpPr>
        <p:spPr>
          <a:xfrm>
            <a:off x="2225842" y="1147882"/>
            <a:ext cx="6641432" cy="5208469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Доктор </a:t>
            </a:r>
            <a:r>
              <a:rPr lang="ru-RU" dirty="0" err="1"/>
              <a:t>техн</a:t>
            </a:r>
            <a:r>
              <a:rPr lang="ru-RU" dirty="0"/>
              <a:t>. наук по системному анализу информационных систем</a:t>
            </a:r>
          </a:p>
          <a:p>
            <a:pPr lvl="0"/>
            <a:r>
              <a:rPr lang="ru-RU" dirty="0"/>
              <a:t>Общий опыт в ИТ отрасли 25+ лет. Управление проектами, программами и портфелями на протяжении свыше 10 лет, включая разработку программного обеспечения</a:t>
            </a:r>
            <a:r>
              <a:rPr lang="en-US" dirty="0"/>
              <a:t> c </a:t>
            </a:r>
            <a:r>
              <a:rPr lang="ru-RU" dirty="0"/>
              <a:t>применением машинного обучения; </a:t>
            </a:r>
            <a:r>
              <a:rPr lang="en-US" dirty="0"/>
              <a:t>ITSM</a:t>
            </a:r>
            <a:r>
              <a:rPr lang="ru-RU" dirty="0"/>
              <a:t> консалтинг и стартапы, связанные в т.ч. с машинным обучением . </a:t>
            </a:r>
          </a:p>
          <a:p>
            <a:pPr lvl="0"/>
            <a:r>
              <a:rPr lang="ru-RU" dirty="0"/>
              <a:t>Профессиональные сертификации</a:t>
            </a:r>
            <a:endParaRPr lang="en-US" dirty="0"/>
          </a:p>
          <a:p>
            <a:pPr lvl="0"/>
            <a:r>
              <a:rPr lang="en-US" dirty="0" err="1"/>
              <a:t>PfMP</a:t>
            </a:r>
            <a:r>
              <a:rPr lang="en-US" dirty="0"/>
              <a:t>, </a:t>
            </a:r>
            <a:r>
              <a:rPr lang="en-US" dirty="0" err="1"/>
              <a:t>PgMP</a:t>
            </a:r>
            <a:r>
              <a:rPr lang="en-US" dirty="0"/>
              <a:t>, PMP, ITIL® MP, DevOps Product Owner</a:t>
            </a:r>
            <a:endParaRPr lang="ru-RU" dirty="0"/>
          </a:p>
          <a:p>
            <a:pPr lvl="0"/>
            <a:r>
              <a:rPr lang="ru-RU" dirty="0"/>
              <a:t>Участие в профессиональных российских и международных сообществах: </a:t>
            </a:r>
            <a:r>
              <a:rPr lang="en-US" dirty="0"/>
              <a:t>PMI</a:t>
            </a:r>
            <a:r>
              <a:rPr lang="ru-RU" dirty="0"/>
              <a:t>, </a:t>
            </a:r>
            <a:r>
              <a:rPr lang="en-US" dirty="0"/>
              <a:t>IEEE</a:t>
            </a:r>
            <a:r>
              <a:rPr lang="ru-RU" dirty="0"/>
              <a:t>,</a:t>
            </a:r>
            <a:r>
              <a:rPr lang="en-US" dirty="0"/>
              <a:t>IAMCP,</a:t>
            </a:r>
            <a:r>
              <a:rPr lang="ru-RU" dirty="0"/>
              <a:t> </a:t>
            </a:r>
            <a:r>
              <a:rPr lang="en-US" dirty="0" err="1"/>
              <a:t>pmi</a:t>
            </a:r>
            <a:r>
              <a:rPr lang="ru-RU" dirty="0"/>
              <a:t>.</a:t>
            </a:r>
            <a:r>
              <a:rPr lang="en-US" dirty="0" err="1"/>
              <a:t>ru</a:t>
            </a:r>
            <a:endParaRPr lang="en-US" dirty="0"/>
          </a:p>
          <a:p>
            <a:pPr lvl="0"/>
            <a:r>
              <a:rPr lang="ru-RU" dirty="0"/>
              <a:t>Св. 30 публикаций по тематике курса. Академический редактор книги «</a:t>
            </a:r>
            <a:r>
              <a:rPr lang="en-US" dirty="0"/>
              <a:t>CRM </a:t>
            </a:r>
            <a:r>
              <a:rPr lang="ru-RU" dirty="0"/>
              <a:t>и машинное обучение» (</a:t>
            </a:r>
            <a:r>
              <a:rPr lang="en-US" dirty="0"/>
              <a:t>Intech publishers</a:t>
            </a:r>
            <a:r>
              <a:rPr lang="ru-RU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EF1EF-6C3D-4F12-A5A5-E3FB8189FCDA}"/>
              </a:ext>
            </a:extLst>
          </p:cNvPr>
          <p:cNvSpPr txBox="1"/>
          <p:nvPr/>
        </p:nvSpPr>
        <p:spPr>
          <a:xfrm>
            <a:off x="345700" y="3438832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Данил </a:t>
            </a:r>
            <a:r>
              <a:rPr lang="ru-RU" b="1" dirty="0" err="1"/>
              <a:t>Динцис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46400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2619" y="291274"/>
            <a:ext cx="7886700" cy="713661"/>
          </a:xfrm>
        </p:spPr>
        <p:txBody>
          <a:bodyPr/>
          <a:lstStyle/>
          <a:p>
            <a:r>
              <a:rPr lang="ru-RU" dirty="0"/>
              <a:t>О курсе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402619" y="1680463"/>
            <a:ext cx="7886700" cy="207338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Цель: Освоить основы применения графов и нечетких логик для построения моделей систем обработки больших данных, машинного обучения и искусственного интеллекта.</a:t>
            </a:r>
          </a:p>
          <a:p>
            <a:r>
              <a:rPr lang="ru-RU" dirty="0">
                <a:solidFill>
                  <a:srgbClr val="002060"/>
                </a:solidFill>
              </a:rPr>
              <a:t>Слушатели познакомятся с основными понятиями </a:t>
            </a:r>
            <a:r>
              <a:rPr lang="ru-RU" dirty="0" err="1">
                <a:solidFill>
                  <a:srgbClr val="002060"/>
                </a:solidFill>
              </a:rPr>
              <a:t>графовых</a:t>
            </a:r>
            <a:r>
              <a:rPr lang="ru-RU" dirty="0">
                <a:solidFill>
                  <a:srgbClr val="002060"/>
                </a:solidFill>
              </a:rPr>
              <a:t> и </a:t>
            </a:r>
            <a:r>
              <a:rPr lang="ru-RU" dirty="0" err="1">
                <a:solidFill>
                  <a:srgbClr val="002060"/>
                </a:solidFill>
              </a:rPr>
              <a:t>нечеткологических</a:t>
            </a:r>
            <a:r>
              <a:rPr lang="ru-RU" dirty="0">
                <a:solidFill>
                  <a:srgbClr val="002060"/>
                </a:solidFill>
              </a:rPr>
              <a:t> моделей; инструментами их обработки и оптимизации; требованиями к входным данным.</a:t>
            </a:r>
          </a:p>
        </p:txBody>
      </p:sp>
    </p:spTree>
    <p:extLst>
      <p:ext uri="{BB962C8B-B14F-4D97-AF65-F5344CB8AC3E}">
        <p14:creationId xmlns:p14="http://schemas.microsoft.com/office/powerpoint/2010/main" val="124120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87" y="3502134"/>
            <a:ext cx="2848618" cy="260967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 курса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3203574"/>
          </a:xfrm>
        </p:spPr>
        <p:txBody>
          <a:bodyPr>
            <a:normAutofit/>
          </a:bodyPr>
          <a:lstStyle/>
          <a:p>
            <a:pPr marL="342900" indent="-342900">
              <a:buBlip>
                <a:blip r:embed="rId3"/>
              </a:buBlip>
            </a:pPr>
            <a:r>
              <a:rPr lang="ru-RU" dirty="0"/>
              <a:t>Бизнес- и системные аналитики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Аналитики данных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Программисты, работающие в области машинного анализа данных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Бизнес-руководители, чья деятельность связана с постановкой задач по аналитике данных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Маркетологи, включая веб-маркетинг</a:t>
            </a:r>
          </a:p>
          <a:p>
            <a:pPr marL="342900" indent="-342900">
              <a:buBlip>
                <a:blip r:embed="rId3"/>
              </a:buBlip>
            </a:pPr>
            <a:r>
              <a:rPr lang="ru-RU" dirty="0"/>
              <a:t>Другие сотрудники, вовлеченные в аналитическую деятельность компании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71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6580" y="176553"/>
            <a:ext cx="8422883" cy="664860"/>
          </a:xfrm>
        </p:spPr>
        <p:txBody>
          <a:bodyPr/>
          <a:lstStyle/>
          <a:p>
            <a:r>
              <a:rPr lang="ru-RU" dirty="0"/>
              <a:t>Слушатели по окончании курса: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914401"/>
            <a:ext cx="7886700" cy="50365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По окончании курса Вы будете знать:</a:t>
            </a:r>
          </a:p>
          <a:p>
            <a:r>
              <a:rPr lang="ru-RU" dirty="0"/>
              <a:t>1.	Основные понятия теории графов:</a:t>
            </a:r>
          </a:p>
          <a:p>
            <a:pPr lvl="1"/>
            <a:r>
              <a:rPr lang="ru-RU" dirty="0"/>
              <a:t>a.	Вершины и ребра</a:t>
            </a:r>
          </a:p>
          <a:p>
            <a:pPr lvl="1"/>
            <a:r>
              <a:rPr lang="ru-RU" dirty="0"/>
              <a:t>b.	Ориентированные и неориентированные графы</a:t>
            </a:r>
          </a:p>
          <a:p>
            <a:pPr lvl="1"/>
            <a:r>
              <a:rPr lang="ru-RU" dirty="0"/>
              <a:t>c.	Детерминированные и стохастические графы</a:t>
            </a:r>
          </a:p>
          <a:p>
            <a:pPr lvl="1"/>
            <a:r>
              <a:rPr lang="ru-RU" dirty="0"/>
              <a:t>d.	Веса вершин и ребер</a:t>
            </a:r>
          </a:p>
          <a:p>
            <a:r>
              <a:rPr lang="ru-RU" dirty="0"/>
              <a:t>2.	Типовые задачи. Решаемые с применением анализа на графах</a:t>
            </a:r>
          </a:p>
          <a:p>
            <a:pPr lvl="1"/>
            <a:r>
              <a:rPr lang="ru-RU" dirty="0"/>
              <a:t>a.	Нахождение связности в графах социальных сетей</a:t>
            </a:r>
          </a:p>
          <a:p>
            <a:pPr lvl="1"/>
            <a:r>
              <a:rPr lang="ru-RU" dirty="0"/>
              <a:t>b.	Нахождение оптимального маршрута</a:t>
            </a:r>
          </a:p>
          <a:p>
            <a:r>
              <a:rPr lang="ru-RU" dirty="0"/>
              <a:t>3.	Основные понятия нечетких логик</a:t>
            </a:r>
          </a:p>
          <a:p>
            <a:pPr lvl="1"/>
            <a:r>
              <a:rPr lang="ru-RU" dirty="0"/>
              <a:t>a.	Лингвистическая переменная</a:t>
            </a:r>
          </a:p>
          <a:p>
            <a:pPr lvl="1"/>
            <a:r>
              <a:rPr lang="ru-RU" dirty="0"/>
              <a:t>b.	Нечеткое множество</a:t>
            </a:r>
          </a:p>
          <a:p>
            <a:pPr lvl="1"/>
            <a:r>
              <a:rPr lang="ru-RU" dirty="0"/>
              <a:t>c.	Нечеткие отношения</a:t>
            </a:r>
          </a:p>
          <a:p>
            <a:r>
              <a:rPr lang="ru-RU" dirty="0"/>
              <a:t>4.	Порядок формирования нечетких моделей и их преобразования</a:t>
            </a:r>
          </a:p>
          <a:p>
            <a:pPr lvl="1"/>
            <a:r>
              <a:rPr lang="ru-RU" dirty="0"/>
              <a:t>a.	Операции импликации и композиции над нечеткими множествами</a:t>
            </a:r>
          </a:p>
          <a:p>
            <a:pPr lvl="1"/>
            <a:r>
              <a:rPr lang="ru-RU" dirty="0"/>
              <a:t>b.	Построение логико-лингвистической модели</a:t>
            </a:r>
          </a:p>
          <a:p>
            <a:pPr lvl="1"/>
            <a:r>
              <a:rPr lang="ru-RU" dirty="0"/>
              <a:t>c.	Анализ нечеткой модели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71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D8145-9E23-4C8D-B2F3-8DDDB0589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6590"/>
          </a:xfrm>
        </p:spPr>
        <p:txBody>
          <a:bodyPr/>
          <a:lstStyle/>
          <a:p>
            <a:r>
              <a:rPr lang="ru-RU" dirty="0"/>
              <a:t>Знакомимся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BFB51B-F185-454F-B5DD-71F753922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51067"/>
            <a:ext cx="7886700" cy="1542739"/>
          </a:xfrm>
        </p:spPr>
        <p:txBody>
          <a:bodyPr/>
          <a:lstStyle/>
          <a:p>
            <a:r>
              <a:rPr lang="ru-RU" dirty="0"/>
              <a:t>Как обращаться</a:t>
            </a:r>
          </a:p>
          <a:p>
            <a:r>
              <a:rPr lang="ru-RU" dirty="0"/>
              <a:t>Ваш опыт в этой области</a:t>
            </a:r>
          </a:p>
          <a:p>
            <a:r>
              <a:rPr lang="ru-RU" dirty="0"/>
              <a:t>Ваш интерес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90811F-C16C-48D8-A7AD-37C43CB7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431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BF3B-5B88-4CC9-893B-E33D387D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37" y="214344"/>
            <a:ext cx="7886700" cy="751427"/>
          </a:xfrm>
        </p:spPr>
        <p:txBody>
          <a:bodyPr/>
          <a:lstStyle/>
          <a:p>
            <a:r>
              <a:rPr lang="ru-RU" dirty="0"/>
              <a:t>Определение графа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1E30-6105-4242-8393-F3B23E9D7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37" y="1319525"/>
            <a:ext cx="7886700" cy="137256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Графом </a:t>
            </a:r>
            <a:r>
              <a:rPr lang="en-US" dirty="0"/>
              <a:t>G(V,E)</a:t>
            </a:r>
            <a:r>
              <a:rPr lang="ru-RU" dirty="0"/>
              <a:t> называется пара множеств, где</a:t>
            </a:r>
          </a:p>
          <a:p>
            <a:r>
              <a:rPr lang="en-US" dirty="0"/>
              <a:t>V – </a:t>
            </a:r>
            <a:r>
              <a:rPr lang="ru-RU" dirty="0"/>
              <a:t>совокупность объектов, а</a:t>
            </a:r>
          </a:p>
          <a:p>
            <a:r>
              <a:rPr lang="ru-RU" dirty="0"/>
              <a:t>Е – совокупность пар отношений между этими объектами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0378-5B97-4679-9DEB-1B6664639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6" name="Picture 5" descr="A picture containing object, group&#10;&#10;Description automatically generated">
            <a:extLst>
              <a:ext uri="{FF2B5EF4-FFF2-40B4-BE49-F238E27FC236}">
                <a16:creationId xmlns:a16="http://schemas.microsoft.com/office/drawing/2014/main" id="{B8598991-51DD-4ABA-B89E-82C5C723A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95628" y="4297146"/>
            <a:ext cx="3552743" cy="2241767"/>
          </a:xfrm>
          <a:prstGeom prst="rect">
            <a:avLst/>
          </a:prstGeom>
        </p:spPr>
      </p:pic>
      <p:pic>
        <p:nvPicPr>
          <p:cNvPr id="9" name="Picture 8" descr="A sign in the dark&#10;&#10;Description automatically generated">
            <a:extLst>
              <a:ext uri="{FF2B5EF4-FFF2-40B4-BE49-F238E27FC236}">
                <a16:creationId xmlns:a16="http://schemas.microsoft.com/office/drawing/2014/main" id="{BA3FE73F-690D-4EC8-B571-742BE5D7A8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457950" y="2578184"/>
            <a:ext cx="2383656" cy="2611187"/>
          </a:xfrm>
          <a:prstGeom prst="rect">
            <a:avLst/>
          </a:prstGeom>
        </p:spPr>
      </p:pic>
      <p:pic>
        <p:nvPicPr>
          <p:cNvPr id="12" name="Picture 1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2C0E4D81-01E3-487E-999D-280F94201D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35958" y="2692085"/>
            <a:ext cx="33337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0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8F1C-1BD9-4BE0-A121-6D06E384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24" y="365126"/>
            <a:ext cx="8227026" cy="417469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Что можно описать с помощью графа</a:t>
            </a:r>
          </a:p>
        </p:txBody>
      </p:sp>
      <p:pic>
        <p:nvPicPr>
          <p:cNvPr id="7" name="Content Placeholder 6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B42151F2-E2AD-4043-A43B-5C91EA5F8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88324" y="4219575"/>
            <a:ext cx="3676650" cy="26384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DCDA4-3D08-490F-93CE-F561BA3DF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13" name="Picture 12" descr="A picture containing grass, photo, plane, sitting&#10;&#10;Description automatically generated">
            <a:extLst>
              <a:ext uri="{FF2B5EF4-FFF2-40B4-BE49-F238E27FC236}">
                <a16:creationId xmlns:a16="http://schemas.microsoft.com/office/drawing/2014/main" id="{DECBA4D0-7F2C-4699-B3C3-542E93536E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131577" y="4239168"/>
            <a:ext cx="4652746" cy="2618832"/>
          </a:xfrm>
          <a:prstGeom prst="rect">
            <a:avLst/>
          </a:prstGeom>
        </p:spPr>
      </p:pic>
      <p:pic>
        <p:nvPicPr>
          <p:cNvPr id="19" name="Picture 18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C9EC3F4C-87DD-4EB3-81E4-C7ED0AB1366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96185" y="929811"/>
            <a:ext cx="2635595" cy="3162141"/>
          </a:xfrm>
          <a:prstGeom prst="rect">
            <a:avLst/>
          </a:prstGeom>
        </p:spPr>
      </p:pic>
      <p:pic>
        <p:nvPicPr>
          <p:cNvPr id="22" name="Picture 21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C82C5BCF-0609-4F89-B4D9-86F971E63A4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328086" y="919119"/>
            <a:ext cx="5527590" cy="317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0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BF3B-5B88-4CC9-893B-E33D387D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37" y="214344"/>
            <a:ext cx="7886700" cy="931652"/>
          </a:xfrm>
        </p:spPr>
        <p:txBody>
          <a:bodyPr>
            <a:normAutofit fontScale="90000"/>
          </a:bodyPr>
          <a:lstStyle/>
          <a:p>
            <a:r>
              <a:rPr lang="ru-RU" dirty="0"/>
              <a:t>Ориентированные (орграфы) и неориентированные графы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1E30-6105-4242-8393-F3B23E9D7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077" y="1426208"/>
            <a:ext cx="7886700" cy="1163939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Ориентированный граф </a:t>
            </a:r>
            <a:r>
              <a:rPr lang="ru-RU" dirty="0"/>
              <a:t>(кратко орграф) — граф, рёбрам которого присвоено направление. Направленные рёбра именуются также дугами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0378-5B97-4679-9DEB-1B6664639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9" name="Picture 8" descr="A sign in the dark&#10;&#10;Description automatically generated">
            <a:extLst>
              <a:ext uri="{FF2B5EF4-FFF2-40B4-BE49-F238E27FC236}">
                <a16:creationId xmlns:a16="http://schemas.microsoft.com/office/drawing/2014/main" id="{BA3FE73F-690D-4EC8-B571-742BE5D7A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57755" y="2815119"/>
            <a:ext cx="2383656" cy="2611187"/>
          </a:xfrm>
          <a:prstGeom prst="rect">
            <a:avLst/>
          </a:prstGeom>
        </p:spPr>
      </p:pic>
      <p:pic>
        <p:nvPicPr>
          <p:cNvPr id="12" name="Picture 1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2C0E4D81-01E3-487E-999D-280F94201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59723" y="3046895"/>
            <a:ext cx="3443315" cy="1879066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E84F6719-C5C8-4BCC-94CF-A20294A2926A}"/>
              </a:ext>
            </a:extLst>
          </p:cNvPr>
          <p:cNvSpPr/>
          <p:nvPr/>
        </p:nvSpPr>
        <p:spPr>
          <a:xfrm>
            <a:off x="6576682" y="2987178"/>
            <a:ext cx="509434" cy="4099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Е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9F08C02-0AE1-40DD-B8B2-EC491C888AC1}"/>
              </a:ext>
            </a:extLst>
          </p:cNvPr>
          <p:cNvSpPr/>
          <p:nvPr/>
        </p:nvSpPr>
        <p:spPr>
          <a:xfrm>
            <a:off x="8332172" y="2958067"/>
            <a:ext cx="509434" cy="4099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29B1837-65E6-4DF6-A81F-C69DF0D5ADA3}"/>
              </a:ext>
            </a:extLst>
          </p:cNvPr>
          <p:cNvSpPr/>
          <p:nvPr/>
        </p:nvSpPr>
        <p:spPr>
          <a:xfrm>
            <a:off x="6651287" y="4321361"/>
            <a:ext cx="509434" cy="4099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ВВ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5742BF5-20B0-4AFC-B9A9-AFFAABB885A5}"/>
              </a:ext>
            </a:extLst>
          </p:cNvPr>
          <p:cNvSpPr/>
          <p:nvPr/>
        </p:nvSpPr>
        <p:spPr>
          <a:xfrm>
            <a:off x="8227523" y="4245406"/>
            <a:ext cx="509434" cy="4099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08513F5-EB25-44FC-BD18-96B72C046A5B}"/>
              </a:ext>
            </a:extLst>
          </p:cNvPr>
          <p:cNvSpPr/>
          <p:nvPr/>
        </p:nvSpPr>
        <p:spPr>
          <a:xfrm>
            <a:off x="7354450" y="3606615"/>
            <a:ext cx="509434" cy="4099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ВИ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CEFD6AB-2E00-4B14-BB41-097A8124529D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7086116" y="3163045"/>
            <a:ext cx="1246056" cy="291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60DBC7A-37A6-4BEC-8C5D-4132B1282595}"/>
              </a:ext>
            </a:extLst>
          </p:cNvPr>
          <p:cNvCxnSpPr>
            <a:cxnSpLocks/>
            <a:stCxn id="5" idx="5"/>
            <a:endCxn id="13" idx="1"/>
          </p:cNvCxnSpPr>
          <p:nvPr/>
        </p:nvCxnSpPr>
        <p:spPr>
          <a:xfrm>
            <a:off x="7011511" y="3337096"/>
            <a:ext cx="417544" cy="329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D69D3818-9E54-486C-A77E-463D8C285C39}"/>
              </a:ext>
            </a:extLst>
          </p:cNvPr>
          <p:cNvCxnSpPr>
            <a:cxnSpLocks/>
          </p:cNvCxnSpPr>
          <p:nvPr/>
        </p:nvCxnSpPr>
        <p:spPr>
          <a:xfrm flipV="1">
            <a:off x="7809121" y="3298938"/>
            <a:ext cx="542893" cy="50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BF987BB8-4824-4CC7-9E3E-4F6E5E3A32B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8482240" y="3369794"/>
            <a:ext cx="2332" cy="875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F28F38B1-366C-422B-AE5F-85E4E1B32239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 flipV="1">
            <a:off x="7160721" y="4450384"/>
            <a:ext cx="1066802" cy="75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D28BEB7-10F0-47C1-BE4C-7DBA24B40562}"/>
              </a:ext>
            </a:extLst>
          </p:cNvPr>
          <p:cNvCxnSpPr>
            <a:cxnSpLocks/>
            <a:stCxn id="10" idx="0"/>
            <a:endCxn id="5" idx="4"/>
          </p:cNvCxnSpPr>
          <p:nvPr/>
        </p:nvCxnSpPr>
        <p:spPr>
          <a:xfrm flipH="1" flipV="1">
            <a:off x="6831399" y="3397133"/>
            <a:ext cx="74605" cy="924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7E2C3C3A-FE26-4899-9F37-ACCFFE964D17}"/>
              </a:ext>
            </a:extLst>
          </p:cNvPr>
          <p:cNvCxnSpPr>
            <a:cxnSpLocks/>
            <a:stCxn id="10" idx="7"/>
            <a:endCxn id="13" idx="3"/>
          </p:cNvCxnSpPr>
          <p:nvPr/>
        </p:nvCxnSpPr>
        <p:spPr>
          <a:xfrm flipV="1">
            <a:off x="7086116" y="3956533"/>
            <a:ext cx="342939" cy="424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39F9945E-A186-4574-9750-959E6E2B3903}"/>
              </a:ext>
            </a:extLst>
          </p:cNvPr>
          <p:cNvCxnSpPr>
            <a:cxnSpLocks/>
            <a:stCxn id="13" idx="5"/>
            <a:endCxn id="11" idx="1"/>
          </p:cNvCxnSpPr>
          <p:nvPr/>
        </p:nvCxnSpPr>
        <p:spPr>
          <a:xfrm>
            <a:off x="7789279" y="3956533"/>
            <a:ext cx="512849" cy="348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4DC18A4F-C139-4170-86D5-8C0A4D9C36EF}"/>
              </a:ext>
            </a:extLst>
          </p:cNvPr>
          <p:cNvCxnSpPr>
            <a:cxnSpLocks/>
            <a:stCxn id="5" idx="6"/>
            <a:endCxn id="11" idx="0"/>
          </p:cNvCxnSpPr>
          <p:nvPr/>
        </p:nvCxnSpPr>
        <p:spPr>
          <a:xfrm>
            <a:off x="7086116" y="3192156"/>
            <a:ext cx="1396124" cy="1053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14BCDF49-C2BB-4A36-AD6F-7AA796FDDD21}"/>
              </a:ext>
            </a:extLst>
          </p:cNvPr>
          <p:cNvCxnSpPr>
            <a:cxnSpLocks/>
            <a:stCxn id="10" idx="6"/>
            <a:endCxn id="8" idx="4"/>
          </p:cNvCxnSpPr>
          <p:nvPr/>
        </p:nvCxnSpPr>
        <p:spPr>
          <a:xfrm flipV="1">
            <a:off x="7160721" y="3368022"/>
            <a:ext cx="1426168" cy="1158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46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5638586" cy="836950"/>
          </a:xfrm>
        </p:spPr>
        <p:txBody>
          <a:bodyPr/>
          <a:lstStyle/>
          <a:p>
            <a:r>
              <a:rPr lang="ru-RU" dirty="0"/>
              <a:t>Смежные вершины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389144"/>
            <a:ext cx="7886700" cy="119994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Вершины графа называются смежными, если они соединены хотя бы одним ребром</a:t>
            </a:r>
          </a:p>
          <a:p>
            <a:r>
              <a:rPr lang="ru-RU" dirty="0"/>
              <a:t>Степень вершины – количество связанных (инцидентных) (исходящих в случае орграфа) с ней ребер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0DB2-09AD-4BEC-A5D0-27C175E61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39" t="46055" r="64690" b="26779"/>
          <a:stretch/>
        </p:blipFill>
        <p:spPr>
          <a:xfrm>
            <a:off x="3112195" y="2961696"/>
            <a:ext cx="2631933" cy="239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5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31" y="136524"/>
            <a:ext cx="5638586" cy="730949"/>
          </a:xfrm>
        </p:spPr>
        <p:txBody>
          <a:bodyPr/>
          <a:lstStyle/>
          <a:p>
            <a:r>
              <a:rPr lang="ru-RU" dirty="0"/>
              <a:t>Степень вершины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0" y="955498"/>
            <a:ext cx="8289319" cy="3318552"/>
          </a:xfrm>
        </p:spPr>
        <p:txBody>
          <a:bodyPr>
            <a:normAutofit/>
          </a:bodyPr>
          <a:lstStyle/>
          <a:p>
            <a:r>
              <a:rPr lang="ru-RU" dirty="0"/>
              <a:t>Степень или валентность вершины графа — количество рёбер графа G, инцидентных вершине </a:t>
            </a:r>
            <a:r>
              <a:rPr lang="en-US" dirty="0"/>
              <a:t>v(</a:t>
            </a:r>
            <a:r>
              <a:rPr lang="en-US" dirty="0" err="1"/>
              <a:t>i</a:t>
            </a:r>
            <a:r>
              <a:rPr lang="en-US" dirty="0"/>
              <a:t>)</a:t>
            </a:r>
            <a:r>
              <a:rPr lang="ru-RU" dirty="0"/>
              <a:t> (входящих ребер для орграфа). </a:t>
            </a:r>
          </a:p>
          <a:p>
            <a:r>
              <a:rPr lang="ru-RU" dirty="0"/>
              <a:t>При подсчёте степени неориентированное ребро-петля учитывается дважды</a:t>
            </a:r>
            <a:endParaRPr lang="en-US" dirty="0"/>
          </a:p>
          <a:p>
            <a:r>
              <a:rPr lang="ru-RU" dirty="0"/>
              <a:t>Вершина степени 0 называется </a:t>
            </a:r>
            <a:r>
              <a:rPr lang="ru-RU" b="1" dirty="0"/>
              <a:t>изолированной</a:t>
            </a:r>
            <a:r>
              <a:rPr lang="ru-RU" dirty="0"/>
              <a:t>.</a:t>
            </a:r>
          </a:p>
          <a:p>
            <a:r>
              <a:rPr lang="ru-RU" dirty="0"/>
              <a:t>Вершина степени 1 называется </a:t>
            </a:r>
            <a:r>
              <a:rPr lang="ru-RU" b="1" dirty="0"/>
              <a:t>концевой</a:t>
            </a:r>
            <a:r>
              <a:rPr lang="en-US" b="1" dirty="0"/>
              <a:t>, </a:t>
            </a:r>
            <a:r>
              <a:rPr lang="ru-RU" b="1" dirty="0"/>
              <a:t>висячей или листом графа</a:t>
            </a:r>
            <a:r>
              <a:rPr lang="en-US" dirty="0"/>
              <a:t>. </a:t>
            </a:r>
            <a:r>
              <a:rPr lang="ru-RU" dirty="0"/>
              <a:t>Ребро, инцидентное такой вершине называется </a:t>
            </a:r>
            <a:r>
              <a:rPr lang="ru-RU" b="1" dirty="0"/>
              <a:t>висячим</a:t>
            </a:r>
            <a:r>
              <a:rPr lang="ru-RU" dirty="0"/>
              <a:t> (англ. </a:t>
            </a:r>
            <a:r>
              <a:rPr lang="en-US" dirty="0"/>
              <a:t>terminal (pendant) edge, end-edge)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2551CF-7B74-4393-93EC-AEBA66677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484" y="3678382"/>
            <a:ext cx="4345969" cy="25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745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BF3B-5B88-4CC9-893B-E33D387D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85" y="293228"/>
            <a:ext cx="8135206" cy="75142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графа как матрицы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0378-5B97-4679-9DEB-1B6664639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12" name="Picture 1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2C0E4D81-01E3-487E-999D-280F94201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16045" y="4264824"/>
            <a:ext cx="3333750" cy="1819275"/>
          </a:xfrm>
          <a:prstGeom prst="rect">
            <a:avLst/>
          </a:prstGeom>
        </p:spPr>
      </p:pic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10D3B763-0F6A-4E1B-91E5-E76DF72BF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069785"/>
              </p:ext>
            </p:extLst>
          </p:nvPr>
        </p:nvGraphicFramePr>
        <p:xfrm>
          <a:off x="543697" y="1396692"/>
          <a:ext cx="781754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514">
                  <a:extLst>
                    <a:ext uri="{9D8B030D-6E8A-4147-A177-3AD203B41FA5}">
                      <a16:colId xmlns:a16="http://schemas.microsoft.com/office/drawing/2014/main" val="3035730177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458970231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152229833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748462314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373836654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797166712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89915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340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25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99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44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181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90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50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5698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3CC5B-85FC-4610-983C-EE40A3A6D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4645"/>
            <a:ext cx="7886700" cy="1325563"/>
          </a:xfrm>
        </p:spPr>
        <p:txBody>
          <a:bodyPr/>
          <a:lstStyle/>
          <a:p>
            <a:r>
              <a:rPr lang="ru-RU" dirty="0"/>
              <a:t>Матрица смежности для неориентированного графа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85A5E216-BA30-47AD-A57C-E482A2495F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3158362"/>
              </p:ext>
            </p:extLst>
          </p:nvPr>
        </p:nvGraphicFramePr>
        <p:xfrm>
          <a:off x="815462" y="1688239"/>
          <a:ext cx="688003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705">
                  <a:extLst>
                    <a:ext uri="{9D8B030D-6E8A-4147-A177-3AD203B41FA5}">
                      <a16:colId xmlns:a16="http://schemas.microsoft.com/office/drawing/2014/main" val="4069154910"/>
                    </a:ext>
                  </a:extLst>
                </a:gridCol>
                <a:gridCol w="1291705">
                  <a:extLst>
                    <a:ext uri="{9D8B030D-6E8A-4147-A177-3AD203B41FA5}">
                      <a16:colId xmlns:a16="http://schemas.microsoft.com/office/drawing/2014/main" val="677702121"/>
                    </a:ext>
                  </a:extLst>
                </a:gridCol>
                <a:gridCol w="1075157">
                  <a:extLst>
                    <a:ext uri="{9D8B030D-6E8A-4147-A177-3AD203B41FA5}">
                      <a16:colId xmlns:a16="http://schemas.microsoft.com/office/drawing/2014/main" val="1755947226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3232770735"/>
                    </a:ext>
                  </a:extLst>
                </a:gridCol>
                <a:gridCol w="1198393">
                  <a:extLst>
                    <a:ext uri="{9D8B030D-6E8A-4147-A177-3AD203B41FA5}">
                      <a16:colId xmlns:a16="http://schemas.microsoft.com/office/drawing/2014/main" val="2925222410"/>
                    </a:ext>
                  </a:extLst>
                </a:gridCol>
                <a:gridCol w="937226">
                  <a:extLst>
                    <a:ext uri="{9D8B030D-6E8A-4147-A177-3AD203B41FA5}">
                      <a16:colId xmlns:a16="http://schemas.microsoft.com/office/drawing/2014/main" val="989103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72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475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939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272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624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162498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C4F276-687A-44C3-B15D-715381724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D5B244-4EB9-4886-AE2D-B7E92245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997" y="4356690"/>
            <a:ext cx="2274005" cy="199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0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BF3B-5B88-4CC9-893B-E33D387D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911" y="214344"/>
            <a:ext cx="6489417" cy="833620"/>
          </a:xfrm>
        </p:spPr>
        <p:txBody>
          <a:bodyPr>
            <a:noAutofit/>
          </a:bodyPr>
          <a:lstStyle/>
          <a:p>
            <a:r>
              <a:rPr lang="ru-RU" sz="3200" dirty="0" err="1"/>
              <a:t>Мультиграфы</a:t>
            </a:r>
            <a:r>
              <a:rPr lang="ru-RU" sz="3200" dirty="0"/>
              <a:t> и </a:t>
            </a:r>
            <a:r>
              <a:rPr lang="ru-RU" sz="3200" dirty="0" err="1"/>
              <a:t>Псевдографы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1E30-6105-4242-8393-F3B23E9D7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69" y="1363504"/>
            <a:ext cx="7886700" cy="1487620"/>
          </a:xfrm>
        </p:spPr>
        <p:txBody>
          <a:bodyPr/>
          <a:lstStyle/>
          <a:p>
            <a:pPr marL="0" indent="0">
              <a:buNone/>
            </a:pPr>
            <a:r>
              <a:rPr lang="ru-RU" b="1" dirty="0" err="1"/>
              <a:t>Мультиграф</a:t>
            </a:r>
            <a:r>
              <a:rPr lang="ru-RU" dirty="0"/>
              <a:t> – граф, у которого может быть более одной связи между вершинами (кратные ребра)</a:t>
            </a:r>
          </a:p>
          <a:p>
            <a:pPr marL="0" indent="0">
              <a:buNone/>
            </a:pPr>
            <a:r>
              <a:rPr lang="ru-RU" b="1" dirty="0" err="1"/>
              <a:t>Псевдограф</a:t>
            </a:r>
            <a:r>
              <a:rPr lang="ru-RU" dirty="0"/>
              <a:t> -  Если в </a:t>
            </a:r>
            <a:r>
              <a:rPr lang="ru-RU" dirty="0" err="1"/>
              <a:t>мультиграфе</a:t>
            </a:r>
            <a:r>
              <a:rPr lang="ru-RU" dirty="0"/>
              <a:t> присутствуют петли, то такой граф называют </a:t>
            </a:r>
            <a:r>
              <a:rPr lang="ru-RU" dirty="0" err="1"/>
              <a:t>псевдографом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0378-5B97-4679-9DEB-1B6664639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6" name="Picture 5" descr="A close up of a necklace&#10;&#10;Description automatically generated">
            <a:extLst>
              <a:ext uri="{FF2B5EF4-FFF2-40B4-BE49-F238E27FC236}">
                <a16:creationId xmlns:a16="http://schemas.microsoft.com/office/drawing/2014/main" id="{028ECE11-2674-4DC8-8B1A-4D709AF26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86561" y="2755697"/>
            <a:ext cx="3143677" cy="314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64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5638586" cy="836950"/>
          </a:xfrm>
        </p:spPr>
        <p:txBody>
          <a:bodyPr/>
          <a:lstStyle/>
          <a:p>
            <a:r>
              <a:rPr lang="ru-RU" dirty="0"/>
              <a:t>Изоморфные графы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389144"/>
            <a:ext cx="7886700" cy="1836941"/>
          </a:xfrm>
        </p:spPr>
        <p:txBody>
          <a:bodyPr/>
          <a:lstStyle/>
          <a:p>
            <a:r>
              <a:rPr lang="ru-RU" dirty="0"/>
              <a:t>Графы </a:t>
            </a:r>
            <a:r>
              <a:rPr lang="en-US" dirty="0"/>
              <a:t>G1, G2</a:t>
            </a:r>
            <a:r>
              <a:rPr lang="ru-RU" dirty="0"/>
              <a:t> являются изоморфными, если существует взаимно-однозначное соответствие между множествами вершин этих графов, сохраняющее отношения смежности.</a:t>
            </a:r>
          </a:p>
          <a:p>
            <a:r>
              <a:rPr lang="ru-RU" dirty="0"/>
              <a:t>Пример: социальные графы, построенные, исходя из разных источников.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0DB2-09AD-4BEC-A5D0-27C175E615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9" t="46055" r="12809" b="26779"/>
          <a:stretch/>
        </p:blipFill>
        <p:spPr>
          <a:xfrm>
            <a:off x="152363" y="3631916"/>
            <a:ext cx="8839273" cy="19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63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3DAF-442A-4766-9F7F-6BC60BEC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41" y="224943"/>
            <a:ext cx="8397521" cy="754757"/>
          </a:xfrm>
        </p:spPr>
        <p:txBody>
          <a:bodyPr/>
          <a:lstStyle/>
          <a:p>
            <a:r>
              <a:rPr lang="ru-RU" dirty="0"/>
              <a:t>Задачи. 20 мин.+10 мин.-</a:t>
            </a:r>
            <a:r>
              <a:rPr lang="en-US" dirty="0"/>
              <a:t>&gt;</a:t>
            </a:r>
            <a:r>
              <a:rPr lang="ru-RU" dirty="0"/>
              <a:t>12-00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F7A9714-B5CC-40D9-B686-0327B9C951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949174"/>
              </p:ext>
            </p:extLst>
          </p:nvPr>
        </p:nvGraphicFramePr>
        <p:xfrm>
          <a:off x="628650" y="3679433"/>
          <a:ext cx="7886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1902796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73139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3460382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659869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9888261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78201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4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10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08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727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24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84999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1397E-7C2A-40E1-90CA-5017F58255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C8F756-7A7E-414D-BC60-9A9EF607D5A4}"/>
              </a:ext>
            </a:extLst>
          </p:cNvPr>
          <p:cNvSpPr/>
          <p:nvPr/>
        </p:nvSpPr>
        <p:spPr>
          <a:xfrm>
            <a:off x="433441" y="1631847"/>
            <a:ext cx="565078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B5D895-8672-45E6-A4FD-8F16846CB874}"/>
              </a:ext>
            </a:extLst>
          </p:cNvPr>
          <p:cNvSpPr/>
          <p:nvPr/>
        </p:nvSpPr>
        <p:spPr>
          <a:xfrm>
            <a:off x="2995986" y="1148328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D4D7DA-B9BF-438D-9623-007AF15824C5}"/>
              </a:ext>
            </a:extLst>
          </p:cNvPr>
          <p:cNvSpPr/>
          <p:nvPr/>
        </p:nvSpPr>
        <p:spPr>
          <a:xfrm>
            <a:off x="1311453" y="1135263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974869-2B53-421B-9F73-9AB510F92961}"/>
              </a:ext>
            </a:extLst>
          </p:cNvPr>
          <p:cNvSpPr/>
          <p:nvPr/>
        </p:nvSpPr>
        <p:spPr>
          <a:xfrm>
            <a:off x="1169326" y="2378864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148CB0-592E-49C9-B327-9FD834EFE5CD}"/>
              </a:ext>
            </a:extLst>
          </p:cNvPr>
          <p:cNvSpPr/>
          <p:nvPr/>
        </p:nvSpPr>
        <p:spPr>
          <a:xfrm>
            <a:off x="2119257" y="2417821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2EB765-F45A-4F31-B7F8-88E1365F38AD}"/>
              </a:ext>
            </a:extLst>
          </p:cNvPr>
          <p:cNvSpPr/>
          <p:nvPr/>
        </p:nvSpPr>
        <p:spPr>
          <a:xfrm>
            <a:off x="2156074" y="1129698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07BD26-793E-4A52-9C66-A1BB3AAAE55E}"/>
              </a:ext>
            </a:extLst>
          </p:cNvPr>
          <p:cNvSpPr/>
          <p:nvPr/>
        </p:nvSpPr>
        <p:spPr>
          <a:xfrm>
            <a:off x="2985284" y="2326637"/>
            <a:ext cx="48288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91A84F-14E0-4620-B5C2-419E4F8D381B}"/>
              </a:ext>
            </a:extLst>
          </p:cNvPr>
          <p:cNvSpPr/>
          <p:nvPr/>
        </p:nvSpPr>
        <p:spPr>
          <a:xfrm>
            <a:off x="4114158" y="1631847"/>
            <a:ext cx="532975" cy="5239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V8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FCF999-9E67-4940-8056-1384AFB0447C}"/>
              </a:ext>
            </a:extLst>
          </p:cNvPr>
          <p:cNvCxnSpPr>
            <a:cxnSpLocks/>
            <a:stCxn id="8" idx="7"/>
            <a:endCxn id="10" idx="2"/>
          </p:cNvCxnSpPr>
          <p:nvPr/>
        </p:nvCxnSpPr>
        <p:spPr>
          <a:xfrm flipV="1">
            <a:off x="915765" y="1397254"/>
            <a:ext cx="395688" cy="311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9B0490-1BA9-4C01-80D3-ECD519240304}"/>
              </a:ext>
            </a:extLst>
          </p:cNvPr>
          <p:cNvCxnSpPr>
            <a:cxnSpLocks/>
            <a:stCxn id="8" idx="6"/>
            <a:endCxn id="13" idx="3"/>
          </p:cNvCxnSpPr>
          <p:nvPr/>
        </p:nvCxnSpPr>
        <p:spPr>
          <a:xfrm flipV="1">
            <a:off x="998519" y="1576945"/>
            <a:ext cx="1228272" cy="316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AE3223-A31C-4EA4-9A37-6AB965452880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915765" y="2079094"/>
            <a:ext cx="495004" cy="299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C555F0-6C10-43CD-B834-566AD4CD46E7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1794338" y="1397254"/>
            <a:ext cx="395688" cy="11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5B0B6C-6D12-4864-9CAA-3D89ECCF7FBF}"/>
              </a:ext>
            </a:extLst>
          </p:cNvPr>
          <p:cNvCxnSpPr>
            <a:cxnSpLocks/>
            <a:stCxn id="10" idx="5"/>
            <a:endCxn id="12" idx="0"/>
          </p:cNvCxnSpPr>
          <p:nvPr/>
        </p:nvCxnSpPr>
        <p:spPr>
          <a:xfrm>
            <a:off x="1723621" y="1582510"/>
            <a:ext cx="637079" cy="835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B717EA-CB8B-4B96-9C50-0ADD1D1B2AB3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616908" y="2588628"/>
            <a:ext cx="368376" cy="69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AC71F45-1C46-445E-A09D-A6E32E125F4F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539643" y="1587779"/>
            <a:ext cx="687084" cy="738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BAF6F5-2766-477A-83C6-B49B24347494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3220302" y="1672310"/>
            <a:ext cx="17127" cy="654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D9C8FF-904D-44E7-810C-42942EE3B7E2}"/>
              </a:ext>
            </a:extLst>
          </p:cNvPr>
          <p:cNvCxnSpPr>
            <a:cxnSpLocks/>
          </p:cNvCxnSpPr>
          <p:nvPr/>
        </p:nvCxnSpPr>
        <p:spPr>
          <a:xfrm>
            <a:off x="3461745" y="1490577"/>
            <a:ext cx="760292" cy="344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D013E18-4B3C-4BC2-904E-841276DDCE03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3468169" y="2079094"/>
            <a:ext cx="724041" cy="474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0FE593-AB9F-40DA-A4AE-0F12651916B6}"/>
              </a:ext>
            </a:extLst>
          </p:cNvPr>
          <p:cNvSpPr txBox="1"/>
          <p:nvPr/>
        </p:nvSpPr>
        <p:spPr>
          <a:xfrm>
            <a:off x="5208941" y="1248709"/>
            <a:ext cx="3753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Представить граф в виде матрицы</a:t>
            </a:r>
          </a:p>
          <a:p>
            <a:pPr marL="342900" indent="-342900">
              <a:buAutoNum type="arabicPeriod"/>
            </a:pPr>
            <a:r>
              <a:rPr lang="ru-RU" dirty="0"/>
              <a:t>На основе матрицы смежности</a:t>
            </a:r>
            <a:r>
              <a:rPr lang="en-US" dirty="0"/>
              <a:t> </a:t>
            </a:r>
            <a:r>
              <a:rPr lang="ru-RU" dirty="0"/>
              <a:t>представить граф в графическом</a:t>
            </a:r>
            <a:r>
              <a:rPr lang="en-US" dirty="0"/>
              <a:t> </a:t>
            </a:r>
            <a:r>
              <a:rPr lang="ru-RU" dirty="0"/>
              <a:t>виде.</a:t>
            </a:r>
          </a:p>
        </p:txBody>
      </p:sp>
    </p:spTree>
    <p:extLst>
      <p:ext uri="{BB962C8B-B14F-4D97-AF65-F5344CB8AC3E}">
        <p14:creationId xmlns:p14="http://schemas.microsoft.com/office/powerpoint/2010/main" val="947412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5638586" cy="836950"/>
          </a:xfrm>
        </p:spPr>
        <p:txBody>
          <a:bodyPr/>
          <a:lstStyle/>
          <a:p>
            <a:r>
              <a:rPr lang="ru-RU" dirty="0"/>
              <a:t>Подграф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389144"/>
            <a:ext cx="7886700" cy="2196537"/>
          </a:xfrm>
        </p:spPr>
        <p:txBody>
          <a:bodyPr>
            <a:normAutofit/>
          </a:bodyPr>
          <a:lstStyle/>
          <a:p>
            <a:r>
              <a:rPr lang="ru-RU" dirty="0"/>
              <a:t>Граф </a:t>
            </a:r>
            <a:r>
              <a:rPr lang="en-US" dirty="0"/>
              <a:t>G’(V’,U’) </a:t>
            </a:r>
            <a:r>
              <a:rPr lang="ru-RU" dirty="0"/>
              <a:t>называется подграфом графа </a:t>
            </a:r>
            <a:r>
              <a:rPr lang="en-US" dirty="0"/>
              <a:t>G(V,U)</a:t>
            </a:r>
            <a:r>
              <a:rPr lang="ru-RU" dirty="0"/>
              <a:t>, если подмножество вершин </a:t>
            </a:r>
            <a:r>
              <a:rPr lang="en-US" dirty="0"/>
              <a:t>V’</a:t>
            </a:r>
            <a:r>
              <a:rPr lang="en-US" i="1" dirty="0"/>
              <a:t> </a:t>
            </a:r>
            <a:r>
              <a:rPr lang="en-US" dirty="0"/>
              <a:t>€ V </a:t>
            </a:r>
            <a:r>
              <a:rPr lang="ru-RU" dirty="0"/>
              <a:t>и </a:t>
            </a:r>
            <a:r>
              <a:rPr lang="en-US" dirty="0"/>
              <a:t>U’ € U </a:t>
            </a:r>
            <a:r>
              <a:rPr lang="ru-RU" dirty="0"/>
              <a:t>причем любое ребро</a:t>
            </a:r>
            <a:r>
              <a:rPr lang="en-US" dirty="0"/>
              <a:t> {</a:t>
            </a:r>
            <a:r>
              <a:rPr lang="en-US" dirty="0" err="1"/>
              <a:t>vi,vj</a:t>
            </a:r>
            <a:r>
              <a:rPr lang="en-US" dirty="0"/>
              <a:t>} </a:t>
            </a:r>
            <a:r>
              <a:rPr lang="ru-RU" dirty="0"/>
              <a:t>включает вершины, принадлежащие </a:t>
            </a:r>
            <a:r>
              <a:rPr lang="en-US" dirty="0"/>
              <a:t>V’</a:t>
            </a:r>
          </a:p>
          <a:p>
            <a:r>
              <a:rPr lang="ru-RU" dirty="0"/>
              <a:t>Подграф называется порожденным или индуцированным, если в нем сохранены все ребра исходного графа </a:t>
            </a:r>
            <a:r>
              <a:rPr lang="en-US" dirty="0"/>
              <a:t>V</a:t>
            </a:r>
            <a:r>
              <a:rPr lang="ru-RU" dirty="0"/>
              <a:t>, сопоставленные входящим в </a:t>
            </a:r>
            <a:r>
              <a:rPr lang="en-US" dirty="0"/>
              <a:t>V’</a:t>
            </a:r>
            <a:r>
              <a:rPr lang="ru-RU" dirty="0"/>
              <a:t> вершинам.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17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0DB2-09AD-4BEC-A5D0-27C175E61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39" t="46055" r="64690" b="26779"/>
          <a:stretch/>
        </p:blipFill>
        <p:spPr>
          <a:xfrm>
            <a:off x="3039401" y="3837399"/>
            <a:ext cx="2631933" cy="239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67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487934" cy="836950"/>
          </a:xfrm>
        </p:spPr>
        <p:txBody>
          <a:bodyPr/>
          <a:lstStyle/>
          <a:p>
            <a:r>
              <a:rPr lang="ru-RU" dirty="0"/>
              <a:t>Подграф. Примеры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8529" y="1273689"/>
            <a:ext cx="4561727" cy="770561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ru-RU" sz="3500" dirty="0"/>
              <a:t>Индуцированный подграф </a:t>
            </a:r>
            <a:r>
              <a:rPr lang="en-US" sz="3500" dirty="0"/>
              <a:t>V1-V2-V3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18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0DB2-09AD-4BEC-A5D0-27C175E61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39" t="46055" r="64690" b="26779"/>
          <a:stretch/>
        </p:blipFill>
        <p:spPr>
          <a:xfrm>
            <a:off x="628650" y="2522306"/>
            <a:ext cx="2631933" cy="2398127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53C5109-5E9F-412A-985E-8697DFFC4F22}"/>
              </a:ext>
            </a:extLst>
          </p:cNvPr>
          <p:cNvSpPr/>
          <p:nvPr/>
        </p:nvSpPr>
        <p:spPr>
          <a:xfrm>
            <a:off x="4548153" y="1892954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v1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EDD9E9E-0DD0-4BA3-9D18-98EA6B372A59}"/>
              </a:ext>
            </a:extLst>
          </p:cNvPr>
          <p:cNvSpPr/>
          <p:nvPr/>
        </p:nvSpPr>
        <p:spPr>
          <a:xfrm>
            <a:off x="4548153" y="2871119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v3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CC57925-F089-44EC-B531-86ACEF63D12F}"/>
              </a:ext>
            </a:extLst>
          </p:cNvPr>
          <p:cNvSpPr/>
          <p:nvPr/>
        </p:nvSpPr>
        <p:spPr>
          <a:xfrm>
            <a:off x="5565295" y="2334366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v2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646A898-DA9A-47A1-AA92-1E58D1AB629B}"/>
              </a:ext>
            </a:extLst>
          </p:cNvPr>
          <p:cNvSpPr/>
          <p:nvPr/>
        </p:nvSpPr>
        <p:spPr>
          <a:xfrm>
            <a:off x="7833381" y="3056018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v1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7FAE815-A90B-463F-9013-B00A1A10F42F}"/>
              </a:ext>
            </a:extLst>
          </p:cNvPr>
          <p:cNvSpPr/>
          <p:nvPr/>
        </p:nvSpPr>
        <p:spPr>
          <a:xfrm>
            <a:off x="7833381" y="4606271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v2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D8FF6F-F3A9-47A1-9324-C88AB32125E6}"/>
              </a:ext>
            </a:extLst>
          </p:cNvPr>
          <p:cNvCxnSpPr>
            <a:cxnSpLocks/>
          </p:cNvCxnSpPr>
          <p:nvPr/>
        </p:nvCxnSpPr>
        <p:spPr>
          <a:xfrm>
            <a:off x="4750535" y="2334366"/>
            <a:ext cx="0" cy="536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1161A0-FE67-4FEA-8531-E126429618BA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4969393" y="2113660"/>
            <a:ext cx="657591" cy="285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7A7152-C4F8-4CBF-A065-E4393C0AF161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4911174" y="2711135"/>
            <a:ext cx="715810" cy="3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CBC10D-0301-4844-8627-94A16FAD5FE4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8044001" y="3497430"/>
            <a:ext cx="0" cy="1108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1F85144-5BCB-4FB4-B0EE-1EDDA717A742}"/>
              </a:ext>
            </a:extLst>
          </p:cNvPr>
          <p:cNvSpPr/>
          <p:nvPr/>
        </p:nvSpPr>
        <p:spPr>
          <a:xfrm>
            <a:off x="6602960" y="3853064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v3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058AB6-B904-4876-9860-C51014455D58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6962511" y="3408810"/>
            <a:ext cx="912046" cy="508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268A8D-7289-4204-BDCE-F8B66C67670B}"/>
              </a:ext>
            </a:extLst>
          </p:cNvPr>
          <p:cNvSpPr txBox="1">
            <a:spLocks/>
          </p:cNvSpPr>
          <p:nvPr/>
        </p:nvSpPr>
        <p:spPr>
          <a:xfrm>
            <a:off x="3955551" y="5226375"/>
            <a:ext cx="4806379" cy="77056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ru-RU" sz="3500" dirty="0" err="1"/>
              <a:t>Неиндуцированный</a:t>
            </a:r>
            <a:r>
              <a:rPr lang="ru-RU" sz="3500" dirty="0"/>
              <a:t> подграф </a:t>
            </a:r>
            <a:r>
              <a:rPr lang="en-US" sz="3500" dirty="0"/>
              <a:t>V1-V2-V3</a:t>
            </a:r>
          </a:p>
        </p:txBody>
      </p:sp>
    </p:spTree>
    <p:extLst>
      <p:ext uri="{BB962C8B-B14F-4D97-AF65-F5344CB8AC3E}">
        <p14:creationId xmlns:p14="http://schemas.microsoft.com/office/powerpoint/2010/main" val="3017529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/>
          </a:bodyPr>
          <a:lstStyle/>
          <a:p>
            <a:r>
              <a:rPr lang="ru-RU" dirty="0"/>
              <a:t>Понятие дерева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1232900"/>
            <a:ext cx="7730341" cy="1397284"/>
          </a:xfrm>
        </p:spPr>
        <p:txBody>
          <a:bodyPr>
            <a:normAutofit/>
          </a:bodyPr>
          <a:lstStyle/>
          <a:p>
            <a:r>
              <a:rPr lang="ru-RU" dirty="0"/>
              <a:t>Деревом называется связный ацикличный граф</a:t>
            </a:r>
            <a:r>
              <a:rPr lang="en-US" dirty="0"/>
              <a:t> </a:t>
            </a:r>
            <a:r>
              <a:rPr lang="ru-RU" dirty="0"/>
              <a:t>или</a:t>
            </a:r>
          </a:p>
          <a:p>
            <a:r>
              <a:rPr lang="ru-RU" dirty="0"/>
              <a:t>Граф, в котором между любыми двумя вершинами графа G есть</a:t>
            </a:r>
            <a:r>
              <a:rPr lang="en-US" dirty="0"/>
              <a:t> </a:t>
            </a:r>
            <a:r>
              <a:rPr lang="ru-RU" dirty="0"/>
              <a:t>единственная простая цепь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19</a:t>
            </a:fld>
            <a:endParaRPr lang="ru-RU" dirty="0"/>
          </a:p>
        </p:txBody>
      </p:sp>
      <p:pic>
        <p:nvPicPr>
          <p:cNvPr id="6" name="Picture 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F36ED630-AE2B-4945-9735-CD3E771E9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14695" y="2934430"/>
            <a:ext cx="7235781" cy="24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91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611224" cy="68412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о кенигсбергских мостах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389145"/>
            <a:ext cx="7886700" cy="994460"/>
          </a:xfrm>
        </p:spPr>
        <p:txBody>
          <a:bodyPr/>
          <a:lstStyle/>
          <a:p>
            <a:r>
              <a:rPr lang="ru-RU" dirty="0"/>
              <a:t>Можно ли посетить все части города, не проходя дважды по одному и тому же мосту?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20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14765-8BDB-4DC0-B325-4DD66FD086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28" t="33312" r="33820" b="15793"/>
          <a:stretch/>
        </p:blipFill>
        <p:spPr>
          <a:xfrm>
            <a:off x="1952090" y="2387665"/>
            <a:ext cx="4618876" cy="34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90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611224" cy="836950"/>
          </a:xfrm>
        </p:spPr>
        <p:txBody>
          <a:bodyPr>
            <a:normAutofit/>
          </a:bodyPr>
          <a:lstStyle/>
          <a:p>
            <a:r>
              <a:rPr lang="ru-RU" dirty="0"/>
              <a:t>Граф кенигсбергских мостов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389145"/>
            <a:ext cx="7886700" cy="994460"/>
          </a:xfrm>
        </p:spPr>
        <p:txBody>
          <a:bodyPr/>
          <a:lstStyle/>
          <a:p>
            <a:r>
              <a:rPr lang="ru-RU" dirty="0"/>
              <a:t>Это </a:t>
            </a:r>
            <a:r>
              <a:rPr lang="ru-RU" dirty="0" err="1"/>
              <a:t>мультиграф</a:t>
            </a:r>
            <a:r>
              <a:rPr lang="ru-RU" dirty="0"/>
              <a:t>, т.к. большой остров соединен с берегами двумя мостами и по ним можно двигаться в любом направлении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21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1C7284-811A-454F-95BA-8EDC34BB63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08" t="24282" r="29375" b="13396"/>
          <a:stretch/>
        </p:blipFill>
        <p:spPr>
          <a:xfrm>
            <a:off x="1967501" y="2383605"/>
            <a:ext cx="4921322" cy="367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92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1773-8200-4CE2-BD84-97465119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6468"/>
            <a:ext cx="7886700" cy="1011611"/>
          </a:xfrm>
        </p:spPr>
        <p:txBody>
          <a:bodyPr/>
          <a:lstStyle/>
          <a:p>
            <a:r>
              <a:rPr lang="ru-RU" dirty="0"/>
              <a:t>Решение Эйлера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45C2D-421F-495B-8B11-CC03B353D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37" y="1380237"/>
            <a:ext cx="7886700" cy="435671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Число нечётных вершин (вершин, к которым ведёт нечётное число рёбер) графа должно быть чётно. Не может существовать граф, который имел бы нечётное число нечётных вершин.</a:t>
            </a:r>
          </a:p>
          <a:p>
            <a:r>
              <a:rPr lang="ru-RU" dirty="0"/>
              <a:t>Если все вершины графа чётные, то можно начертить этот граф без отрыва карандаша от бумаги, при этом можно начинать с любой вершины графа и завершить его в той же вершине.</a:t>
            </a:r>
          </a:p>
          <a:p>
            <a:r>
              <a:rPr lang="ru-RU" dirty="0"/>
              <a:t>Если ровно две вершины графа нечётные, то можно начертить этот граф без отрыва карандаша от бумаги, при этом нужно начинать с одной из нечётных вершин и завершить его в другой нечётной вершине.</a:t>
            </a:r>
          </a:p>
          <a:p>
            <a:pPr lvl="1"/>
            <a:r>
              <a:rPr lang="ru-RU" dirty="0"/>
              <a:t>если будет больше чем две области (вершины графа), к которым ведет нечетное количество мостов (ребер), тогда желательный переход вообще не может быть совершен.</a:t>
            </a:r>
          </a:p>
          <a:p>
            <a:r>
              <a:rPr lang="ru-RU" dirty="0"/>
              <a:t>Граф с более чем двумя нечётными вершинами невозможно начертить одним росчерком.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A5E7D-B26A-4E7E-B426-1422B55457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3161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4207-189C-4477-A5CF-646905EC9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65031"/>
          </a:xfrm>
        </p:spPr>
        <p:txBody>
          <a:bodyPr/>
          <a:lstStyle/>
          <a:p>
            <a:r>
              <a:rPr lang="ru-RU" dirty="0"/>
              <a:t>Задача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D469E-93C4-4011-89B2-66BFB44FD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56" y="1409165"/>
            <a:ext cx="7886700" cy="971343"/>
          </a:xfrm>
        </p:spPr>
        <p:txBody>
          <a:bodyPr/>
          <a:lstStyle/>
          <a:p>
            <a:r>
              <a:rPr lang="ru-RU" dirty="0"/>
              <a:t>Решить задачу о мостах для данного графа. Обосновать решение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3FE77-2E5C-4187-ACD1-D7F22D172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23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19F6EF-7740-4B26-BD04-E8B290277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898" y="2526890"/>
            <a:ext cx="5817092" cy="313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08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CCAF-3061-46B0-BCE2-CB5FCD6FD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97555"/>
          </a:xfrm>
        </p:spPr>
        <p:txBody>
          <a:bodyPr/>
          <a:lstStyle/>
          <a:p>
            <a:r>
              <a:rPr lang="ru-RU" dirty="0"/>
              <a:t>12-45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2D1A-05FF-4A04-8CAF-D00077CF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48849"/>
            <a:ext cx="1599161" cy="69755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FAE2E-6913-4872-A89E-146A119B29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24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F2339-9BDD-42B4-BB09-25073FC3B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639" y="1242069"/>
            <a:ext cx="4911812" cy="49118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4312B1-A8D7-4427-A57F-1C2B322488A7}"/>
              </a:ext>
            </a:extLst>
          </p:cNvPr>
          <p:cNvSpPr/>
          <p:nvPr/>
        </p:nvSpPr>
        <p:spPr>
          <a:xfrm>
            <a:off x="2879639" y="5132173"/>
            <a:ext cx="955589" cy="8320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676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611224" cy="836950"/>
          </a:xfrm>
        </p:spPr>
        <p:txBody>
          <a:bodyPr>
            <a:normAutofit fontScale="90000"/>
          </a:bodyPr>
          <a:lstStyle/>
          <a:p>
            <a:r>
              <a:rPr lang="ru-RU" dirty="0"/>
              <a:t>Граф Интернета или веб-граф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086" y="1752137"/>
            <a:ext cx="7886700" cy="2280863"/>
          </a:xfrm>
        </p:spPr>
        <p:txBody>
          <a:bodyPr/>
          <a:lstStyle/>
          <a:p>
            <a:r>
              <a:rPr lang="ru-RU" dirty="0"/>
              <a:t>Вершины графа (множество </a:t>
            </a:r>
            <a:r>
              <a:rPr lang="en-US" dirty="0"/>
              <a:t>V) – </a:t>
            </a:r>
            <a:r>
              <a:rPr lang="ru-RU" dirty="0"/>
              <a:t>это страницы в сети. Ребра графа – это ссылки (множество </a:t>
            </a:r>
            <a:r>
              <a:rPr lang="en-US" dirty="0"/>
              <a:t>U)</a:t>
            </a:r>
          </a:p>
          <a:p>
            <a:r>
              <a:rPr lang="ru-RU" dirty="0"/>
              <a:t>Веб-граф является орграфом</a:t>
            </a:r>
          </a:p>
          <a:p>
            <a:r>
              <a:rPr lang="ru-RU" dirty="0"/>
              <a:t>Веб-граф может являться </a:t>
            </a:r>
            <a:r>
              <a:rPr lang="ru-RU" dirty="0" err="1"/>
              <a:t>мультиграфом</a:t>
            </a:r>
            <a:r>
              <a:rPr lang="ru-RU" dirty="0"/>
              <a:t> (например, кратные ребра ссылок с одной страницы на другую)</a:t>
            </a:r>
          </a:p>
          <a:p>
            <a:r>
              <a:rPr lang="ru-RU" dirty="0"/>
              <a:t>Веб-граф может содержать петли (т.е. являться </a:t>
            </a:r>
            <a:r>
              <a:rPr lang="ru-RU" dirty="0" err="1"/>
              <a:t>псевдографом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3367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611224" cy="836950"/>
          </a:xfrm>
        </p:spPr>
        <p:txBody>
          <a:bodyPr>
            <a:normAutofit/>
          </a:bodyPr>
          <a:lstStyle/>
          <a:p>
            <a:r>
              <a:rPr lang="ru-RU" dirty="0"/>
              <a:t>Социальный граф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389145"/>
            <a:ext cx="7886700" cy="3480806"/>
          </a:xfrm>
        </p:spPr>
        <p:txBody>
          <a:bodyPr>
            <a:normAutofit lnSpcReduction="10000"/>
          </a:bodyPr>
          <a:lstStyle/>
          <a:p>
            <a:r>
              <a:rPr lang="ru-RU" b="1" dirty="0" err="1"/>
              <a:t>Социа́льный</a:t>
            </a:r>
            <a:r>
              <a:rPr lang="ru-RU" b="1" dirty="0"/>
              <a:t> граф </a:t>
            </a:r>
            <a:r>
              <a:rPr lang="ru-RU" dirty="0"/>
              <a:t>— граф, узлы которого представлены социальными объектами, такими как пользовательские профили с различными атрибутами (например: имя, день рождения, родной город), сообщества, медиаконтента и так далее, а рёбра — социальными связями между ними.</a:t>
            </a:r>
          </a:p>
          <a:p>
            <a:endParaRPr lang="ru-RU" dirty="0"/>
          </a:p>
          <a:p>
            <a:r>
              <a:rPr lang="ru-RU" b="1" dirty="0"/>
              <a:t>Неявный </a:t>
            </a:r>
            <a:r>
              <a:rPr lang="ru-RU" b="1" dirty="0" err="1"/>
              <a:t>социа́льный</a:t>
            </a:r>
            <a:r>
              <a:rPr lang="ru-RU" b="1" dirty="0"/>
              <a:t> граф </a:t>
            </a:r>
            <a:r>
              <a:rPr lang="ru-RU" dirty="0"/>
              <a:t>— это такой граф, который можно сформировать (вывести, вычислить) на основе взаимодействий пользователя со своими «друзьями» и группами «друзей» в социальной сети. В этом </a:t>
            </a:r>
            <a:r>
              <a:rPr lang="ru-RU" dirty="0" err="1"/>
              <a:t>гра́фе</a:t>
            </a:r>
            <a:r>
              <a:rPr lang="ru-RU" dirty="0"/>
              <a:t> в отличие от обычного социального графа нет явного указания «друзей», то есть нет явных социальных связей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9350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2E9A-8DFE-4D8B-A94C-FA66C9B3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88171"/>
          </a:xfrm>
        </p:spPr>
        <p:txBody>
          <a:bodyPr/>
          <a:lstStyle/>
          <a:p>
            <a:r>
              <a:rPr lang="ru-RU" dirty="0"/>
              <a:t>Социальный граф сообществ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381F1-CB61-44FC-BD53-09DD6B8DA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29016"/>
            <a:ext cx="3341988" cy="204504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Содержит объекты разного уровня, например:</a:t>
            </a:r>
          </a:p>
          <a:p>
            <a:r>
              <a:rPr lang="ru-RU" dirty="0"/>
              <a:t>Отдельных людей</a:t>
            </a:r>
          </a:p>
          <a:p>
            <a:r>
              <a:rPr lang="ru-RU" dirty="0"/>
              <a:t>Группы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DAFA8-D124-42BA-ADAC-86D012437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27</a:t>
            </a:fld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237FC-F356-4B06-A0E6-1A7070732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0" y="1279568"/>
            <a:ext cx="4015360" cy="489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67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611224" cy="836950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параметры социального графа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520575"/>
            <a:ext cx="7886700" cy="4270626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err="1"/>
              <a:t>Гомофилия</a:t>
            </a:r>
            <a:r>
              <a:rPr lang="ru-RU" dirty="0"/>
              <a:t> — степень, в которой пользователь образует связи с подобными. Сходство может быть определено по полу, возрасту, общественному положению, образовательному уровню и т.д.</a:t>
            </a:r>
          </a:p>
          <a:p>
            <a:r>
              <a:rPr lang="ru-RU" b="1" dirty="0"/>
              <a:t>Множественность</a:t>
            </a:r>
            <a:r>
              <a:rPr lang="ru-RU" dirty="0"/>
              <a:t> (или сила связи) — число «множественных» связей, в которых находятся пользователи. Например, два пользователя, которые дружат и работают вместе, будут иметь «множественность», равную 2.</a:t>
            </a:r>
          </a:p>
          <a:p>
            <a:r>
              <a:rPr lang="ru-RU" b="1" dirty="0"/>
              <a:t>Взаимность</a:t>
            </a:r>
            <a:r>
              <a:rPr lang="ru-RU" dirty="0"/>
              <a:t> — степень, в которой пользователи взаимодействуют между собой, отвечают взаимностью на действия друг друга. </a:t>
            </a:r>
          </a:p>
          <a:p>
            <a:r>
              <a:rPr lang="ru-RU" b="1" dirty="0"/>
              <a:t>Сетевая закрытость или Кластеризация </a:t>
            </a:r>
            <a:r>
              <a:rPr lang="ru-RU" dirty="0"/>
              <a:t>— степень, в которой друзья пользователя являются друзьями друг другу (Коэффициент кластеризации показывает, насколько сильно вершины склонны образовывать группы (или сообщества), которые характеризуются тем, что вершины, входящие в одну группу, соединены между собой гораздо плотнее, чем со всем остальным графом).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9826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CAC0D-4855-445C-99A1-A0D3A6A43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4029"/>
            <a:ext cx="7886700" cy="980789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</a:t>
            </a:r>
            <a:r>
              <a:rPr lang="ru-RU" dirty="0" err="1"/>
              <a:t>кластеризованного</a:t>
            </a:r>
            <a:r>
              <a:rPr lang="ru-RU" dirty="0"/>
              <a:t> социального графа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70B33-2473-4BAE-AB3E-0620E5940A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29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6BAA7-522A-45F6-8B03-603B76FC6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36" t="32472" r="45393" b="33171"/>
          <a:stretch/>
        </p:blipFill>
        <p:spPr>
          <a:xfrm>
            <a:off x="443598" y="1497067"/>
            <a:ext cx="3604305" cy="2980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58A00-389F-41D2-8CCD-BBC5F6ACFE8B}"/>
              </a:ext>
            </a:extLst>
          </p:cNvPr>
          <p:cNvSpPr txBox="1"/>
          <p:nvPr/>
        </p:nvSpPr>
        <p:spPr>
          <a:xfrm>
            <a:off x="4396924" y="1678503"/>
            <a:ext cx="44999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Полное количество связей в кластере:</a:t>
            </a:r>
          </a:p>
          <a:p>
            <a:r>
              <a:rPr lang="en-US" dirty="0"/>
              <a:t>S = N*(N-1)/2</a:t>
            </a:r>
          </a:p>
          <a:p>
            <a:r>
              <a:rPr lang="en-US" dirty="0"/>
              <a:t>S=N*(N-1)</a:t>
            </a:r>
          </a:p>
          <a:p>
            <a:r>
              <a:rPr lang="ru-RU" dirty="0"/>
              <a:t>Кластеризация:</a:t>
            </a:r>
          </a:p>
          <a:p>
            <a:r>
              <a:rPr lang="en-US" dirty="0"/>
              <a:t>1&gt;</a:t>
            </a:r>
            <a:r>
              <a:rPr lang="ru-RU" dirty="0"/>
              <a:t>К </a:t>
            </a:r>
            <a:r>
              <a:rPr lang="en-US" dirty="0"/>
              <a:t>&gt;1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030387B5-6242-4FA8-8BE7-AC7DB967E851}"/>
              </a:ext>
            </a:extLst>
          </p:cNvPr>
          <p:cNvSpPr/>
          <p:nvPr/>
        </p:nvSpPr>
        <p:spPr>
          <a:xfrm>
            <a:off x="5412492" y="3289886"/>
            <a:ext cx="486862" cy="4645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Е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1A69A0F-2361-4EFE-B11F-6DF3D54C8EC7}"/>
              </a:ext>
            </a:extLst>
          </p:cNvPr>
          <p:cNvSpPr/>
          <p:nvPr/>
        </p:nvSpPr>
        <p:spPr>
          <a:xfrm>
            <a:off x="6366220" y="3866490"/>
            <a:ext cx="602987" cy="5456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ru-RU" dirty="0"/>
              <a:t>2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9E8CEF80-D765-49C9-96AB-BA99F79F2C0E}"/>
              </a:ext>
            </a:extLst>
          </p:cNvPr>
          <p:cNvSpPr/>
          <p:nvPr/>
        </p:nvSpPr>
        <p:spPr>
          <a:xfrm>
            <a:off x="6366221" y="2987311"/>
            <a:ext cx="510964" cy="4645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А1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0B666BD-5475-47F1-BC45-ADB87F735706}"/>
              </a:ext>
            </a:extLst>
          </p:cNvPr>
          <p:cNvCxnSpPr>
            <a:cxnSpLocks/>
            <a:stCxn id="3" idx="7"/>
            <a:endCxn id="9" idx="2"/>
          </p:cNvCxnSpPr>
          <p:nvPr/>
        </p:nvCxnSpPr>
        <p:spPr>
          <a:xfrm flipV="1">
            <a:off x="5828055" y="3219598"/>
            <a:ext cx="538166" cy="138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226719D-FDE3-42BB-82D1-31F74FCFC17E}"/>
              </a:ext>
            </a:extLst>
          </p:cNvPr>
          <p:cNvCxnSpPr>
            <a:cxnSpLocks/>
            <a:stCxn id="3" idx="5"/>
            <a:endCxn id="8" idx="1"/>
          </p:cNvCxnSpPr>
          <p:nvPr/>
        </p:nvCxnSpPr>
        <p:spPr>
          <a:xfrm>
            <a:off x="5828055" y="3686425"/>
            <a:ext cx="626470" cy="259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52D1EA3-D0FD-43A2-B870-351D0872843A}"/>
              </a:ext>
            </a:extLst>
          </p:cNvPr>
          <p:cNvCxnSpPr>
            <a:cxnSpLocks/>
            <a:stCxn id="8" idx="4"/>
            <a:endCxn id="3" idx="4"/>
          </p:cNvCxnSpPr>
          <p:nvPr/>
        </p:nvCxnSpPr>
        <p:spPr>
          <a:xfrm flipH="1" flipV="1">
            <a:off x="5655923" y="3754460"/>
            <a:ext cx="1011791" cy="657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E2D9375B-DFAE-4F59-B424-9457E7AFA581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6621703" y="3451885"/>
            <a:ext cx="0" cy="35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F5FCD4-44A4-4FF4-A035-5232D5ADC950}"/>
              </a:ext>
            </a:extLst>
          </p:cNvPr>
          <p:cNvSpPr txBox="1"/>
          <p:nvPr/>
        </p:nvSpPr>
        <p:spPr>
          <a:xfrm>
            <a:off x="5828055" y="29069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5135C0-0FBF-4568-8A64-6895BE72193A}"/>
              </a:ext>
            </a:extLst>
          </p:cNvPr>
          <p:cNvSpPr txBox="1"/>
          <p:nvPr/>
        </p:nvSpPr>
        <p:spPr>
          <a:xfrm>
            <a:off x="5977937" y="347583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5FB341-EBDD-467D-9B88-FBB68418B2BE}"/>
              </a:ext>
            </a:extLst>
          </p:cNvPr>
          <p:cNvSpPr txBox="1"/>
          <p:nvPr/>
        </p:nvSpPr>
        <p:spPr>
          <a:xfrm>
            <a:off x="5681643" y="404276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9997A2-3B18-496C-8877-D013DB34B82C}"/>
              </a:ext>
            </a:extLst>
          </p:cNvPr>
          <p:cNvSpPr txBox="1"/>
          <p:nvPr/>
        </p:nvSpPr>
        <p:spPr>
          <a:xfrm>
            <a:off x="6810251" y="34249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68941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473" y="136524"/>
            <a:ext cx="7611224" cy="836950"/>
          </a:xfrm>
        </p:spPr>
        <p:txBody>
          <a:bodyPr>
            <a:normAutofit/>
          </a:bodyPr>
          <a:lstStyle/>
          <a:p>
            <a:r>
              <a:rPr lang="ru-RU" dirty="0"/>
              <a:t>ПО визуализации графов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12" y="1119884"/>
            <a:ext cx="7886700" cy="4993240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Вручную </a:t>
            </a:r>
            <a:r>
              <a:rPr lang="ru-RU" dirty="0"/>
              <a:t>—</a:t>
            </a:r>
          </a:p>
          <a:p>
            <a:pPr lvl="1"/>
            <a:r>
              <a:rPr lang="en-US" dirty="0"/>
              <a:t>MS Visio</a:t>
            </a:r>
          </a:p>
          <a:p>
            <a:pPr lvl="1"/>
            <a:r>
              <a:rPr lang="en-US" dirty="0" err="1"/>
              <a:t>uDraw</a:t>
            </a:r>
            <a:r>
              <a:rPr lang="en-US" dirty="0"/>
              <a:t> Graph</a:t>
            </a:r>
            <a:r>
              <a:rPr lang="ru-RU" dirty="0"/>
              <a:t>.</a:t>
            </a:r>
          </a:p>
          <a:p>
            <a:r>
              <a:rPr lang="ru-RU" b="1" dirty="0"/>
              <a:t>Автоматизированные </a:t>
            </a:r>
            <a:r>
              <a:rPr lang="ru-RU" dirty="0"/>
              <a:t>— </a:t>
            </a:r>
          </a:p>
          <a:p>
            <a:pPr lvl="1"/>
            <a:r>
              <a:rPr lang="ru-RU" b="1" dirty="0" err="1"/>
              <a:t>Gephi</a:t>
            </a:r>
            <a:r>
              <a:rPr lang="ru-RU" dirty="0"/>
              <a:t> </a:t>
            </a:r>
            <a:r>
              <a:rPr lang="en-US" dirty="0"/>
              <a:t>(gephi.org) </a:t>
            </a:r>
            <a:r>
              <a:rPr lang="ru-RU" dirty="0"/>
              <a:t>– ПО с открытым кодом, служащее для визуализации социальных графов всех типов и способное реализовать построение графов, содержащих миллионы узлов. Кроме того, </a:t>
            </a:r>
            <a:r>
              <a:rPr lang="ru-RU" dirty="0" err="1"/>
              <a:t>Gephi</a:t>
            </a:r>
            <a:r>
              <a:rPr lang="ru-RU" dirty="0"/>
              <a:t> поддерживает все основные метрики и успешно используется в целях анализа.</a:t>
            </a:r>
          </a:p>
          <a:p>
            <a:pPr lvl="1"/>
            <a:r>
              <a:rPr lang="ru-RU" b="1" dirty="0" err="1"/>
              <a:t>GraphInsight</a:t>
            </a:r>
            <a:r>
              <a:rPr lang="ru-RU" dirty="0"/>
              <a:t> – инструмент, отличающийся великолепной масштабируемостью: с его помощью можно построить граф, состоящий из 5 миллионов вершин и 4 миллионов ребер.</a:t>
            </a:r>
          </a:p>
          <a:p>
            <a:pPr lvl="1"/>
            <a:r>
              <a:rPr lang="ru-RU" b="1" dirty="0" err="1"/>
              <a:t>Social</a:t>
            </a:r>
            <a:r>
              <a:rPr lang="ru-RU" b="1" dirty="0"/>
              <a:t> </a:t>
            </a:r>
            <a:r>
              <a:rPr lang="ru-RU" b="1" dirty="0" err="1"/>
              <a:t>Networks</a:t>
            </a:r>
            <a:r>
              <a:rPr lang="ru-RU" b="1" dirty="0"/>
              <a:t> </a:t>
            </a:r>
            <a:r>
              <a:rPr lang="ru-RU" b="1" dirty="0" err="1"/>
              <a:t>Visualizer</a:t>
            </a:r>
            <a:r>
              <a:rPr lang="ru-RU" b="1" dirty="0"/>
              <a:t> </a:t>
            </a:r>
            <a:r>
              <a:rPr lang="en-US" b="1" dirty="0"/>
              <a:t>(</a:t>
            </a:r>
            <a:r>
              <a:rPr lang="en-US" dirty="0">
                <a:hlinkClick r:id="rId3"/>
              </a:rPr>
              <a:t>https://socnetv.org/</a:t>
            </a:r>
            <a:r>
              <a:rPr lang="en-US" dirty="0"/>
              <a:t>) </a:t>
            </a:r>
            <a:r>
              <a:rPr lang="ru-RU" dirty="0"/>
              <a:t>–позволяет не только автоматизировать визуализацию, но и изучить социальные и математические параметры графа, а также модифицировать его внешний вид под собственные нужды</a:t>
            </a:r>
            <a:endParaRPr lang="en-US" dirty="0"/>
          </a:p>
          <a:p>
            <a:pPr lvl="1"/>
            <a:r>
              <a:rPr lang="ru-RU" b="1" dirty="0" err="1"/>
              <a:t>Cytoscape</a:t>
            </a:r>
            <a:r>
              <a:rPr lang="ru-RU" dirty="0"/>
              <a:t> – разносторонний инструмент, служащий не только для визуализации, но и для всего комплекса работ с социальными сетями, включая интеграцию данных и анализ самой сети.</a:t>
            </a:r>
          </a:p>
          <a:p>
            <a:pPr lvl="1"/>
            <a:r>
              <a:rPr lang="en-US" b="1" dirty="0"/>
              <a:t>Boost</a:t>
            </a:r>
            <a:r>
              <a:rPr lang="en-US" dirty="0"/>
              <a:t> – </a:t>
            </a:r>
            <a:r>
              <a:rPr lang="ru-RU" dirty="0"/>
              <a:t>библиотеки </a:t>
            </a:r>
            <a:r>
              <a:rPr lang="en-US" b="1" dirty="0"/>
              <a:t>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6265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611224" cy="836950"/>
          </a:xfrm>
        </p:spPr>
        <p:txBody>
          <a:bodyPr>
            <a:normAutofit/>
          </a:bodyPr>
          <a:lstStyle/>
          <a:p>
            <a:r>
              <a:rPr lang="ru-RU" dirty="0"/>
              <a:t>Важные типы графов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31</a:t>
            </a:fld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A219B3-E612-40CD-954B-7E6979393B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55" t="37665" r="15843" b="32911"/>
          <a:stretch/>
        </p:blipFill>
        <p:spPr>
          <a:xfrm>
            <a:off x="232376" y="2075381"/>
            <a:ext cx="8763921" cy="212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75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473" y="136524"/>
            <a:ext cx="7611224" cy="836950"/>
          </a:xfrm>
        </p:spPr>
        <p:txBody>
          <a:bodyPr>
            <a:normAutofit/>
          </a:bodyPr>
          <a:lstStyle/>
          <a:p>
            <a:r>
              <a:rPr lang="ru-RU" dirty="0"/>
              <a:t>Маршрут в графе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997" y="973474"/>
            <a:ext cx="7886700" cy="3045894"/>
          </a:xfrm>
        </p:spPr>
        <p:txBody>
          <a:bodyPr>
            <a:normAutofit/>
          </a:bodyPr>
          <a:lstStyle/>
          <a:p>
            <a:r>
              <a:rPr lang="ru-RU" b="1" dirty="0"/>
              <a:t>Маршрут в графе — </a:t>
            </a:r>
            <a:r>
              <a:rPr lang="ru-RU" dirty="0"/>
              <a:t>чередующаяся последовательность вершин и рёбер</a:t>
            </a:r>
            <a:r>
              <a:rPr lang="en-US" dirty="0"/>
              <a:t>: v1-u1-v2-u2-v3-…</a:t>
            </a:r>
            <a:r>
              <a:rPr lang="en-US" dirty="0" err="1"/>
              <a:t>vN</a:t>
            </a:r>
            <a:r>
              <a:rPr lang="en-US" dirty="0"/>
              <a:t>, </a:t>
            </a:r>
            <a:r>
              <a:rPr lang="ru-RU" dirty="0"/>
              <a:t>в которой любые два соседних элемента инцидентны. </a:t>
            </a:r>
          </a:p>
          <a:p>
            <a:r>
              <a:rPr lang="ru-RU" b="1" dirty="0"/>
              <a:t>Путь</a:t>
            </a:r>
            <a:r>
              <a:rPr lang="ru-RU" dirty="0"/>
              <a:t> в </a:t>
            </a:r>
            <a:r>
              <a:rPr lang="ru-RU" b="1" dirty="0"/>
              <a:t>графе</a:t>
            </a:r>
            <a:r>
              <a:rPr lang="ru-RU" dirty="0"/>
              <a:t> — последовательность вершин, в которой каждая вершина соединена со следующей ребром</a:t>
            </a:r>
            <a:endParaRPr lang="en-US" dirty="0"/>
          </a:p>
          <a:p>
            <a:r>
              <a:rPr lang="ru-RU" dirty="0"/>
              <a:t>Если</a:t>
            </a:r>
            <a:r>
              <a:rPr lang="ru-RU" b="1" dirty="0"/>
              <a:t> </a:t>
            </a:r>
            <a:r>
              <a:rPr lang="en-US" dirty="0"/>
              <a:t>v0=</a:t>
            </a:r>
            <a:r>
              <a:rPr lang="en-US" dirty="0" err="1"/>
              <a:t>vN</a:t>
            </a:r>
            <a:r>
              <a:rPr lang="en-US" b="1" dirty="0"/>
              <a:t>, </a:t>
            </a:r>
            <a:r>
              <a:rPr lang="ru-RU" b="1" dirty="0"/>
              <a:t>то маршрут замкнут, иначе открыт.</a:t>
            </a:r>
          </a:p>
          <a:p>
            <a:r>
              <a:rPr lang="ru-RU" dirty="0"/>
              <a:t>Маршрут, в котором все рёбра попарно различны, называется</a:t>
            </a:r>
            <a:r>
              <a:rPr lang="ru-RU" b="1" dirty="0"/>
              <a:t> цепью. </a:t>
            </a:r>
            <a:r>
              <a:rPr lang="ru-RU" dirty="0"/>
              <a:t>Замкнутый маршрут, являющийся цепью, называется </a:t>
            </a:r>
            <a:r>
              <a:rPr lang="ru-RU" b="1" dirty="0"/>
              <a:t>циклом.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32</a:t>
            </a:fld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161B1E-4FF3-45A8-8AD0-B6794D29F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03" y="3740940"/>
            <a:ext cx="7059780" cy="26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08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473" y="136524"/>
            <a:ext cx="7611224" cy="836950"/>
          </a:xfrm>
        </p:spPr>
        <p:txBody>
          <a:bodyPr>
            <a:normAutofit/>
          </a:bodyPr>
          <a:lstStyle/>
          <a:p>
            <a:r>
              <a:rPr lang="ru-RU" dirty="0"/>
              <a:t>Связность графа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997" y="1192397"/>
            <a:ext cx="7886700" cy="836950"/>
          </a:xfrm>
        </p:spPr>
        <p:txBody>
          <a:bodyPr>
            <a:normAutofit/>
          </a:bodyPr>
          <a:lstStyle/>
          <a:p>
            <a:r>
              <a:rPr lang="ru-RU" dirty="0"/>
              <a:t>Граф называется связным, если между любыми двумя его вершинами существует маршрут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33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48816-454E-402E-A3A4-1605DBB5E6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963"/>
          <a:stretch/>
        </p:blipFill>
        <p:spPr>
          <a:xfrm>
            <a:off x="898272" y="2658048"/>
            <a:ext cx="3673728" cy="2615411"/>
          </a:xfrm>
          <a:prstGeom prst="rect">
            <a:avLst/>
          </a:prstGeom>
        </p:spPr>
      </p:pic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4065F89-5D25-4921-883B-3217F5A07A3A}"/>
              </a:ext>
            </a:extLst>
          </p:cNvPr>
          <p:cNvSpPr/>
          <p:nvPr/>
        </p:nvSpPr>
        <p:spPr>
          <a:xfrm>
            <a:off x="5661061" y="2987588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4BD6451-275A-46D8-B2AB-F5C3B1B01BBF}"/>
              </a:ext>
            </a:extLst>
          </p:cNvPr>
          <p:cNvSpPr/>
          <p:nvPr/>
        </p:nvSpPr>
        <p:spPr>
          <a:xfrm>
            <a:off x="5661061" y="3965753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AEB78AE-5361-44AE-8943-250AAC61F565}"/>
              </a:ext>
            </a:extLst>
          </p:cNvPr>
          <p:cNvSpPr/>
          <p:nvPr/>
        </p:nvSpPr>
        <p:spPr>
          <a:xfrm>
            <a:off x="6678203" y="3429000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6A7F6FFC-C363-430A-A41D-739E146E7FAF}"/>
              </a:ext>
            </a:extLst>
          </p:cNvPr>
          <p:cNvSpPr/>
          <p:nvPr/>
        </p:nvSpPr>
        <p:spPr>
          <a:xfrm>
            <a:off x="7695345" y="2636206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6518D8F9-490F-485A-B60D-EADD8CD42F9F}"/>
              </a:ext>
            </a:extLst>
          </p:cNvPr>
          <p:cNvSpPr/>
          <p:nvPr/>
        </p:nvSpPr>
        <p:spPr>
          <a:xfrm>
            <a:off x="7695345" y="4186459"/>
            <a:ext cx="421240" cy="44141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5026DE-CF37-428F-BD74-93E53CB6C386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5871681" y="3429000"/>
            <a:ext cx="0" cy="536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7F3C77-24A1-4FE3-AC44-B314585585FB}"/>
              </a:ext>
            </a:extLst>
          </p:cNvPr>
          <p:cNvCxnSpPr>
            <a:cxnSpLocks/>
            <a:stCxn id="6" idx="6"/>
            <a:endCxn id="8" idx="1"/>
          </p:cNvCxnSpPr>
          <p:nvPr/>
        </p:nvCxnSpPr>
        <p:spPr>
          <a:xfrm>
            <a:off x="6082301" y="3208294"/>
            <a:ext cx="657591" cy="285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F7984D-5CA3-4915-8DCD-5ACDF0A71015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6024082" y="3805769"/>
            <a:ext cx="715810" cy="312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14F343-C3EB-4891-ADEC-89EC65BE724A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7905965" y="3077618"/>
            <a:ext cx="0" cy="1108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135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87330"/>
            <a:ext cx="8866598" cy="92592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Простой алгоритм определения связности графа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368" y="1194486"/>
            <a:ext cx="8441504" cy="4341790"/>
          </a:xfrm>
        </p:spPr>
        <p:txBody>
          <a:bodyPr>
            <a:noAutofit/>
          </a:bodyPr>
          <a:lstStyle/>
          <a:p>
            <a:r>
              <a:rPr lang="ru-RU" sz="1100" dirty="0"/>
              <a:t>Разделим все вершины графа на три разновидности:</a:t>
            </a:r>
          </a:p>
          <a:p>
            <a:pPr marL="457200" lvl="1" indent="0">
              <a:buNone/>
            </a:pPr>
            <a:r>
              <a:rPr lang="ru-RU" sz="1100" dirty="0"/>
              <a:t>1 - Вершины, про которые ничего не известно; </a:t>
            </a:r>
          </a:p>
          <a:p>
            <a:pPr marL="457200" lvl="1" indent="0">
              <a:buNone/>
            </a:pPr>
            <a:r>
              <a:rPr lang="ru-RU" sz="1100" dirty="0"/>
              <a:t>2 - Вершины, про которые известно, что они могут быть достигнуты из начальной вершины и которые не были обработаны. </a:t>
            </a:r>
          </a:p>
          <a:p>
            <a:pPr marL="457200" lvl="1" indent="0">
              <a:buNone/>
            </a:pPr>
            <a:r>
              <a:rPr lang="ru-RU" sz="1100" dirty="0"/>
              <a:t>3 - Вершины, про которые известно, что они могут быть достигнуты из начальной вершины и которые были обработаны.</a:t>
            </a:r>
          </a:p>
          <a:p>
            <a:pPr marL="0" lvl="1" indent="0">
              <a:buNone/>
            </a:pPr>
            <a:r>
              <a:rPr lang="ru-RU" sz="1100" b="1" dirty="0"/>
              <a:t>1. Первоначальная разметка</a:t>
            </a:r>
          </a:p>
          <a:p>
            <a:pPr marL="0" lvl="1" indent="0">
              <a:buNone/>
            </a:pPr>
            <a:r>
              <a:rPr lang="ru-RU" sz="1100" dirty="0"/>
              <a:t>Пометим все вершины первым маркером - нам про них ничего не известно</a:t>
            </a:r>
          </a:p>
          <a:p>
            <a:pPr marL="0" lvl="1" indent="0">
              <a:buNone/>
            </a:pPr>
            <a:r>
              <a:rPr lang="ru-RU" sz="1100" dirty="0"/>
              <a:t>Выберем любую вершину (например первую (или нулевую)), пометим ее вторым маркером, ведь она может быть достигнута сама из себя.</a:t>
            </a:r>
          </a:p>
          <a:p>
            <a:pPr marL="0" lvl="1" indent="0">
              <a:buNone/>
            </a:pPr>
            <a:endParaRPr lang="ru-RU" sz="1100" dirty="0"/>
          </a:p>
          <a:p>
            <a:pPr marL="0" lvl="1" indent="0">
              <a:buNone/>
            </a:pPr>
            <a:r>
              <a:rPr lang="ru-RU" sz="1100" b="1" dirty="0"/>
              <a:t> 2. Разметка соседних вершин</a:t>
            </a:r>
          </a:p>
          <a:p>
            <a:pPr marL="0" lvl="1" indent="0">
              <a:buNone/>
            </a:pPr>
            <a:r>
              <a:rPr lang="ru-RU" sz="1100" dirty="0"/>
              <a:t>Выберем любую вершину, помеченную вторым маркером. Пометим ее третьим маркером. Все вершины, соседние с данной и помеченные первым маркером, пометим вторым маркером. Повторим этот пункт с начала.</a:t>
            </a:r>
          </a:p>
          <a:p>
            <a:pPr marL="0" lvl="1" indent="0">
              <a:buNone/>
            </a:pPr>
            <a:endParaRPr lang="ru-RU" sz="1100" dirty="0"/>
          </a:p>
          <a:p>
            <a:pPr marL="0" lvl="1" indent="0">
              <a:buNone/>
            </a:pPr>
            <a:r>
              <a:rPr lang="ru-RU" sz="1100" b="1" dirty="0"/>
              <a:t>3. Завершение работы</a:t>
            </a:r>
          </a:p>
          <a:p>
            <a:pPr marL="0" lvl="1" indent="0">
              <a:buNone/>
            </a:pPr>
            <a:r>
              <a:rPr lang="ru-RU" sz="1100" dirty="0"/>
              <a:t>Если нужно получить список вершин, не входящих ни в одну компоненту связности с заданной вершиной, то выбираем вершины, помеченные первым маркером в отдельный массив и возвращаем полученный массив.</a:t>
            </a:r>
          </a:p>
          <a:p>
            <a:pPr marL="0" lvl="1" indent="0">
              <a:buNone/>
            </a:pPr>
            <a:endParaRPr lang="ru-RU" sz="1100" dirty="0"/>
          </a:p>
          <a:p>
            <a:pPr marL="0" lvl="1" indent="0">
              <a:buNone/>
            </a:pPr>
            <a:r>
              <a:rPr lang="ru-RU" sz="1100" dirty="0"/>
              <a:t>Если нужно просто проверить граф на связность, то считаем вершины, помеченные первым маркером, и сравниваем получившееся число с нулем. Если число вершин, помеченные первым маркером, равно нулю, то граф связный.</a:t>
            </a:r>
          </a:p>
        </p:txBody>
      </p:sp>
    </p:spTree>
    <p:extLst>
      <p:ext uri="{BB962C8B-B14F-4D97-AF65-F5344CB8AC3E}">
        <p14:creationId xmlns:p14="http://schemas.microsoft.com/office/powerpoint/2010/main" val="2640386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671E-A52D-49D1-95C0-C0916B42D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064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BEEAA-31A8-4A39-B9E5-B189B9855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67" y="1078787"/>
            <a:ext cx="6034783" cy="4880224"/>
          </a:xfrm>
        </p:spPr>
        <p:txBody>
          <a:bodyPr/>
          <a:lstStyle/>
          <a:p>
            <a:r>
              <a:rPr lang="ru-RU" dirty="0"/>
              <a:t>Всем вершинам присвоим маркер 1</a:t>
            </a:r>
          </a:p>
          <a:p>
            <a:r>
              <a:rPr lang="ru-RU" dirty="0"/>
              <a:t>Выберем вершину 2 и пометим ее маркером 2</a:t>
            </a:r>
          </a:p>
          <a:p>
            <a:r>
              <a:rPr lang="ru-RU" dirty="0"/>
              <a:t>Пометим вершину 2 маркером 3, т.к. она связана с другими вершинами</a:t>
            </a:r>
          </a:p>
          <a:p>
            <a:r>
              <a:rPr lang="ru-RU" dirty="0"/>
              <a:t>Пометим вершины 1,3,5 маркером 2</a:t>
            </a:r>
          </a:p>
          <a:p>
            <a:r>
              <a:rPr lang="ru-RU" dirty="0"/>
              <a:t>Выберем вершину 1 и пометим ее маркером 3</a:t>
            </a:r>
          </a:p>
          <a:p>
            <a:r>
              <a:rPr lang="ru-RU" dirty="0"/>
              <a:t>Выберем вершину 5 и пометим ее маркером 3. Связанную с ней вершину 4 пометим маркером 2</a:t>
            </a:r>
          </a:p>
          <a:p>
            <a:r>
              <a:rPr lang="ru-RU" dirty="0"/>
              <a:t>Выберем вершину 3 и пометим ее маркером 3</a:t>
            </a:r>
          </a:p>
          <a:p>
            <a:r>
              <a:rPr lang="ru-RU" dirty="0"/>
              <a:t>Выберем вершину 4 и пометим ее маркером 3. Вершину 6 пометим маркером 2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954BF-A661-4CD8-91E1-9C56F3EEB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35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DBE473-AABB-49C7-A36E-49F6E0D33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572"/>
          <a:stretch/>
        </p:blipFill>
        <p:spPr>
          <a:xfrm>
            <a:off x="6534363" y="1926085"/>
            <a:ext cx="2430555" cy="26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453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16D4-9DF9-490E-B912-80CBE0BA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39692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Задача. Определить связность</a:t>
            </a:r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EC55C-6DEB-4BD9-AAE4-20074E123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36</a:t>
            </a:fld>
            <a:endParaRPr lang="ru-RU" dirty="0"/>
          </a:p>
        </p:txBody>
      </p:sp>
      <p:pic>
        <p:nvPicPr>
          <p:cNvPr id="5" name="Picture 4" descr="A picture containing indoor, laptop, computer, looking&#10;&#10;Description automatically generated">
            <a:extLst>
              <a:ext uri="{FF2B5EF4-FFF2-40B4-BE49-F238E27FC236}">
                <a16:creationId xmlns:a16="http://schemas.microsoft.com/office/drawing/2014/main" id="{8A509773-EAB5-444B-84B6-3C76A4657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9597" y="1637595"/>
            <a:ext cx="4201570" cy="226601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8D0BBD-2B31-4B6C-8BEA-5A45CB389D1D}"/>
              </a:ext>
            </a:extLst>
          </p:cNvPr>
          <p:cNvCxnSpPr>
            <a:cxnSpLocks/>
          </p:cNvCxnSpPr>
          <p:nvPr/>
        </p:nvCxnSpPr>
        <p:spPr>
          <a:xfrm flipV="1">
            <a:off x="999637" y="2453752"/>
            <a:ext cx="518983" cy="1202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2571E8-216C-4AAD-BE10-054479B0F545}"/>
              </a:ext>
            </a:extLst>
          </p:cNvPr>
          <p:cNvCxnSpPr>
            <a:cxnSpLocks/>
          </p:cNvCxnSpPr>
          <p:nvPr/>
        </p:nvCxnSpPr>
        <p:spPr>
          <a:xfrm flipV="1">
            <a:off x="1613356" y="1844152"/>
            <a:ext cx="1215081" cy="4983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D70033-1746-4A7E-AEBC-9EDE7452512A}"/>
              </a:ext>
            </a:extLst>
          </p:cNvPr>
          <p:cNvCxnSpPr>
            <a:cxnSpLocks/>
          </p:cNvCxnSpPr>
          <p:nvPr/>
        </p:nvCxnSpPr>
        <p:spPr>
          <a:xfrm>
            <a:off x="1613356" y="2453752"/>
            <a:ext cx="671383" cy="6755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23B3CA-303A-40EE-8A0E-5A5F0EB49D26}"/>
              </a:ext>
            </a:extLst>
          </p:cNvPr>
          <p:cNvCxnSpPr>
            <a:cxnSpLocks/>
          </p:cNvCxnSpPr>
          <p:nvPr/>
        </p:nvCxnSpPr>
        <p:spPr>
          <a:xfrm flipV="1">
            <a:off x="2379475" y="1984195"/>
            <a:ext cx="448962" cy="1070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1C5E510-A019-4553-B32F-DE1E5BD996E1}"/>
              </a:ext>
            </a:extLst>
          </p:cNvPr>
          <p:cNvCxnSpPr>
            <a:cxnSpLocks/>
          </p:cNvCxnSpPr>
          <p:nvPr/>
        </p:nvCxnSpPr>
        <p:spPr>
          <a:xfrm flipH="1">
            <a:off x="1123204" y="3166328"/>
            <a:ext cx="1161535" cy="490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85336F-2865-426B-A0CE-96EDDDE9C8D5}"/>
              </a:ext>
            </a:extLst>
          </p:cNvPr>
          <p:cNvCxnSpPr>
            <a:cxnSpLocks/>
          </p:cNvCxnSpPr>
          <p:nvPr/>
        </p:nvCxnSpPr>
        <p:spPr>
          <a:xfrm flipH="1" flipV="1">
            <a:off x="1123205" y="3710023"/>
            <a:ext cx="3657599" cy="144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A3C121-958C-431F-BE52-67307D3B8ED2}"/>
              </a:ext>
            </a:extLst>
          </p:cNvPr>
          <p:cNvCxnSpPr>
            <a:cxnSpLocks/>
          </p:cNvCxnSpPr>
          <p:nvPr/>
        </p:nvCxnSpPr>
        <p:spPr>
          <a:xfrm>
            <a:off x="2982896" y="1844152"/>
            <a:ext cx="1155357" cy="4911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616D9D-EF94-41FC-A5A3-CA94142F0A58}"/>
              </a:ext>
            </a:extLst>
          </p:cNvPr>
          <p:cNvCxnSpPr>
            <a:cxnSpLocks/>
          </p:cNvCxnSpPr>
          <p:nvPr/>
        </p:nvCxnSpPr>
        <p:spPr>
          <a:xfrm flipH="1">
            <a:off x="3560574" y="2463744"/>
            <a:ext cx="577679" cy="591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CBD7A5-F74D-4161-8476-05C5D5ECA911}"/>
              </a:ext>
            </a:extLst>
          </p:cNvPr>
          <p:cNvCxnSpPr>
            <a:cxnSpLocks/>
          </p:cNvCxnSpPr>
          <p:nvPr/>
        </p:nvCxnSpPr>
        <p:spPr>
          <a:xfrm>
            <a:off x="2952004" y="1924166"/>
            <a:ext cx="494270" cy="11309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269BFB-76F9-4688-A5B9-1ECDA6FE5A3C}"/>
              </a:ext>
            </a:extLst>
          </p:cNvPr>
          <p:cNvCxnSpPr>
            <a:cxnSpLocks/>
          </p:cNvCxnSpPr>
          <p:nvPr/>
        </p:nvCxnSpPr>
        <p:spPr>
          <a:xfrm>
            <a:off x="3560574" y="3219868"/>
            <a:ext cx="1129614" cy="4366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9BF99E-7A66-4651-B2C1-AC66B6E44DAF}"/>
              </a:ext>
            </a:extLst>
          </p:cNvPr>
          <p:cNvCxnSpPr>
            <a:cxnSpLocks/>
          </p:cNvCxnSpPr>
          <p:nvPr/>
        </p:nvCxnSpPr>
        <p:spPr>
          <a:xfrm flipH="1" flipV="1">
            <a:off x="4335961" y="2519655"/>
            <a:ext cx="444843" cy="1093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EE12C5A-2891-473A-8887-8241050113AD}"/>
              </a:ext>
            </a:extLst>
          </p:cNvPr>
          <p:cNvSpPr txBox="1"/>
          <p:nvPr/>
        </p:nvSpPr>
        <p:spPr>
          <a:xfrm>
            <a:off x="628650" y="3724438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C790B8-0601-427D-9121-B5A471E0AAB5}"/>
              </a:ext>
            </a:extLst>
          </p:cNvPr>
          <p:cNvSpPr txBox="1"/>
          <p:nvPr/>
        </p:nvSpPr>
        <p:spPr>
          <a:xfrm>
            <a:off x="1108329" y="2084420"/>
            <a:ext cx="42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ru-RU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80FB0B-7133-477A-B738-A31106878C11}"/>
              </a:ext>
            </a:extLst>
          </p:cNvPr>
          <p:cNvSpPr txBox="1"/>
          <p:nvPr/>
        </p:nvSpPr>
        <p:spPr>
          <a:xfrm>
            <a:off x="2252818" y="3219868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A5CAD8-3230-48BE-B6AF-EAA729DDA2E6}"/>
              </a:ext>
            </a:extLst>
          </p:cNvPr>
          <p:cNvSpPr txBox="1"/>
          <p:nvPr/>
        </p:nvSpPr>
        <p:spPr>
          <a:xfrm>
            <a:off x="2659561" y="1369786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2EC37E-8AEB-4349-9830-F594436B8223}"/>
              </a:ext>
            </a:extLst>
          </p:cNvPr>
          <p:cNvSpPr txBox="1"/>
          <p:nvPr/>
        </p:nvSpPr>
        <p:spPr>
          <a:xfrm>
            <a:off x="4292197" y="1980075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endParaRPr lang="ru-RU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97ECD4-F5C7-43A3-A3C0-C93BA7E026CF}"/>
              </a:ext>
            </a:extLst>
          </p:cNvPr>
          <p:cNvSpPr txBox="1"/>
          <p:nvPr/>
        </p:nvSpPr>
        <p:spPr>
          <a:xfrm>
            <a:off x="3155891" y="3206787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endParaRPr lang="ru-RU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F1430A-79D9-4DDA-AF01-FDB7439BC9DE}"/>
              </a:ext>
            </a:extLst>
          </p:cNvPr>
          <p:cNvSpPr txBox="1"/>
          <p:nvPr/>
        </p:nvSpPr>
        <p:spPr>
          <a:xfrm>
            <a:off x="4812726" y="3814025"/>
            <a:ext cx="337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5832AF-65BA-4C31-AC8A-E01151E2722A}"/>
              </a:ext>
            </a:extLst>
          </p:cNvPr>
          <p:cNvSpPr txBox="1"/>
          <p:nvPr/>
        </p:nvSpPr>
        <p:spPr>
          <a:xfrm>
            <a:off x="5134734" y="1304819"/>
            <a:ext cx="27789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A,b,c,d,e,f,g</a:t>
            </a:r>
            <a:r>
              <a:rPr lang="en-US" dirty="0"/>
              <a:t> =1</a:t>
            </a:r>
          </a:p>
          <a:p>
            <a:r>
              <a:rPr lang="en-US" dirty="0"/>
              <a:t>A=2, </a:t>
            </a:r>
            <a:r>
              <a:rPr lang="en-US" dirty="0" err="1"/>
              <a:t>b,c,d,e,f,g</a:t>
            </a:r>
            <a:r>
              <a:rPr lang="en-US" dirty="0"/>
              <a:t> =1</a:t>
            </a:r>
          </a:p>
          <a:p>
            <a:r>
              <a:rPr lang="en-US" dirty="0"/>
              <a:t>A=3,b=2, </a:t>
            </a:r>
            <a:r>
              <a:rPr lang="en-US" dirty="0" err="1"/>
              <a:t>c,d,e,f,g</a:t>
            </a:r>
            <a:r>
              <a:rPr lang="en-US" dirty="0"/>
              <a:t> =1</a:t>
            </a:r>
          </a:p>
          <a:p>
            <a:r>
              <a:rPr lang="en-US" dirty="0"/>
              <a:t>A=3,b=3,c,d=2, </a:t>
            </a:r>
            <a:r>
              <a:rPr lang="en-US" dirty="0" err="1"/>
              <a:t>e,f,g</a:t>
            </a:r>
            <a:r>
              <a:rPr lang="en-US" dirty="0"/>
              <a:t> =1</a:t>
            </a:r>
          </a:p>
          <a:p>
            <a:r>
              <a:rPr lang="en-US" dirty="0" err="1"/>
              <a:t>A,b</a:t>
            </a:r>
            <a:r>
              <a:rPr lang="en-US" dirty="0"/>
              <a:t>=3,c=3,d=2, </a:t>
            </a:r>
            <a:r>
              <a:rPr lang="en-US" dirty="0" err="1"/>
              <a:t>e,f,g</a:t>
            </a:r>
            <a:r>
              <a:rPr lang="en-US" dirty="0"/>
              <a:t> =1</a:t>
            </a:r>
          </a:p>
          <a:p>
            <a:r>
              <a:rPr lang="en-US" dirty="0" err="1"/>
              <a:t>A,b,c</a:t>
            </a:r>
            <a:r>
              <a:rPr lang="en-US" dirty="0"/>
              <a:t>=3,d=3, </a:t>
            </a:r>
            <a:r>
              <a:rPr lang="en-US" dirty="0" err="1"/>
              <a:t>e,f</a:t>
            </a:r>
            <a:r>
              <a:rPr lang="en-US" dirty="0"/>
              <a:t>=2, g=1</a:t>
            </a:r>
          </a:p>
          <a:p>
            <a:r>
              <a:rPr lang="en-US" dirty="0" err="1"/>
              <a:t>a.b.c.d</a:t>
            </a:r>
            <a:r>
              <a:rPr lang="en-US" dirty="0"/>
              <a:t>=3; e=3, f=2, g=1</a:t>
            </a:r>
          </a:p>
          <a:p>
            <a:r>
              <a:rPr lang="en-US" dirty="0" err="1"/>
              <a:t>A,b,c,d,e</a:t>
            </a:r>
            <a:r>
              <a:rPr lang="en-US" dirty="0"/>
              <a:t>=3, f=3, g=2</a:t>
            </a:r>
          </a:p>
          <a:p>
            <a:r>
              <a:rPr lang="en-US" dirty="0" err="1"/>
              <a:t>A,b,c,d,e,f</a:t>
            </a:r>
            <a:r>
              <a:rPr lang="en-US" dirty="0"/>
              <a:t>; g=3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421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2C4F-E4A7-424D-A39E-615D09611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9392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Дополнительная задача.</a:t>
            </a:r>
            <a:br>
              <a:rPr lang="ru-RU" dirty="0"/>
            </a:br>
            <a:r>
              <a:rPr lang="ru-RU" dirty="0"/>
              <a:t>Определить связность орграфа</a:t>
            </a:r>
            <a:r>
              <a:rPr lang="en-US" dirty="0"/>
              <a:t> – 15-20+</a:t>
            </a:r>
            <a:r>
              <a:rPr lang="ru-RU" dirty="0"/>
              <a:t>перерыв=15-35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0DEC1-5E88-4241-9253-1C5210A66B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37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623F32-5C41-48B8-B447-F19F08425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56" y="1734232"/>
            <a:ext cx="4211594" cy="421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68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30" y="34714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поиска </a:t>
            </a:r>
            <a:br>
              <a:rPr lang="ru-RU" dirty="0"/>
            </a:br>
            <a:r>
              <a:rPr lang="ru-RU" dirty="0"/>
              <a:t>кратчайшего пути на графе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731" y="1489754"/>
            <a:ext cx="8289319" cy="4171307"/>
          </a:xfrm>
        </p:spPr>
        <p:txBody>
          <a:bodyPr>
            <a:normAutofit/>
          </a:bodyPr>
          <a:lstStyle/>
          <a:p>
            <a:r>
              <a:rPr lang="ru-RU" u="sng" dirty="0" err="1"/>
              <a:t>Зада́ча</a:t>
            </a:r>
            <a:r>
              <a:rPr lang="ru-RU" u="sng" dirty="0"/>
              <a:t> о </a:t>
            </a:r>
            <a:r>
              <a:rPr lang="ru-RU" u="sng" dirty="0" err="1"/>
              <a:t>кратча́йшем</a:t>
            </a:r>
            <a:r>
              <a:rPr lang="ru-RU" u="sng" dirty="0"/>
              <a:t> пути́ </a:t>
            </a:r>
            <a:r>
              <a:rPr lang="ru-RU" dirty="0"/>
              <a:t>— задача поиска самого короткого пути (цепи) между двумя точками (вершинами) на графе, в которой минимизируется сумма весов рёбер, составляющих путь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38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555C9-9707-42EA-8DB5-832FF4CDCB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310"/>
          <a:stretch/>
        </p:blipFill>
        <p:spPr>
          <a:xfrm>
            <a:off x="2315922" y="2741631"/>
            <a:ext cx="3707070" cy="28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65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30" y="34714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Разновидности задачи поиска кратчайшего пути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97" y="1489754"/>
            <a:ext cx="8486454" cy="457199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Задача о кратчайшем пути в заданный пункт назначения. Требуется найти кратчайший путь в заданную вершину назначения t, который начинается в каждой из вершин графа (кроме t). Поменяв направление каждого принадлежащего графу ребра, эту задачу можно свести к задаче о единой исходной вершине (в которой осуществляется поиск кратчайшего пути из заданной вершины во все остальные).</a:t>
            </a:r>
          </a:p>
          <a:p>
            <a:r>
              <a:rPr lang="ru-RU" dirty="0"/>
              <a:t>Задача о кратчайшем пути между заданной парой вершин. Требуется найти кратчайший путь из заданной вершины u в заданную вершину v.</a:t>
            </a:r>
          </a:p>
          <a:p>
            <a:r>
              <a:rPr lang="ru-RU" dirty="0"/>
              <a:t>Задача о кратчайшем пути между всеми парами вершин. Требуется найти кратчайший путь из каждой вершины u в каждую вершину v. Эту задачу тоже можно решить с помощью алгоритма, предназначенного для решения задачи об одной исходной вершине, однако обычно она решается быстрее.</a:t>
            </a:r>
          </a:p>
          <a:p>
            <a:r>
              <a:rPr lang="ru-RU" dirty="0"/>
              <a:t>Задача поиска максимально длинного пути (например, критического пути на сетевой диаграмме проекта). Задача аналогична поиску кратчайшего пути, если инвертировать веса дуг (длительности задач)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36312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30" y="347144"/>
            <a:ext cx="8289319" cy="849795"/>
          </a:xfrm>
        </p:spPr>
        <p:txBody>
          <a:bodyPr>
            <a:normAutofit/>
          </a:bodyPr>
          <a:lstStyle/>
          <a:p>
            <a:r>
              <a:rPr lang="ru-RU" dirty="0"/>
              <a:t>Общий обзор алгоритмов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97" y="1489755"/>
            <a:ext cx="8486454" cy="438706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Алгоритм Ли (волновой алгоритм) - </a:t>
            </a:r>
            <a:r>
              <a:rPr lang="ru-RU" dirty="0"/>
              <a:t>находит путь между вершинами s и t графа (s не совпадает с t), содержащий минимальное количество промежуточных вершин (рёбер). Основное применение — трассировки электрических соединений на кристаллах микросхем и на печатных платах. Также используется для поиска кратчайшего расстояния на карте в стратегических играх</a:t>
            </a:r>
            <a:endParaRPr lang="en-US" dirty="0"/>
          </a:p>
          <a:p>
            <a:r>
              <a:rPr lang="ru-RU" b="1" dirty="0"/>
              <a:t>Алгоритм </a:t>
            </a:r>
            <a:r>
              <a:rPr lang="ru-RU" b="1" dirty="0" err="1"/>
              <a:t>Дейкстры</a:t>
            </a:r>
            <a:r>
              <a:rPr lang="ru-RU" b="1" dirty="0"/>
              <a:t> </a:t>
            </a:r>
            <a:r>
              <a:rPr lang="ru-RU" dirty="0"/>
              <a:t>находит кратчайший путь от одной из вершин графа до всех остальных. Алгоритм работает только для графов без рёбер отрицательного веса.</a:t>
            </a:r>
          </a:p>
          <a:p>
            <a:r>
              <a:rPr lang="ru-RU" b="1" dirty="0"/>
              <a:t>Алгоритм Беллмана — Форда </a:t>
            </a:r>
            <a:r>
              <a:rPr lang="ru-RU" dirty="0"/>
              <a:t>находит кратчайшие пути от одной вершины графа до всех остальных во взвешенном графе. Вес рёбер может быть отрицательным.</a:t>
            </a:r>
          </a:p>
          <a:p>
            <a:r>
              <a:rPr lang="ru-RU" b="1" dirty="0"/>
              <a:t>Алгоритм поиска A* </a:t>
            </a:r>
            <a:r>
              <a:rPr lang="ru-RU" dirty="0"/>
              <a:t>находит маршрут с наименьшей стоимостью от одной вершины (начальной) к другой (целевой, конечной), используя алгоритм поиска по первому наилучшему совпадению на графе.</a:t>
            </a:r>
          </a:p>
          <a:p>
            <a:r>
              <a:rPr lang="ru-RU" b="1" dirty="0"/>
              <a:t>Алгоритм Флойда — </a:t>
            </a:r>
            <a:r>
              <a:rPr lang="ru-RU" b="1" dirty="0" err="1"/>
              <a:t>Уоршелла</a:t>
            </a:r>
            <a:r>
              <a:rPr lang="ru-RU" b="1" dirty="0"/>
              <a:t> </a:t>
            </a:r>
            <a:r>
              <a:rPr lang="ru-RU" dirty="0"/>
              <a:t>находит кратчайшие пути между всеми вершинами взвешенного ориентированного графа.</a:t>
            </a:r>
          </a:p>
          <a:p>
            <a:r>
              <a:rPr lang="ru-RU" b="1" dirty="0"/>
              <a:t>Алгоритм Джонсона </a:t>
            </a:r>
            <a:r>
              <a:rPr lang="ru-RU" dirty="0"/>
              <a:t>находит кратчайшие пути между всеми парами вершин взвешенного ориентированного графа.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74550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30" y="347144"/>
            <a:ext cx="8289319" cy="849795"/>
          </a:xfrm>
        </p:spPr>
        <p:txBody>
          <a:bodyPr>
            <a:norm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en-US" dirty="0"/>
              <a:t> (Dijkstra)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97" y="1489755"/>
            <a:ext cx="8486454" cy="438706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Присвоить начальной вершине вес 0</a:t>
            </a:r>
          </a:p>
          <a:p>
            <a:r>
              <a:rPr lang="ru-RU" dirty="0"/>
              <a:t>Присвоить всем остальным вершинам заведомо максимальный вес (в пределе – бесконечность)</a:t>
            </a:r>
          </a:p>
          <a:p>
            <a:r>
              <a:rPr lang="ru-RU" dirty="0"/>
              <a:t>Начиная от стартовой вершины провести перебор всех инцидентных ей вершин и присвоить путям веса, равные весу соответствующего ребра</a:t>
            </a:r>
          </a:p>
          <a:p>
            <a:r>
              <a:rPr lang="ru-RU" dirty="0"/>
              <a:t>От каждой не стартовой вершины последовательно строить путь к каждой из инцидентных вершин, присваивая значения, как на шаге 3.</a:t>
            </a:r>
          </a:p>
          <a:p>
            <a:r>
              <a:rPr lang="ru-RU" dirty="0"/>
              <a:t>Суммировать вес пути с предыдущими ребрами</a:t>
            </a:r>
          </a:p>
          <a:p>
            <a:r>
              <a:rPr lang="ru-RU" dirty="0"/>
              <a:t>Повторять шаги 4-5, пока не будут перебраны все ребра графа, ведущие к искомой вершине</a:t>
            </a:r>
          </a:p>
          <a:p>
            <a:r>
              <a:rPr lang="ru-RU" dirty="0"/>
              <a:t>Выбрать путь с наименьшим суммарным весом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8123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30" y="34714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97" y="5027023"/>
            <a:ext cx="8486454" cy="849795"/>
          </a:xfrm>
        </p:spPr>
        <p:txBody>
          <a:bodyPr>
            <a:normAutofit/>
          </a:bodyPr>
          <a:lstStyle/>
          <a:p>
            <a:r>
              <a:rPr lang="ru-RU" dirty="0"/>
              <a:t>Присвоим вершине 1 вес 0</a:t>
            </a:r>
          </a:p>
          <a:p>
            <a:r>
              <a:rPr lang="ru-RU" dirty="0"/>
              <a:t>Остальным вершинам – заведомо большое число, например, 10000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42</a:t>
            </a:fld>
            <a:endParaRPr lang="ru-RU" dirty="0"/>
          </a:p>
        </p:txBody>
      </p:sp>
      <p:pic>
        <p:nvPicPr>
          <p:cNvPr id="1026" name="Picture 2" descr="Инициализация">
            <a:extLst>
              <a:ext uri="{FF2B5EF4-FFF2-40B4-BE49-F238E27FC236}">
                <a16:creationId xmlns:a16="http://schemas.microsoft.com/office/drawing/2014/main" id="{B0A0E019-76AD-4DDC-8402-39C787E27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459" y="1358972"/>
            <a:ext cx="4459889" cy="318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723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64" y="272567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97" y="5027023"/>
            <a:ext cx="8486454" cy="84979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Обходим смежные с </a:t>
            </a:r>
            <a:r>
              <a:rPr lang="en-US" dirty="0"/>
              <a:t>v1</a:t>
            </a:r>
            <a:r>
              <a:rPr lang="ru-RU" dirty="0"/>
              <a:t> вершины по очереди. Если вес ребра меньше существующего веса вершины, то присваиваем вершине вес ребра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43</a:t>
            </a:fld>
            <a:endParaRPr lang="ru-RU" dirty="0"/>
          </a:p>
        </p:txBody>
      </p:sp>
      <p:pic>
        <p:nvPicPr>
          <p:cNvPr id="2050" name="Picture 2" descr="Шаг 1">
            <a:extLst>
              <a:ext uri="{FF2B5EF4-FFF2-40B4-BE49-F238E27FC236}">
                <a16:creationId xmlns:a16="http://schemas.microsoft.com/office/drawing/2014/main" id="{0D96922E-C31B-487F-AC7B-976282F54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899" y="1294544"/>
            <a:ext cx="4386391" cy="313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8808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4273743"/>
            <a:ext cx="8486454" cy="1772600"/>
          </a:xfrm>
        </p:spPr>
        <p:txBody>
          <a:bodyPr>
            <a:normAutofit/>
          </a:bodyPr>
          <a:lstStyle/>
          <a:p>
            <a:r>
              <a:rPr lang="ru-RU" dirty="0"/>
              <a:t>Если все смежные с </a:t>
            </a:r>
            <a:r>
              <a:rPr lang="en-US" dirty="0"/>
              <a:t>v1</a:t>
            </a:r>
            <a:r>
              <a:rPr lang="ru-RU" dirty="0"/>
              <a:t> вершины посещены, переходим к ближайшей </a:t>
            </a:r>
            <a:r>
              <a:rPr lang="ru-RU" dirty="0" err="1"/>
              <a:t>непосещенной</a:t>
            </a:r>
            <a:r>
              <a:rPr lang="ru-RU" dirty="0"/>
              <a:t> вершине с наименьшим весом – </a:t>
            </a:r>
            <a:r>
              <a:rPr lang="en-US" dirty="0"/>
              <a:t>v2</a:t>
            </a:r>
          </a:p>
          <a:p>
            <a:r>
              <a:rPr lang="ru-RU" dirty="0"/>
              <a:t>Повторяем шаг (2) для этой вершины. Если суммарный вес ребер для смежной вершины будет меньше ранее присвоенного, то </a:t>
            </a:r>
            <a:r>
              <a:rPr lang="ru-RU" dirty="0" err="1"/>
              <a:t>переприсваиваем</a:t>
            </a:r>
            <a:r>
              <a:rPr lang="ru-RU" dirty="0"/>
              <a:t> его. Для вершины </a:t>
            </a:r>
            <a:r>
              <a:rPr lang="en-US" dirty="0"/>
              <a:t>v2</a:t>
            </a:r>
            <a:r>
              <a:rPr lang="ru-RU" dirty="0"/>
              <a:t> такой является только </a:t>
            </a:r>
            <a:r>
              <a:rPr lang="en-US" dirty="0"/>
              <a:t>v4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44</a:t>
            </a:fld>
            <a:endParaRPr lang="ru-RU" dirty="0"/>
          </a:p>
        </p:txBody>
      </p:sp>
      <p:pic>
        <p:nvPicPr>
          <p:cNvPr id="3074" name="Picture 2" descr="Шаг 2">
            <a:extLst>
              <a:ext uri="{FF2B5EF4-FFF2-40B4-BE49-F238E27FC236}">
                <a16:creationId xmlns:a16="http://schemas.microsoft.com/office/drawing/2014/main" id="{9376D3B8-C3BE-445E-9D8B-F7C3D556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081" y="811657"/>
            <a:ext cx="4485322" cy="32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843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5157627"/>
            <a:ext cx="8486454" cy="678094"/>
          </a:xfrm>
        </p:spPr>
        <p:txBody>
          <a:bodyPr>
            <a:normAutofit/>
          </a:bodyPr>
          <a:lstStyle/>
          <a:p>
            <a:r>
              <a:rPr lang="ru-RU" dirty="0"/>
              <a:t>Для вершины </a:t>
            </a:r>
            <a:r>
              <a:rPr lang="en-US" dirty="0"/>
              <a:t>v</a:t>
            </a:r>
            <a:r>
              <a:rPr lang="ru-RU" dirty="0"/>
              <a:t>3 вес будет </a:t>
            </a:r>
            <a:r>
              <a:rPr lang="ru-RU" dirty="0" err="1"/>
              <a:t>переприсвоен</a:t>
            </a:r>
            <a:r>
              <a:rPr lang="ru-RU" dirty="0"/>
              <a:t> через путь </a:t>
            </a:r>
            <a:r>
              <a:rPr lang="en-US" dirty="0"/>
              <a:t>v1-v3 = </a:t>
            </a:r>
            <a:r>
              <a:rPr lang="ru-RU" dirty="0"/>
              <a:t>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45</a:t>
            </a:fld>
            <a:endParaRPr lang="ru-RU" dirty="0"/>
          </a:p>
        </p:txBody>
      </p:sp>
      <p:pic>
        <p:nvPicPr>
          <p:cNvPr id="4098" name="Picture 2" descr="Шаг 3">
            <a:extLst>
              <a:ext uri="{FF2B5EF4-FFF2-40B4-BE49-F238E27FC236}">
                <a16:creationId xmlns:a16="http://schemas.microsoft.com/office/drawing/2014/main" id="{20A44071-0F99-446D-9C1D-8A9C5A821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848" y="1263721"/>
            <a:ext cx="4400763" cy="314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48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Пример (</a:t>
            </a:r>
            <a:r>
              <a:rPr lang="en-US" dirty="0"/>
              <a:t>4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5157627"/>
            <a:ext cx="8486454" cy="678094"/>
          </a:xfrm>
        </p:spPr>
        <p:txBody>
          <a:bodyPr>
            <a:normAutofit/>
          </a:bodyPr>
          <a:lstStyle/>
          <a:p>
            <a:r>
              <a:rPr lang="ru-RU" dirty="0"/>
              <a:t>Для вершины </a:t>
            </a:r>
            <a:r>
              <a:rPr lang="en-US" dirty="0"/>
              <a:t>v6</a:t>
            </a:r>
            <a:r>
              <a:rPr lang="ru-RU" dirty="0"/>
              <a:t> вес будет </a:t>
            </a:r>
            <a:r>
              <a:rPr lang="ru-RU" dirty="0" err="1"/>
              <a:t>переприсвоен</a:t>
            </a:r>
            <a:r>
              <a:rPr lang="ru-RU" dirty="0"/>
              <a:t> через путь </a:t>
            </a:r>
            <a:r>
              <a:rPr lang="en-US" dirty="0"/>
              <a:t>v1-v3-v6 = 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46</a:t>
            </a:fld>
            <a:endParaRPr lang="ru-RU" dirty="0"/>
          </a:p>
        </p:txBody>
      </p:sp>
      <p:pic>
        <p:nvPicPr>
          <p:cNvPr id="5122" name="Picture 2" descr="Шаг 6">
            <a:extLst>
              <a:ext uri="{FF2B5EF4-FFF2-40B4-BE49-F238E27FC236}">
                <a16:creationId xmlns:a16="http://schemas.microsoft.com/office/drawing/2014/main" id="{C15FA2DC-749C-411B-AC57-E9C72CF0F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575" y="1130157"/>
            <a:ext cx="5047450" cy="360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873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/>
          </a:bodyPr>
          <a:lstStyle/>
          <a:p>
            <a:r>
              <a:rPr lang="ru-RU" dirty="0"/>
              <a:t>Задача</a:t>
            </a:r>
            <a:r>
              <a:rPr lang="en-US" dirty="0"/>
              <a:t> 16-25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5157627"/>
            <a:ext cx="2867795" cy="59238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Найти кратчайший путь из вершины 1 в вершину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47</a:t>
            </a:fld>
            <a:endParaRPr lang="ru-RU" dirty="0"/>
          </a:p>
        </p:txBody>
      </p:sp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id="{07FC6E4C-C383-48AE-B632-DA295B433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93" y="1183449"/>
            <a:ext cx="3267575" cy="326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14EB46-F72B-416B-8396-8A61F792BB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636"/>
          <a:stretch/>
        </p:blipFill>
        <p:spPr>
          <a:xfrm>
            <a:off x="3685463" y="1183449"/>
            <a:ext cx="5458537" cy="196243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42BFDC-2069-486C-B485-40ECE07E2489}"/>
              </a:ext>
            </a:extLst>
          </p:cNvPr>
          <p:cNvSpPr txBox="1">
            <a:spLocks/>
          </p:cNvSpPr>
          <p:nvPr/>
        </p:nvSpPr>
        <p:spPr>
          <a:xfrm>
            <a:off x="3685463" y="3300970"/>
            <a:ext cx="3491298" cy="8223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5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Найти кратчайший путь из вершины С в вершину </a:t>
            </a:r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2586136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64D2711E-C1FD-4DFA-90DA-F1439AB10068}"/>
              </a:ext>
            </a:extLst>
          </p:cNvPr>
          <p:cNvSpPr/>
          <p:nvPr/>
        </p:nvSpPr>
        <p:spPr>
          <a:xfrm>
            <a:off x="4790304" y="2277761"/>
            <a:ext cx="230659" cy="2800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0AA48-4C98-4163-9997-BD3A2376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68" y="335892"/>
            <a:ext cx="5434400" cy="779933"/>
          </a:xfrm>
        </p:spPr>
        <p:txBody>
          <a:bodyPr/>
          <a:lstStyle/>
          <a:p>
            <a:r>
              <a:rPr lang="ru-RU" dirty="0"/>
              <a:t>Дополнительно. А*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B3978-E181-40F1-B814-F5FF5BCC7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23503"/>
            <a:ext cx="7886700" cy="245346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Шаги 1-2 аналогичны </a:t>
            </a:r>
            <a:r>
              <a:rPr lang="ru-RU" dirty="0" err="1"/>
              <a:t>Дейкстре</a:t>
            </a:r>
            <a:endParaRPr lang="ru-RU" dirty="0"/>
          </a:p>
          <a:p>
            <a:r>
              <a:rPr lang="ru-RU" dirty="0"/>
              <a:t>Шаг 3: ищем вершины, инцидентные вершине с минимальным весом (2)</a:t>
            </a:r>
          </a:p>
          <a:p>
            <a:pPr lvl="1"/>
            <a:r>
              <a:rPr lang="ru-RU" dirty="0"/>
              <a:t>(3)=9; (4)=22</a:t>
            </a:r>
          </a:p>
          <a:p>
            <a:r>
              <a:rPr lang="ru-RU" dirty="0"/>
              <a:t>Шаг 4. Наименьший вес у (3)</a:t>
            </a:r>
          </a:p>
          <a:p>
            <a:pPr lvl="1"/>
            <a:r>
              <a:rPr lang="ru-RU" dirty="0"/>
              <a:t>(6)=11; (4)=20</a:t>
            </a:r>
          </a:p>
          <a:p>
            <a:r>
              <a:rPr lang="ru-RU" dirty="0"/>
              <a:t>Шаг 5. Наименьший вес из оставшихся у (6). (5)=20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C9E66-42E1-40F0-ABDC-0205A9B16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48</a:t>
            </a:fld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A9E22D-D9B0-4A9C-A36F-D68CEC651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54" y="1104440"/>
            <a:ext cx="3001404" cy="21491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7E5461-5597-4B44-8276-FE3479AEC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001" y="1026579"/>
            <a:ext cx="3001404" cy="214910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94CDFB6-989F-403E-9930-08251E3E3E1F}"/>
              </a:ext>
            </a:extLst>
          </p:cNvPr>
          <p:cNvSpPr/>
          <p:nvPr/>
        </p:nvSpPr>
        <p:spPr>
          <a:xfrm>
            <a:off x="6063050" y="2005710"/>
            <a:ext cx="230659" cy="2800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B28BC3-D421-4AE3-9BC0-C369685A390C}"/>
              </a:ext>
            </a:extLst>
          </p:cNvPr>
          <p:cNvSpPr txBox="1"/>
          <p:nvPr/>
        </p:nvSpPr>
        <p:spPr>
          <a:xfrm>
            <a:off x="6313969" y="1636378"/>
            <a:ext cx="52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5C513-9AD7-4951-AC51-C93A8D213D27}"/>
              </a:ext>
            </a:extLst>
          </p:cNvPr>
          <p:cNvSpPr txBox="1"/>
          <p:nvPr/>
        </p:nvSpPr>
        <p:spPr>
          <a:xfrm>
            <a:off x="3412568" y="1916465"/>
            <a:ext cx="52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846132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. </a:t>
            </a:r>
            <a:br>
              <a:rPr lang="en-US" dirty="0"/>
            </a:br>
            <a:r>
              <a:rPr lang="ru-RU" dirty="0"/>
              <a:t>Пример</a:t>
            </a:r>
            <a:r>
              <a:rPr lang="en-US" dirty="0"/>
              <a:t> </a:t>
            </a:r>
            <a:r>
              <a:rPr lang="ru-RU" dirty="0"/>
              <a:t>программной реализации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49</a:t>
            </a:fld>
            <a:endParaRPr lang="ru-RU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CADB57-0007-4065-B569-EFA0A42BA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456007"/>
              </p:ext>
            </p:extLst>
          </p:nvPr>
        </p:nvGraphicFramePr>
        <p:xfrm>
          <a:off x="628650" y="1767155"/>
          <a:ext cx="7886697" cy="2970777"/>
        </p:xfrm>
        <a:graphic>
          <a:graphicData uri="http://schemas.openxmlformats.org/drawingml/2006/table">
            <a:tbl>
              <a:tblPr/>
              <a:tblGrid>
                <a:gridCol w="1126671">
                  <a:extLst>
                    <a:ext uri="{9D8B030D-6E8A-4147-A177-3AD203B41FA5}">
                      <a16:colId xmlns:a16="http://schemas.microsoft.com/office/drawing/2014/main" val="3711567216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1581257894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069811644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816461242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714372345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213937077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315536868"/>
                    </a:ext>
                  </a:extLst>
                </a:gridCol>
              </a:tblGrid>
              <a:tr h="668523">
                <a:tc>
                  <a:txBody>
                    <a:bodyPr/>
                    <a:lstStyle/>
                    <a:p>
                      <a:pPr algn="ctr" fontAlgn="ctr"/>
                      <a:endParaRPr lang="en-US" sz="1600" b="1" dirty="0">
                        <a:solidFill>
                          <a:srgbClr val="800000"/>
                        </a:solidFill>
                        <a:effectLst/>
                      </a:endParaRP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1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2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3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4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5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6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161613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1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7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9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14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980601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2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7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10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15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981481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dirty="0">
                          <a:solidFill>
                            <a:srgbClr val="800000"/>
                          </a:solidFill>
                          <a:effectLst/>
                        </a:rPr>
                        <a:t>3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9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10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1</a:t>
                      </a:r>
                      <a:r>
                        <a:rPr lang="ru-RU" sz="1600" dirty="0">
                          <a:effectLst/>
                        </a:rPr>
                        <a:t>0</a:t>
                      </a:r>
                      <a:endParaRPr lang="en-US" sz="1600" dirty="0">
                        <a:effectLst/>
                      </a:endParaRP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2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155963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>
                          <a:solidFill>
                            <a:srgbClr val="800000"/>
                          </a:solidFill>
                          <a:effectLst/>
                        </a:rPr>
                        <a:t>4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15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11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6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071568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>
                          <a:solidFill>
                            <a:srgbClr val="800000"/>
                          </a:solidFill>
                          <a:effectLst/>
                        </a:rPr>
                        <a:t>5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6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9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386469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>
                          <a:solidFill>
                            <a:srgbClr val="800000"/>
                          </a:solidFill>
                          <a:effectLst/>
                        </a:rPr>
                        <a:t>6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B9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14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2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>
                          <a:effectLst/>
                        </a:rPr>
                        <a:t>9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600" dirty="0">
                          <a:effectLst/>
                        </a:rPr>
                        <a:t>0</a:t>
                      </a:r>
                    </a:p>
                  </a:txBody>
                  <a:tcPr marL="43573" marR="43573" marT="43573" marB="4357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9065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03CC27B-6644-49C4-8B6C-89CAF3B1CD30}"/>
              </a:ext>
            </a:extLst>
          </p:cNvPr>
          <p:cNvSpPr txBox="1"/>
          <p:nvPr/>
        </p:nvSpPr>
        <p:spPr>
          <a:xfrm>
            <a:off x="1736333" y="5548045"/>
            <a:ext cx="5267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кода в файле «</a:t>
            </a:r>
            <a:r>
              <a:rPr lang="ru-RU" dirty="0" err="1"/>
              <a:t>АлгоритмДейкстрыС</a:t>
            </a:r>
            <a:r>
              <a:rPr lang="ru-RU" dirty="0"/>
              <a:t>++»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1905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частных прикладных задач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989" y="2632319"/>
            <a:ext cx="7886700" cy="1128023"/>
          </a:xfrm>
        </p:spPr>
        <p:txBody>
          <a:bodyPr/>
          <a:lstStyle/>
          <a:p>
            <a:r>
              <a:rPr lang="ru-RU" dirty="0"/>
              <a:t>Задача коммивояжера/ранца</a:t>
            </a:r>
          </a:p>
          <a:p>
            <a:r>
              <a:rPr lang="ru-RU" dirty="0"/>
              <a:t>Задача поиска в социальных сетях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18247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5305"/>
          </a:xfrm>
        </p:spPr>
        <p:txBody>
          <a:bodyPr/>
          <a:lstStyle/>
          <a:p>
            <a:r>
              <a:rPr lang="ru-RU" dirty="0"/>
              <a:t>Задача коммивояжера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566" y="1304818"/>
            <a:ext cx="8164102" cy="4469258"/>
          </a:xfrm>
        </p:spPr>
        <p:txBody>
          <a:bodyPr/>
          <a:lstStyle/>
          <a:p>
            <a:r>
              <a:rPr lang="ru-RU" dirty="0" err="1"/>
              <a:t>Eсть</a:t>
            </a:r>
            <a:r>
              <a:rPr lang="ru-RU" dirty="0"/>
              <a:t> N городов, соединённых между собой дорогами. Необходимо проложить между ними кратчайший замкнутый маршрут, проходящий через каждый город только один раз.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Симметричная проблема коммивояжёра (TSP = </a:t>
            </a:r>
            <a:r>
              <a:rPr lang="ru-RU" dirty="0" err="1"/>
              <a:t>traveling</a:t>
            </a:r>
            <a:r>
              <a:rPr lang="ru-RU" dirty="0"/>
              <a:t> </a:t>
            </a:r>
            <a:r>
              <a:rPr lang="ru-RU" dirty="0" err="1"/>
              <a:t>salesman</a:t>
            </a:r>
            <a:r>
              <a:rPr lang="ru-RU" dirty="0"/>
              <a:t> </a:t>
            </a:r>
            <a:r>
              <a:rPr lang="ru-RU" dirty="0" err="1"/>
              <a:t>problem</a:t>
            </a:r>
            <a:r>
              <a:rPr lang="ru-RU" dirty="0"/>
              <a:t>) в которой расстояния заданы между любыми двумя городами и матрица расстояний симметрична: </a:t>
            </a:r>
            <a:r>
              <a:rPr lang="ru-RU" dirty="0" err="1"/>
              <a:t>Dji</a:t>
            </a:r>
            <a:r>
              <a:rPr lang="ru-RU" dirty="0"/>
              <a:t> = </a:t>
            </a:r>
            <a:r>
              <a:rPr lang="ru-RU" dirty="0" err="1"/>
              <a:t>Dij</a:t>
            </a:r>
            <a:r>
              <a:rPr lang="ru-RU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Асимметричная проблема коммивояжёра (ATSP) допускает несимметричность матрицы </a:t>
            </a:r>
            <a:r>
              <a:rPr lang="ru-RU" dirty="0" err="1"/>
              <a:t>Dji</a:t>
            </a:r>
            <a:r>
              <a:rPr lang="ru-RU" dirty="0"/>
              <a:t> ≠ </a:t>
            </a:r>
            <a:r>
              <a:rPr lang="ru-RU" dirty="0" err="1"/>
              <a:t>Dij</a:t>
            </a:r>
            <a:r>
              <a:rPr lang="ru-RU" dirty="0"/>
              <a:t>. В ещё более общем случае, пути между некоторыми городами могут отсутствовать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Задача с частичным упорядочиванием (SOP = </a:t>
            </a:r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ordering</a:t>
            </a:r>
            <a:r>
              <a:rPr lang="ru-RU" dirty="0"/>
              <a:t> </a:t>
            </a:r>
            <a:r>
              <a:rPr lang="ru-RU" dirty="0" err="1"/>
              <a:t>problem</a:t>
            </a:r>
            <a:r>
              <a:rPr lang="ru-RU" dirty="0"/>
              <a:t>) требующая, чтобы определённый город i был посещён до города j (таких условий может быть несколько).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Поиск цикла Гамильтона (HCP = </a:t>
            </a:r>
            <a:r>
              <a:rPr lang="ru-RU" dirty="0" err="1"/>
              <a:t>нamiltonian</a:t>
            </a:r>
            <a:r>
              <a:rPr lang="ru-RU" dirty="0"/>
              <a:t> </a:t>
            </a:r>
            <a:r>
              <a:rPr lang="ru-RU" dirty="0" err="1"/>
              <a:t>cycle</a:t>
            </a:r>
            <a:r>
              <a:rPr lang="ru-RU" dirty="0"/>
              <a:t> </a:t>
            </a:r>
            <a:r>
              <a:rPr lang="ru-RU" dirty="0" err="1"/>
              <a:t>problem</a:t>
            </a:r>
            <a:r>
              <a:rPr lang="ru-RU" dirty="0"/>
              <a:t>) - обнаружение в произвольном графе замкнутых путей, проходящих через каждую вершину в точности один раз.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22397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679018"/>
          </a:xfrm>
        </p:spPr>
        <p:txBody>
          <a:bodyPr anchor="ctr">
            <a:normAutofit/>
          </a:bodyPr>
          <a:lstStyle/>
          <a:p>
            <a:r>
              <a:rPr lang="ru-RU" dirty="0"/>
              <a:t>Задача о ранце</a:t>
            </a:r>
            <a:endParaRPr lang="en-US" dirty="0"/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164ED9DF-6818-4BA3-A462-64C8F4707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5441" y="1158875"/>
            <a:ext cx="2280970" cy="460458"/>
          </a:xfrm>
        </p:spPr>
        <p:txBody>
          <a:bodyPr>
            <a:normAutofit/>
          </a:bodyPr>
          <a:lstStyle/>
          <a:p>
            <a:r>
              <a:rPr lang="ru-RU" dirty="0"/>
              <a:t>Условие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1518" y="1840770"/>
            <a:ext cx="3868340" cy="3858355"/>
          </a:xfrm>
        </p:spPr>
        <p:txBody>
          <a:bodyPr>
            <a:normAutofit/>
          </a:bodyPr>
          <a:lstStyle/>
          <a:p>
            <a:r>
              <a:rPr lang="ru-RU" dirty="0"/>
              <a:t>Вор пробрался на склад, в котором хранятся три вещи весом 10 кг, 20 кг и 30 кг и стоимостью 60, 100 и 120 деревянных вечнозеленых </a:t>
            </a:r>
            <a:r>
              <a:rPr lang="ru-RU" dirty="0" err="1"/>
              <a:t>нанорублей</a:t>
            </a:r>
            <a:r>
              <a:rPr lang="ru-RU" dirty="0"/>
              <a:t> соответственно. Вор максимум может унести 50 кг. Он хочет унести вещей на максимальную сумму</a:t>
            </a:r>
          </a:p>
          <a:p>
            <a:r>
              <a:rPr lang="ru-RU" dirty="0"/>
              <a:t>Условие: Отбор вещей производится последовательно</a:t>
            </a:r>
            <a:endParaRPr lang="en-US" dirty="0"/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D58AF8EC-DF46-469B-809E-1C9257ECE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13063" y="1108831"/>
            <a:ext cx="4289774" cy="460458"/>
          </a:xfrm>
        </p:spPr>
        <p:txBody>
          <a:bodyPr>
            <a:normAutofit/>
          </a:bodyPr>
          <a:lstStyle/>
          <a:p>
            <a:r>
              <a:rPr lang="ru-RU" dirty="0"/>
              <a:t>Дерево перебора решений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995D1D-B55F-4E8D-98BB-574C850CD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15446" y="2179474"/>
            <a:ext cx="3887391" cy="272117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6948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32" y="136524"/>
            <a:ext cx="8237948" cy="775305"/>
          </a:xfrm>
        </p:spPr>
        <p:txBody>
          <a:bodyPr>
            <a:normAutofit/>
          </a:bodyPr>
          <a:lstStyle/>
          <a:p>
            <a:r>
              <a:rPr lang="ru-RU" dirty="0"/>
              <a:t>Алгоритмы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248" y="1039866"/>
            <a:ext cx="8480032" cy="518844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1. </a:t>
            </a:r>
            <a:r>
              <a:rPr lang="ru-RU" b="1" dirty="0"/>
              <a:t>Точные методы </a:t>
            </a:r>
            <a:r>
              <a:rPr lang="ru-RU" dirty="0"/>
              <a:t>не только находят некоторое решение, но и при окончании своей работы доказывают, что это решение - наилучшее. </a:t>
            </a:r>
          </a:p>
          <a:p>
            <a:pPr lvl="1"/>
            <a:r>
              <a:rPr lang="ru-RU" b="1" dirty="0"/>
              <a:t>Полный перебор </a:t>
            </a:r>
            <a:r>
              <a:rPr lang="ru-RU" dirty="0"/>
              <a:t>перестановок N-1 чисел (стартовый город фиксирован). </a:t>
            </a:r>
            <a:r>
              <a:rPr lang="en-US" u="sng" dirty="0"/>
              <a:t>(n-1)!</a:t>
            </a:r>
            <a:r>
              <a:rPr lang="ru-RU" u="sng" dirty="0"/>
              <a:t> вариантов</a:t>
            </a:r>
          </a:p>
          <a:p>
            <a:pPr lvl="1"/>
            <a:r>
              <a:rPr lang="ru-RU" b="1" dirty="0"/>
              <a:t>Направленный поиск с возвратами </a:t>
            </a:r>
            <a:r>
              <a:rPr lang="ru-RU" dirty="0"/>
              <a:t>- перебор вариантов "вокруг" некоторого решения с отсечением путей, имеющих длину большую, чем лучший к текущему моменту путь.</a:t>
            </a:r>
          </a:p>
          <a:p>
            <a:r>
              <a:rPr lang="ru-RU" dirty="0"/>
              <a:t>2. </a:t>
            </a:r>
            <a:r>
              <a:rPr lang="ru-RU" b="1" dirty="0"/>
              <a:t>Эвристические методы</a:t>
            </a:r>
            <a:r>
              <a:rPr lang="ru-RU" dirty="0"/>
              <a:t>, обычно, существенно быстрее точных, однако они не гарантируют оптимальности найденного решения. Результат их комбинации может далее использоваться как первое приближение</a:t>
            </a:r>
          </a:p>
          <a:p>
            <a:pPr lvl="1"/>
            <a:r>
              <a:rPr lang="ru-RU" b="1" dirty="0"/>
              <a:t>Жадный алгоритм </a:t>
            </a:r>
            <a:r>
              <a:rPr lang="ru-RU" dirty="0"/>
              <a:t>при выборе очередного города берёт ближайший не посещённый до этого город.</a:t>
            </a:r>
          </a:p>
          <a:p>
            <a:pPr lvl="1"/>
            <a:r>
              <a:rPr lang="ru-RU" b="1" dirty="0"/>
              <a:t>Метод ветвей и границ </a:t>
            </a:r>
            <a:r>
              <a:rPr lang="en-US" b="1" dirty="0"/>
              <a:t>(</a:t>
            </a:r>
            <a:r>
              <a:rPr lang="ru-RU" b="1" dirty="0"/>
              <a:t>Литтла) </a:t>
            </a:r>
            <a:r>
              <a:rPr lang="ru-RU" dirty="0"/>
              <a:t>- наиболее эффективный из известных метод отсечения "неперспективных" узлов, за счёт анализа матрицы расстояний. При поиске оптимального решения строится бинарное дерево (в каждом узле порождаются 2 ветви: коммивояжёр идёт в некоторый город или не идёт в него).</a:t>
            </a:r>
          </a:p>
          <a:p>
            <a:pPr lvl="1"/>
            <a:r>
              <a:rPr lang="ru-RU" b="1" dirty="0"/>
              <a:t>Метод шнурка </a:t>
            </a:r>
            <a:r>
              <a:rPr lang="ru-RU" dirty="0"/>
              <a:t>- геометрическая вариация жадного алгоритма, в которой города охватываются замкнутым контуром. Он постепенно растягивается, стараясь пройти через все вершины, минимальным образов увеличив свою длину.</a:t>
            </a:r>
          </a:p>
          <a:p>
            <a:pPr lvl="1"/>
            <a:r>
              <a:rPr lang="ru-RU" b="1" dirty="0"/>
              <a:t>Скользящий перебор </a:t>
            </a:r>
            <a:r>
              <a:rPr lang="ru-RU" dirty="0"/>
              <a:t>переставляет местами вершины из небольшой части пути. Затем такое "окно перебора" скользит вдоль всего пути. Метод имеет различные вариации и оказывается эффективным способом улучшения решения, найденного эвристическими методами.</a:t>
            </a:r>
          </a:p>
          <a:p>
            <a:r>
              <a:rPr lang="ru-RU" dirty="0"/>
              <a:t>3. </a:t>
            </a:r>
            <a:r>
              <a:rPr lang="ru-RU" b="1" dirty="0"/>
              <a:t>Вероятностные методы </a:t>
            </a:r>
            <a:r>
              <a:rPr lang="ru-RU" dirty="0"/>
              <a:t>фактически ни когда не останавливаются, совершая случайные изменения пути, в ожидании получения более короткого. Из этого класса методов отметим:</a:t>
            </a:r>
          </a:p>
          <a:p>
            <a:pPr lvl="1"/>
            <a:r>
              <a:rPr lang="ru-RU" b="1" dirty="0"/>
              <a:t>Метод отжига </a:t>
            </a:r>
            <a:r>
              <a:rPr lang="ru-RU" dirty="0"/>
              <a:t>в котором происходят перестановки городов с постепенно "затухающей" интенсивностью. При этом постоянно сохраняется наилучшее найденное решение.</a:t>
            </a:r>
          </a:p>
          <a:p>
            <a:pPr lvl="1"/>
            <a:r>
              <a:rPr lang="ru-RU" b="1" dirty="0"/>
              <a:t>Генетический алгоритм </a:t>
            </a:r>
            <a:r>
              <a:rPr lang="ru-RU" dirty="0"/>
              <a:t>- вариант, при котором создаётся большое количество различных путей. Они постоянно "мутируют" и "скрещиваются" друг с другом, обмениваясь отдельным участками.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2598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914C-D413-4B9B-8290-CE05A0A4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81783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 ветвей и границ для задачи о ранце. Простой вариант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982DFA-BE23-42D7-990B-91E6BBA322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989234"/>
              </p:ext>
            </p:extLst>
          </p:nvPr>
        </p:nvGraphicFramePr>
        <p:xfrm>
          <a:off x="628649" y="1569243"/>
          <a:ext cx="8367069" cy="3974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40629-A4E3-43BF-89DA-C91E96E29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54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6EE23-3BBA-4015-8DCB-D2C6C61CEE56}"/>
              </a:ext>
            </a:extLst>
          </p:cNvPr>
          <p:cNvSpPr txBox="1"/>
          <p:nvPr/>
        </p:nvSpPr>
        <p:spPr>
          <a:xfrm>
            <a:off x="7486650" y="3017108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8C3E1-AE89-47F7-B4E4-D1D9DA95E22B}"/>
              </a:ext>
            </a:extLst>
          </p:cNvPr>
          <p:cNvSpPr txBox="1"/>
          <p:nvPr/>
        </p:nvSpPr>
        <p:spPr>
          <a:xfrm>
            <a:off x="5427192" y="3730940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9C5304-15E6-4327-96F7-D9180F29452A}"/>
              </a:ext>
            </a:extLst>
          </p:cNvPr>
          <p:cNvSpPr txBox="1"/>
          <p:nvPr/>
        </p:nvSpPr>
        <p:spPr>
          <a:xfrm>
            <a:off x="6910002" y="3799169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20 кг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943AE-15A0-462B-AFBF-6A9AF02AC065}"/>
              </a:ext>
            </a:extLst>
          </p:cNvPr>
          <p:cNvSpPr txBox="1"/>
          <p:nvPr/>
        </p:nvSpPr>
        <p:spPr>
          <a:xfrm>
            <a:off x="8318672" y="3799169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10 кг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2E07B-02ED-46F9-A9FA-DD2CA2284FA9}"/>
              </a:ext>
            </a:extLst>
          </p:cNvPr>
          <p:cNvSpPr txBox="1"/>
          <p:nvPr/>
        </p:nvSpPr>
        <p:spPr>
          <a:xfrm>
            <a:off x="8318672" y="4471515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20 кг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B33C94-150E-4378-ABCE-015AE08A3CD4}"/>
              </a:ext>
            </a:extLst>
          </p:cNvPr>
          <p:cNvSpPr txBox="1"/>
          <p:nvPr/>
        </p:nvSpPr>
        <p:spPr>
          <a:xfrm>
            <a:off x="5501330" y="4419761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10 кг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C0228E-8BA0-4302-956E-8D22ABECF5A5}"/>
              </a:ext>
            </a:extLst>
          </p:cNvPr>
          <p:cNvSpPr txBox="1"/>
          <p:nvPr/>
        </p:nvSpPr>
        <p:spPr>
          <a:xfrm>
            <a:off x="4015437" y="4468090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5ED2E7-EA1C-4260-BBC6-64220D73AC62}"/>
              </a:ext>
            </a:extLst>
          </p:cNvPr>
          <p:cNvSpPr txBox="1"/>
          <p:nvPr/>
        </p:nvSpPr>
        <p:spPr>
          <a:xfrm>
            <a:off x="1132194" y="4477694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30 кг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AB2BB1-314A-4FE0-9C57-9D9054F5BB38}"/>
              </a:ext>
            </a:extLst>
          </p:cNvPr>
          <p:cNvSpPr txBox="1"/>
          <p:nvPr/>
        </p:nvSpPr>
        <p:spPr>
          <a:xfrm>
            <a:off x="2540865" y="4480876"/>
            <a:ext cx="556563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3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20 кг</a:t>
            </a: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832C8416-094A-42A0-B340-0DFDCFBECD60}"/>
              </a:ext>
            </a:extLst>
          </p:cNvPr>
          <p:cNvSpPr/>
          <p:nvPr/>
        </p:nvSpPr>
        <p:spPr>
          <a:xfrm>
            <a:off x="757136" y="4983890"/>
            <a:ext cx="316648" cy="43660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2AC2F562-6001-4EA2-95D9-548D6263E49C}"/>
              </a:ext>
            </a:extLst>
          </p:cNvPr>
          <p:cNvSpPr/>
          <p:nvPr/>
        </p:nvSpPr>
        <p:spPr>
          <a:xfrm>
            <a:off x="2160924" y="5014847"/>
            <a:ext cx="316648" cy="43660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4092D1E3-EE07-47D7-AC44-A5A1990DBF78}"/>
              </a:ext>
            </a:extLst>
          </p:cNvPr>
          <p:cNvSpPr/>
          <p:nvPr/>
        </p:nvSpPr>
        <p:spPr>
          <a:xfrm>
            <a:off x="3632888" y="5008072"/>
            <a:ext cx="316648" cy="43660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B174914E-FA98-41E6-903F-6A1A756461CD}"/>
              </a:ext>
            </a:extLst>
          </p:cNvPr>
          <p:cNvSpPr/>
          <p:nvPr/>
        </p:nvSpPr>
        <p:spPr>
          <a:xfrm>
            <a:off x="7764931" y="4983890"/>
            <a:ext cx="316648" cy="43660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F2CD69-3EF5-4F72-A6E9-0E01516AE1CA}"/>
              </a:ext>
            </a:extLst>
          </p:cNvPr>
          <p:cNvCxnSpPr/>
          <p:nvPr/>
        </p:nvCxnSpPr>
        <p:spPr>
          <a:xfrm>
            <a:off x="4822217" y="4223189"/>
            <a:ext cx="67911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22F290-0585-4627-99D9-8F097F8B1F45}"/>
              </a:ext>
            </a:extLst>
          </p:cNvPr>
          <p:cNvCxnSpPr/>
          <p:nvPr/>
        </p:nvCxnSpPr>
        <p:spPr>
          <a:xfrm>
            <a:off x="6230888" y="4216248"/>
            <a:ext cx="67911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2035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E8EE-57E4-4CD5-B515-FF659B88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2287457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Задача. Построить дерево отбора максимального по стоимости числа вещей в рюкзак методом ветвей и границ стоимостью не более 6500 ед. – 10-55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73652B-F2B6-43E1-9A3F-70F4769473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6372126"/>
              </p:ext>
            </p:extLst>
          </p:nvPr>
        </p:nvGraphicFramePr>
        <p:xfrm>
          <a:off x="2340060" y="2939854"/>
          <a:ext cx="3383178" cy="2413932"/>
        </p:xfrm>
        <a:graphic>
          <a:graphicData uri="http://schemas.openxmlformats.org/drawingml/2006/table">
            <a:tbl>
              <a:tblPr/>
              <a:tblGrid>
                <a:gridCol w="1691589">
                  <a:extLst>
                    <a:ext uri="{9D8B030D-6E8A-4147-A177-3AD203B41FA5}">
                      <a16:colId xmlns:a16="http://schemas.microsoft.com/office/drawing/2014/main" val="2901017972"/>
                    </a:ext>
                  </a:extLst>
                </a:gridCol>
                <a:gridCol w="1691589">
                  <a:extLst>
                    <a:ext uri="{9D8B030D-6E8A-4147-A177-3AD203B41FA5}">
                      <a16:colId xmlns:a16="http://schemas.microsoft.com/office/drawing/2014/main" val="4237515797"/>
                    </a:ext>
                  </a:extLst>
                </a:gridCol>
              </a:tblGrid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1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Название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1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Стоимость. Ед.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508868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Книга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600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854698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Бинокль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5000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13757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Аптечка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1500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897731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Ноутбук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4000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4930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Котелок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500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78397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43AC9-F587-49C6-96E3-768320383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35543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Алгоритмы поиска сообществ на социальных графах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1335641"/>
            <a:ext cx="7730341" cy="4469258"/>
          </a:xfrm>
        </p:spPr>
        <p:txBody>
          <a:bodyPr>
            <a:normAutofit/>
          </a:bodyPr>
          <a:lstStyle/>
          <a:p>
            <a:r>
              <a:rPr lang="ru-RU" dirty="0"/>
              <a:t>1. </a:t>
            </a:r>
            <a:r>
              <a:rPr lang="ru-RU" dirty="0" err="1"/>
              <a:t>Betweenness</a:t>
            </a:r>
            <a:r>
              <a:rPr lang="ru-RU" dirty="0"/>
              <a:t> — алгоритм на основе коэффициента “центральности по посредничеству” (</a:t>
            </a:r>
            <a:r>
              <a:rPr lang="ru-RU" dirty="0" err="1"/>
              <a:t>Betweenness</a:t>
            </a:r>
            <a:r>
              <a:rPr lang="ru-RU" dirty="0"/>
              <a:t>), определяемый как количество кратчайших путей между всеми парами вершин, проходящих через данное ребро.</a:t>
            </a:r>
          </a:p>
          <a:p>
            <a:r>
              <a:rPr lang="ru-RU" dirty="0"/>
              <a:t>2. </a:t>
            </a:r>
            <a:r>
              <a:rPr lang="ru-RU" dirty="0" err="1"/>
              <a:t>Fastgreedy</a:t>
            </a:r>
            <a:r>
              <a:rPr lang="ru-RU" dirty="0"/>
              <a:t> — метод, основанный на жадной оптимизации.</a:t>
            </a:r>
          </a:p>
          <a:p>
            <a:r>
              <a:rPr lang="ru-RU" dirty="0"/>
              <a:t>3. </a:t>
            </a:r>
            <a:r>
              <a:rPr lang="ru-RU" dirty="0" err="1"/>
              <a:t>Multilevel</a:t>
            </a:r>
            <a:r>
              <a:rPr lang="ru-RU" dirty="0"/>
              <a:t> — метод, основанный на многоуровневой оптимизации c использованием эвристики.</a:t>
            </a:r>
          </a:p>
          <a:p>
            <a:r>
              <a:rPr lang="ru-RU" dirty="0"/>
              <a:t>4. </a:t>
            </a:r>
            <a:r>
              <a:rPr lang="ru-RU" dirty="0" err="1"/>
              <a:t>LabelProp</a:t>
            </a:r>
            <a:r>
              <a:rPr lang="en-US" dirty="0"/>
              <a:t>a</a:t>
            </a:r>
            <a:r>
              <a:rPr lang="ru-RU" dirty="0" err="1"/>
              <a:t>gation</a:t>
            </a:r>
            <a:r>
              <a:rPr lang="ru-RU" dirty="0"/>
              <a:t> — метод, основанный на присвоении меток к каждой вершине. Каждый раз выбирается метка с максимальной встречаемостью среди смежных вершин.</a:t>
            </a:r>
          </a:p>
          <a:p>
            <a:r>
              <a:rPr lang="ru-RU" dirty="0"/>
              <a:t>5. </a:t>
            </a:r>
            <a:r>
              <a:rPr lang="ru-RU" dirty="0" err="1"/>
              <a:t>Walktrap</a:t>
            </a:r>
            <a:r>
              <a:rPr lang="ru-RU" dirty="0"/>
              <a:t> — подход, основанный на случайном блуждании. Использует идею о том, что короткие случайные блуждания не приводят к выходу из текущего сообщества.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23000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338-716D-4030-B02A-97BCD6DF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775305"/>
          </a:xfrm>
        </p:spPr>
        <p:txBody>
          <a:bodyPr/>
          <a:lstStyle/>
          <a:p>
            <a:r>
              <a:rPr lang="ru-RU" dirty="0"/>
              <a:t>Пример жадного алгоритма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F4D-0514-4E0E-9146-00B9A4A1E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248" y="990170"/>
            <a:ext cx="8164102" cy="2085653"/>
          </a:xfrm>
        </p:spPr>
        <p:txBody>
          <a:bodyPr>
            <a:normAutofit/>
          </a:bodyPr>
          <a:lstStyle/>
          <a:p>
            <a:r>
              <a:rPr lang="ru-RU" dirty="0"/>
              <a:t>На каждом шаге выбираем путь в вершину с наименьшим (наибольшим) весом</a:t>
            </a:r>
          </a:p>
          <a:p>
            <a:r>
              <a:rPr lang="ru-RU" dirty="0"/>
              <a:t>Проверяем, что эта вершина еще не посещена. Если посещена, то выбираем следующий наименьший.</a:t>
            </a:r>
          </a:p>
          <a:p>
            <a:r>
              <a:rPr lang="ru-RU" dirty="0"/>
              <a:t>Проверяем, остались ли </a:t>
            </a:r>
            <a:r>
              <a:rPr lang="ru-RU" dirty="0" err="1"/>
              <a:t>непосещенные</a:t>
            </a:r>
            <a:r>
              <a:rPr lang="ru-RU" dirty="0"/>
              <a:t> вершины/ребра. Если нет, алгоритм завершен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CAD7-7502-4DEE-A0A3-52BFDE3AA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57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49284-2494-4F16-A3A7-07747A39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48" y="3047098"/>
            <a:ext cx="3564920" cy="2965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059D49-426F-47A4-B9C8-15A19E2A98D5}"/>
              </a:ext>
            </a:extLst>
          </p:cNvPr>
          <p:cNvSpPr txBox="1"/>
          <p:nvPr/>
        </p:nvSpPr>
        <p:spPr>
          <a:xfrm>
            <a:off x="4167291" y="3007927"/>
            <a:ext cx="28513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А – 20 -</a:t>
            </a:r>
            <a:r>
              <a:rPr lang="en-US" dirty="0"/>
              <a:t>&gt; </a:t>
            </a:r>
            <a:r>
              <a:rPr lang="ru-RU" dirty="0"/>
              <a:t>В</a:t>
            </a:r>
          </a:p>
          <a:p>
            <a:pPr marL="342900" indent="-342900">
              <a:buAutoNum type="arabicPeriod"/>
            </a:pPr>
            <a:r>
              <a:rPr lang="ru-RU" dirty="0"/>
              <a:t>В – 30 -</a:t>
            </a:r>
            <a:r>
              <a:rPr lang="en-US" dirty="0"/>
              <a:t>&gt; C</a:t>
            </a:r>
          </a:p>
          <a:p>
            <a:pPr marL="342900" indent="-342900">
              <a:buAutoNum type="arabicPeriod"/>
            </a:pPr>
            <a:r>
              <a:rPr lang="en-US" dirty="0"/>
              <a:t>C – 12 –D </a:t>
            </a:r>
          </a:p>
          <a:p>
            <a:pPr marL="342900" indent="-342900">
              <a:buAutoNum type="arabicPeriod"/>
            </a:pPr>
            <a:r>
              <a:rPr lang="ru-RU" dirty="0"/>
              <a:t>Решение найдено:</a:t>
            </a:r>
          </a:p>
          <a:p>
            <a:pPr marL="342900" indent="-342900">
              <a:buAutoNum type="arabicPeriod"/>
            </a:pPr>
            <a:r>
              <a:rPr lang="en-US" dirty="0"/>
              <a:t>ABCD=62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С-А=42 </a:t>
            </a:r>
          </a:p>
          <a:p>
            <a:pPr marL="342900" indent="-342900">
              <a:buAutoNum type="arabicPeriod"/>
            </a:pPr>
            <a:r>
              <a:rPr lang="ru-RU" dirty="0">
                <a:highlight>
                  <a:srgbClr val="FF0000"/>
                </a:highlight>
              </a:rPr>
              <a:t>А</a:t>
            </a:r>
            <a:r>
              <a:rPr lang="en-US" dirty="0">
                <a:highlight>
                  <a:srgbClr val="FF0000"/>
                </a:highlight>
              </a:rPr>
              <a:t>D=35(+)</a:t>
            </a:r>
          </a:p>
          <a:p>
            <a:pPr marL="342900" indent="-342900">
              <a:buAutoNum type="arabicPeriod"/>
            </a:pPr>
            <a:r>
              <a:rPr lang="ru-RU" dirty="0"/>
              <a:t>Решение найдено:</a:t>
            </a:r>
          </a:p>
          <a:p>
            <a:pPr marL="342900" indent="-342900">
              <a:buAutoNum type="arabicPeriod"/>
            </a:pPr>
            <a:r>
              <a:rPr lang="en-US" dirty="0"/>
              <a:t>A-X</a:t>
            </a:r>
          </a:p>
          <a:p>
            <a:pPr marL="342900" indent="-342900">
              <a:buAutoNum type="arabicPeriod"/>
            </a:pPr>
            <a:r>
              <a:rPr lang="en-US" dirty="0"/>
              <a:t>C-X</a:t>
            </a:r>
          </a:p>
          <a:p>
            <a:pPr marL="342900" indent="-342900">
              <a:buAutoNum type="arabicPeriod"/>
            </a:pPr>
            <a:r>
              <a:rPr lang="en-US" dirty="0"/>
              <a:t>ABD=54</a:t>
            </a:r>
          </a:p>
          <a:p>
            <a:pPr marL="342900" indent="-342900">
              <a:buAutoNum type="arabicPeriod"/>
            </a:pPr>
            <a:r>
              <a:rPr lang="ru-RU" dirty="0"/>
              <a:t>Решение найдено</a:t>
            </a:r>
          </a:p>
        </p:txBody>
      </p:sp>
    </p:spTree>
    <p:extLst>
      <p:ext uri="{BB962C8B-B14F-4D97-AF65-F5344CB8AC3E}">
        <p14:creationId xmlns:p14="http://schemas.microsoft.com/office/powerpoint/2010/main" val="39228641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09231"/>
          </a:xfrm>
        </p:spPr>
        <p:txBody>
          <a:bodyPr>
            <a:normAutofit/>
          </a:bodyPr>
          <a:lstStyle/>
          <a:p>
            <a:r>
              <a:rPr lang="ru-RU" dirty="0"/>
              <a:t>Пример алгоритма </a:t>
            </a:r>
            <a:r>
              <a:rPr lang="en-US" dirty="0"/>
              <a:t>Betweenness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1063375"/>
            <a:ext cx="8439258" cy="271519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Метод, разработан </a:t>
            </a:r>
            <a:r>
              <a:rPr lang="ru-RU" dirty="0" err="1"/>
              <a:t>Ньюманом</a:t>
            </a:r>
            <a:r>
              <a:rPr lang="ru-RU" dirty="0"/>
              <a:t> и </a:t>
            </a:r>
            <a:r>
              <a:rPr lang="ru-RU" dirty="0" err="1"/>
              <a:t>Гирваном</a:t>
            </a:r>
            <a:r>
              <a:rPr lang="ru-RU" dirty="0"/>
              <a:t>. </a:t>
            </a:r>
            <a:endParaRPr lang="en-US" dirty="0"/>
          </a:p>
          <a:p>
            <a:r>
              <a:rPr lang="ru-RU" b="1" dirty="0"/>
              <a:t>Центральность по посредничеству </a:t>
            </a:r>
            <a:r>
              <a:rPr lang="ru-RU" dirty="0"/>
              <a:t>считается как количество кратчайших путей между всеми парами вершин, проходящих через данное ребро. Если между вершинами</a:t>
            </a:r>
            <a:r>
              <a:rPr lang="en-US" dirty="0"/>
              <a:t> </a:t>
            </a:r>
            <a:r>
              <a:rPr lang="ru-RU" dirty="0"/>
              <a:t>N кратчайших путей, то каждому ребру прибавляется N1 к значению коэффициента. Чем больше данная величина, тем более вероятно, что данное ребро соединяет</a:t>
            </a:r>
            <a:r>
              <a:rPr lang="en-US" dirty="0"/>
              <a:t> </a:t>
            </a:r>
            <a:r>
              <a:rPr lang="ru-RU" dirty="0"/>
              <a:t>вершины из разных сообществ. </a:t>
            </a:r>
          </a:p>
          <a:p>
            <a:r>
              <a:rPr lang="ru-RU" dirty="0"/>
              <a:t>Например, в крайней ситуации, когда разные группы соединены одним ребром, все кратчайшие пути из одного сообщества в другое</a:t>
            </a:r>
            <a:r>
              <a:rPr lang="en-US" dirty="0"/>
              <a:t> </a:t>
            </a:r>
            <a:r>
              <a:rPr lang="ru-RU" dirty="0"/>
              <a:t>проходят через это ребро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58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C886E-6DF1-4C70-A3DE-D23308B160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42" t="42659" r="37191" b="37366"/>
          <a:stretch/>
        </p:blipFill>
        <p:spPr>
          <a:xfrm>
            <a:off x="1912630" y="3855628"/>
            <a:ext cx="4771352" cy="205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587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DE1F-43A6-4C36-9C08-6A77E7D2C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87025"/>
          </a:xfrm>
        </p:spPr>
        <p:txBody>
          <a:bodyPr/>
          <a:lstStyle/>
          <a:p>
            <a:r>
              <a:rPr lang="ru-RU" dirty="0"/>
              <a:t>Нормировка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40A1F-F233-4C82-AA1F-3E73A73CC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59" y="1764631"/>
            <a:ext cx="7886700" cy="2624490"/>
          </a:xfrm>
        </p:spPr>
        <p:txBody>
          <a:bodyPr>
            <a:normAutofit/>
          </a:bodyPr>
          <a:lstStyle/>
          <a:p>
            <a:pPr algn="just"/>
            <a:r>
              <a:rPr lang="ru-RU" b="1" i="0" dirty="0">
                <a:solidFill>
                  <a:srgbClr val="666666"/>
                </a:solidFill>
                <a:effectLst/>
                <a:latin typeface="Open Sans"/>
              </a:rPr>
              <a:t>Нормировка</a:t>
            </a:r>
            <a:r>
              <a:rPr lang="ru-RU" b="0" i="0" dirty="0">
                <a:solidFill>
                  <a:srgbClr val="666666"/>
                </a:solidFill>
                <a:effectLst/>
                <a:latin typeface="Open Sans"/>
              </a:rPr>
              <a:t> – это корректировка значений в соответствии с некоторыми функциями преобразования, с целью сделать их более удобными для сравнения.</a:t>
            </a:r>
          </a:p>
          <a:p>
            <a:pPr algn="just"/>
            <a:r>
              <a:rPr lang="ru-RU" b="1" i="0" dirty="0">
                <a:solidFill>
                  <a:srgbClr val="666666"/>
                </a:solidFill>
                <a:effectLst/>
                <a:latin typeface="Open Sans"/>
              </a:rPr>
              <a:t>Нормировка данных</a:t>
            </a:r>
            <a:r>
              <a:rPr lang="ru-RU" b="0" i="0" dirty="0">
                <a:solidFill>
                  <a:srgbClr val="666666"/>
                </a:solidFill>
                <a:effectLst/>
                <a:latin typeface="Open Sans"/>
              </a:rPr>
              <a:t> требуется, когда несовместимость единиц измерений переменных может отразиться на результатах и рекомендуется, когда итоговые отчеты могут быть улучшены, если выразить результаты в определенных понятных/совместимых единицах. 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833F2-610E-4850-9AB7-E4E6ECAAA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59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32120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DE1F-43A6-4C36-9C08-6A77E7D2C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87025"/>
          </a:xfrm>
        </p:spPr>
        <p:txBody>
          <a:bodyPr>
            <a:normAutofit fontScale="90000"/>
          </a:bodyPr>
          <a:lstStyle/>
          <a:p>
            <a:r>
              <a:rPr lang="ru-RU" dirty="0"/>
              <a:t>Нормировка весов ребер графа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40A1F-F233-4C82-AA1F-3E73A73CC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59" y="1764632"/>
            <a:ext cx="7886700" cy="2986982"/>
          </a:xfrm>
        </p:spPr>
        <p:txBody>
          <a:bodyPr>
            <a:normAutofit/>
          </a:bodyPr>
          <a:lstStyle/>
          <a:p>
            <a:pPr algn="just"/>
            <a:r>
              <a:rPr lang="ru-RU" b="0" i="0" dirty="0">
                <a:solidFill>
                  <a:srgbClr val="666666"/>
                </a:solidFill>
                <a:effectLst/>
                <a:latin typeface="Open Sans"/>
              </a:rPr>
              <a:t>Установим диапазон нормировки (например, </a:t>
            </a:r>
            <a:r>
              <a:rPr lang="en-US" b="0" i="0" dirty="0">
                <a:solidFill>
                  <a:srgbClr val="666666"/>
                </a:solidFill>
                <a:effectLst/>
                <a:latin typeface="Open Sans"/>
              </a:rPr>
              <a:t>[0;100]</a:t>
            </a:r>
            <a:r>
              <a:rPr lang="ru-RU" b="0" i="0" dirty="0">
                <a:solidFill>
                  <a:srgbClr val="666666"/>
                </a:solidFill>
                <a:effectLst/>
                <a:latin typeface="Open Sans"/>
              </a:rPr>
              <a:t>)</a:t>
            </a:r>
            <a:endParaRPr lang="en-US" b="0" i="0" dirty="0">
              <a:solidFill>
                <a:srgbClr val="666666"/>
              </a:solidFill>
              <a:effectLst/>
              <a:latin typeface="Open Sans"/>
            </a:endParaRPr>
          </a:p>
          <a:p>
            <a:pPr algn="just"/>
            <a:r>
              <a:rPr lang="ru-RU" b="0" i="0" dirty="0">
                <a:solidFill>
                  <a:srgbClr val="666666"/>
                </a:solidFill>
                <a:effectLst/>
                <a:latin typeface="Open Sans"/>
              </a:rPr>
              <a:t>Диапазон масс: 0</a:t>
            </a:r>
            <a:r>
              <a:rPr lang="ru-RU" dirty="0">
                <a:solidFill>
                  <a:srgbClr val="666666"/>
                </a:solidFill>
                <a:latin typeface="Open Sans"/>
              </a:rPr>
              <a:t>..50 кг нормируется в </a:t>
            </a:r>
            <a:r>
              <a:rPr lang="en-US" dirty="0">
                <a:solidFill>
                  <a:srgbClr val="666666"/>
                </a:solidFill>
                <a:latin typeface="Open Sans"/>
              </a:rPr>
              <a:t>[0;100]</a:t>
            </a:r>
            <a:r>
              <a:rPr lang="ru-RU" dirty="0">
                <a:solidFill>
                  <a:srgbClr val="666666"/>
                </a:solidFill>
                <a:latin typeface="Open Sans"/>
              </a:rPr>
              <a:t>, т.е. 1 кг соответствует 2 нормировочные единицы.</a:t>
            </a:r>
          </a:p>
          <a:p>
            <a:pPr algn="just"/>
            <a:r>
              <a:rPr lang="ru-RU" b="0" i="0" dirty="0">
                <a:solidFill>
                  <a:srgbClr val="666666"/>
                </a:solidFill>
                <a:effectLst/>
                <a:latin typeface="Open Sans"/>
              </a:rPr>
              <a:t>Диапазо</a:t>
            </a:r>
            <a:r>
              <a:rPr lang="ru-RU" dirty="0">
                <a:solidFill>
                  <a:srgbClr val="666666"/>
                </a:solidFill>
                <a:latin typeface="Open Sans"/>
              </a:rPr>
              <a:t>н 0..220 руб. нормируется в </a:t>
            </a:r>
            <a:r>
              <a:rPr lang="en-US" dirty="0">
                <a:solidFill>
                  <a:srgbClr val="666666"/>
                </a:solidFill>
                <a:latin typeface="Open Sans"/>
              </a:rPr>
              <a:t>[0;100]</a:t>
            </a:r>
            <a:r>
              <a:rPr lang="ru-RU" dirty="0">
                <a:solidFill>
                  <a:srgbClr val="666666"/>
                </a:solidFill>
                <a:latin typeface="Open Sans"/>
              </a:rPr>
              <a:t>, т.е. 1 руб.</a:t>
            </a:r>
            <a:r>
              <a:rPr lang="en-US" dirty="0">
                <a:solidFill>
                  <a:srgbClr val="666666"/>
                </a:solidFill>
                <a:latin typeface="Open Sans"/>
              </a:rPr>
              <a:t> </a:t>
            </a:r>
            <a:r>
              <a:rPr lang="ru-RU" dirty="0">
                <a:solidFill>
                  <a:srgbClr val="666666"/>
                </a:solidFill>
                <a:latin typeface="Open Sans"/>
              </a:rPr>
              <a:t>соответствует 0.45 нормировочных единиц</a:t>
            </a:r>
          </a:p>
          <a:p>
            <a:pPr algn="just"/>
            <a:r>
              <a:rPr lang="ru-RU" b="0" i="0" dirty="0">
                <a:solidFill>
                  <a:srgbClr val="666666"/>
                </a:solidFill>
                <a:effectLst/>
                <a:latin typeface="Open Sans"/>
              </a:rPr>
              <a:t>Далее </a:t>
            </a:r>
            <a:r>
              <a:rPr lang="ru-RU" dirty="0">
                <a:solidFill>
                  <a:srgbClr val="666666"/>
                </a:solidFill>
                <a:latin typeface="Open Sans"/>
              </a:rPr>
              <a:t>нормированные веса могут суммироваться или перемножаться</a:t>
            </a:r>
          </a:p>
          <a:p>
            <a:pPr lvl="1" algn="just"/>
            <a:r>
              <a:rPr lang="ru-RU" b="0" i="0" dirty="0">
                <a:solidFill>
                  <a:srgbClr val="666666"/>
                </a:solidFill>
                <a:effectLst/>
                <a:latin typeface="Open Sans"/>
              </a:rPr>
              <a:t>20кг+100руб.=40+45=85 </a:t>
            </a:r>
            <a:r>
              <a:rPr lang="ru-RU" b="0" i="0" dirty="0" err="1">
                <a:solidFill>
                  <a:srgbClr val="666666"/>
                </a:solidFill>
                <a:effectLst/>
                <a:latin typeface="Open Sans"/>
              </a:rPr>
              <a:t>н.е</a:t>
            </a:r>
            <a:r>
              <a:rPr lang="ru-RU" b="0" i="0" dirty="0">
                <a:solidFill>
                  <a:srgbClr val="666666"/>
                </a:solidFill>
                <a:effectLst/>
                <a:latin typeface="Open San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833F2-610E-4850-9AB7-E4E6ECAAA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3838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/>
          </a:bodyPr>
          <a:lstStyle/>
          <a:p>
            <a:r>
              <a:rPr lang="ru-RU" dirty="0"/>
              <a:t>Задача о четырех красках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1232900"/>
            <a:ext cx="7730341" cy="295895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1852 году Фрэнсис </a:t>
            </a:r>
            <a:r>
              <a:rPr lang="ru-RU" dirty="0" err="1"/>
              <a:t>Гутри</a:t>
            </a:r>
            <a:r>
              <a:rPr lang="ru-RU" dirty="0"/>
              <a:t>, составляя карту графств Англии, обратил внимание, что для такой цели хватает четырёх красок, Его брат, Фредерик, сообщил об этом наблюдении известному математику О. Де. Моргану, а тот — математической общественности. Точную формулировку гипотезы опубликовал А. Кэли (1878). </a:t>
            </a:r>
          </a:p>
          <a:p>
            <a:r>
              <a:rPr lang="ru-RU" dirty="0"/>
              <a:t>Теорема о четырёх красках — утверждение о том, что всякую карту можно раскрасить четырьмя красками так, чтобы любые две области, имеющие общий участок границы, были раскрашены в разные цвета. Под общим участком границы понимается часть линии, то есть стыки нескольких областей в одной точке общей границей для них не считаются.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61</a:t>
            </a:fld>
            <a:endParaRPr lang="ru-RU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C86F804-100B-4220-922D-6D21600CD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063" y="3933572"/>
            <a:ext cx="4131871" cy="242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8966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Планарные и </a:t>
            </a:r>
            <a:r>
              <a:rPr lang="ru-RU" dirty="0" err="1"/>
              <a:t>непланарные</a:t>
            </a:r>
            <a:r>
              <a:rPr lang="ru-RU" dirty="0"/>
              <a:t> графы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1232900"/>
            <a:ext cx="7730341" cy="1880170"/>
          </a:xfrm>
        </p:spPr>
        <p:txBody>
          <a:bodyPr>
            <a:normAutofit/>
          </a:bodyPr>
          <a:lstStyle/>
          <a:p>
            <a:r>
              <a:rPr lang="ru-RU" b="1" dirty="0" err="1"/>
              <a:t>Плана́рный</a:t>
            </a:r>
            <a:r>
              <a:rPr lang="ru-RU" b="1" dirty="0"/>
              <a:t> граф </a:t>
            </a:r>
            <a:r>
              <a:rPr lang="ru-RU" dirty="0"/>
              <a:t>— граф, который может быть изображён на плоскости без пересечения рёбер.</a:t>
            </a:r>
          </a:p>
          <a:p>
            <a:r>
              <a:rPr lang="ru-RU" b="1" dirty="0"/>
              <a:t>Хроматическое число графа </a:t>
            </a:r>
            <a:r>
              <a:rPr lang="ru-RU" dirty="0"/>
              <a:t>– минимальное количество красок, необходимое, чтобы 2 смежные вершины всегда были раскрашены в различные цвета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62</a:t>
            </a:fld>
            <a:endParaRPr lang="ru-RU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7DFB876-155E-4B97-8507-691A67FD0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363" y="3030876"/>
            <a:ext cx="3497559" cy="299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243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/>
          </a:bodyPr>
          <a:lstStyle/>
          <a:p>
            <a:r>
              <a:rPr lang="ru-RU" dirty="0"/>
              <a:t>Пример </a:t>
            </a:r>
            <a:r>
              <a:rPr lang="ru-RU" dirty="0" err="1"/>
              <a:t>непланарного</a:t>
            </a:r>
            <a:r>
              <a:rPr lang="ru-RU" dirty="0"/>
              <a:t> графа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63</a:t>
            </a:fld>
            <a:endParaRPr lang="ru-RU" dirty="0"/>
          </a:p>
        </p:txBody>
      </p:sp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BAA17846-042A-4C19-A81E-E29E3252D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157572" y="1181353"/>
            <a:ext cx="4064071" cy="36322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AA87ED-6BEB-4B60-A00B-A190EA3D00E1}"/>
              </a:ext>
            </a:extLst>
          </p:cNvPr>
          <p:cNvSpPr txBox="1"/>
          <p:nvPr/>
        </p:nvSpPr>
        <p:spPr>
          <a:xfrm>
            <a:off x="427340" y="5307315"/>
            <a:ext cx="8322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прикладного использования: количество коммуникационных групп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583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/>
          </a:bodyPr>
          <a:lstStyle/>
          <a:p>
            <a:r>
              <a:rPr lang="ru-RU" dirty="0"/>
              <a:t>Грани в планарном графе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1078787"/>
            <a:ext cx="7730341" cy="1597397"/>
          </a:xfrm>
        </p:spPr>
        <p:txBody>
          <a:bodyPr>
            <a:normAutofit/>
          </a:bodyPr>
          <a:lstStyle/>
          <a:p>
            <a:r>
              <a:rPr lang="ru-RU" b="1" dirty="0"/>
              <a:t>Гранью</a:t>
            </a:r>
            <a:r>
              <a:rPr lang="ru-RU" dirty="0"/>
              <a:t> называется часть плоскости, ограниченная рёбрами этого графа. </a:t>
            </a:r>
          </a:p>
          <a:p>
            <a:r>
              <a:rPr lang="ru-RU" dirty="0"/>
              <a:t>Одна из граней будет отличаться от остальных тем, что будет иметь бесконечную площадь, такая грань называется </a:t>
            </a:r>
            <a:r>
              <a:rPr lang="ru-RU" b="1" dirty="0"/>
              <a:t>внешней гранью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64</a:t>
            </a:fld>
            <a:endParaRPr lang="ru-RU" dirty="0"/>
          </a:p>
        </p:txBody>
      </p:sp>
      <p:sp>
        <p:nvSpPr>
          <p:cNvPr id="5" name="AutoShape 2" descr="\ |V(G)|-|E(G)|+|F(G)|=2.">
            <a:extLst>
              <a:ext uri="{FF2B5EF4-FFF2-40B4-BE49-F238E27FC236}">
                <a16:creationId xmlns:a16="http://schemas.microsoft.com/office/drawing/2014/main" id="{329542C9-7BEF-422B-A6C7-6F9E24029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3D6918-59E1-43BF-B191-990109792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15" y="2676184"/>
            <a:ext cx="4548770" cy="389102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FFF14C-46B4-4726-8CF6-57B7B1704C4B}"/>
              </a:ext>
            </a:extLst>
          </p:cNvPr>
          <p:cNvCxnSpPr>
            <a:cxnSpLocks/>
          </p:cNvCxnSpPr>
          <p:nvPr/>
        </p:nvCxnSpPr>
        <p:spPr>
          <a:xfrm>
            <a:off x="3252142" y="3128249"/>
            <a:ext cx="421241" cy="83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8E147C-85DF-4A4D-8F9B-502C3092B1B9}"/>
              </a:ext>
            </a:extLst>
          </p:cNvPr>
          <p:cNvCxnSpPr>
            <a:cxnSpLocks/>
          </p:cNvCxnSpPr>
          <p:nvPr/>
        </p:nvCxnSpPr>
        <p:spPr>
          <a:xfrm>
            <a:off x="2928505" y="3852577"/>
            <a:ext cx="1276452" cy="76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0EA5E2-F63A-4DAE-ADC3-7951742C1906}"/>
              </a:ext>
            </a:extLst>
          </p:cNvPr>
          <p:cNvCxnSpPr>
            <a:cxnSpLocks/>
          </p:cNvCxnSpPr>
          <p:nvPr/>
        </p:nvCxnSpPr>
        <p:spPr>
          <a:xfrm flipH="1">
            <a:off x="5543281" y="3404336"/>
            <a:ext cx="343220" cy="658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74F1A9-88EF-4441-AE86-9090D444E707}"/>
              </a:ext>
            </a:extLst>
          </p:cNvPr>
          <p:cNvCxnSpPr>
            <a:cxnSpLocks/>
          </p:cNvCxnSpPr>
          <p:nvPr/>
        </p:nvCxnSpPr>
        <p:spPr>
          <a:xfrm>
            <a:off x="4962308" y="6010149"/>
            <a:ext cx="1233009" cy="113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2694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Формула Эйлера. </a:t>
            </a:r>
            <a:br>
              <a:rPr lang="ru-RU" dirty="0"/>
            </a:br>
            <a:r>
              <a:rPr lang="ru-RU" dirty="0"/>
              <a:t>Практическое применение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78" y="1472667"/>
            <a:ext cx="7730341" cy="1802221"/>
          </a:xfrm>
        </p:spPr>
        <p:txBody>
          <a:bodyPr>
            <a:normAutofit/>
          </a:bodyPr>
          <a:lstStyle/>
          <a:p>
            <a:r>
              <a:rPr lang="ru-RU" dirty="0"/>
              <a:t>Для произвольного плоского связного графа G с V вершинами, E ребрами и F гранями справедливо следующее соотношение: </a:t>
            </a:r>
            <a:r>
              <a:rPr lang="ru-RU" b="1" dirty="0"/>
              <a:t>V−E+F=2</a:t>
            </a:r>
          </a:p>
          <a:p>
            <a:r>
              <a:rPr lang="ru-RU" b="1" dirty="0"/>
              <a:t>Лемма. </a:t>
            </a:r>
            <a:r>
              <a:rPr lang="ru-RU" dirty="0"/>
              <a:t>Полный граф с пятью вершинами (К5) нельзя уложить на плоскость.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65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9B118-F607-424A-85CD-C820F795B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78" y="3173361"/>
            <a:ext cx="2415846" cy="236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77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Формула Эйлера. </a:t>
            </a:r>
            <a:br>
              <a:rPr lang="ru-RU" dirty="0"/>
            </a:br>
            <a:r>
              <a:rPr lang="ru-RU" dirty="0"/>
              <a:t>Практическое применение</a:t>
            </a:r>
            <a:r>
              <a:rPr lang="en-US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78" y="1472668"/>
            <a:ext cx="7730341" cy="849796"/>
          </a:xfrm>
        </p:spPr>
        <p:txBody>
          <a:bodyPr>
            <a:normAutofit/>
          </a:bodyPr>
          <a:lstStyle/>
          <a:p>
            <a:r>
              <a:rPr lang="ru-RU" dirty="0"/>
              <a:t>любой выпуклый многогранник можно изобразить в виде плоского графа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66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5004B-0CA9-4B3C-8F16-D81D8AF874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76" t="32871" r="27304" b="33571"/>
          <a:stretch/>
        </p:blipFill>
        <p:spPr>
          <a:xfrm>
            <a:off x="2390884" y="2547990"/>
            <a:ext cx="4613948" cy="19875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D5411-D008-469B-947E-D0AFB6B89935}"/>
              </a:ext>
            </a:extLst>
          </p:cNvPr>
          <p:cNvSpPr txBox="1"/>
          <p:nvPr/>
        </p:nvSpPr>
        <p:spPr>
          <a:xfrm>
            <a:off x="1390350" y="5385332"/>
            <a:ext cx="6615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Постройте планарный граф для четырехугольной пирамиды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849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2" y="136524"/>
            <a:ext cx="9041258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Области применения </a:t>
            </a:r>
            <a:br>
              <a:rPr lang="ru-RU" dirty="0"/>
            </a:br>
            <a:r>
              <a:rPr lang="ru-RU" dirty="0"/>
              <a:t>планарных графов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78" y="1472668"/>
            <a:ext cx="7730341" cy="1845885"/>
          </a:xfrm>
        </p:spPr>
        <p:txBody>
          <a:bodyPr>
            <a:normAutofit/>
          </a:bodyPr>
          <a:lstStyle/>
          <a:p>
            <a:r>
              <a:rPr lang="ru-RU" dirty="0"/>
              <a:t>Прокладка дорог</a:t>
            </a:r>
          </a:p>
          <a:p>
            <a:r>
              <a:rPr lang="ru-RU" dirty="0"/>
              <a:t>Проектирование трасс проводок (электро-, электронные устройства; </a:t>
            </a:r>
            <a:r>
              <a:rPr lang="ru-RU" dirty="0" err="1"/>
              <a:t>гидропроводки</a:t>
            </a:r>
            <a:r>
              <a:rPr lang="ru-RU" dirty="0"/>
              <a:t>)</a:t>
            </a:r>
          </a:p>
          <a:p>
            <a:r>
              <a:rPr lang="ru-RU" dirty="0"/>
              <a:t>Построение схем информационных потоков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41910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20" y="249540"/>
            <a:ext cx="8332342" cy="849795"/>
          </a:xfrm>
        </p:spPr>
        <p:txBody>
          <a:bodyPr>
            <a:normAutofit/>
          </a:bodyPr>
          <a:lstStyle/>
          <a:p>
            <a:r>
              <a:rPr lang="ru-RU" dirty="0"/>
              <a:t>Задача – 12-20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78" y="1472669"/>
            <a:ext cx="7730341" cy="1773966"/>
          </a:xfrm>
        </p:spPr>
        <p:txBody>
          <a:bodyPr>
            <a:normAutofit/>
          </a:bodyPr>
          <a:lstStyle/>
          <a:p>
            <a:r>
              <a:rPr lang="ru-RU" dirty="0"/>
              <a:t>Между 4 объектами необходимо проложить 6 трасс (дорог), так чтобы существовал хотя бы один путь между любыми 2мя объектами</a:t>
            </a:r>
          </a:p>
          <a:p>
            <a:r>
              <a:rPr lang="ru-RU" dirty="0"/>
              <a:t>Постройте ориентированный планарный граф, описывающий данное решение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59950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658" y="291671"/>
            <a:ext cx="8332342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Стохастические или </a:t>
            </a:r>
            <a:br>
              <a:rPr lang="ru-RU" dirty="0"/>
            </a:br>
            <a:r>
              <a:rPr lang="ru-RU" dirty="0"/>
              <a:t>вероятностные графы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2" y="1689262"/>
            <a:ext cx="7730341" cy="3601195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Стохастическая модель </a:t>
            </a:r>
            <a:r>
              <a:rPr lang="ru-RU" dirty="0"/>
              <a:t>– это модель, где учитываются случайные факторы.</a:t>
            </a:r>
          </a:p>
          <a:p>
            <a:r>
              <a:rPr lang="ru-RU" b="1" dirty="0"/>
              <a:t>Стохастический граф </a:t>
            </a:r>
            <a:r>
              <a:rPr lang="ru-RU" dirty="0"/>
              <a:t>– граф, построенный на основе модели с учетом вероятности случайных факторов</a:t>
            </a:r>
          </a:p>
          <a:p>
            <a:r>
              <a:rPr lang="ru-RU" dirty="0"/>
              <a:t>Стохастический граф </a:t>
            </a:r>
            <a:r>
              <a:rPr lang="en-US" dirty="0"/>
              <a:t>G(V,U)</a:t>
            </a:r>
            <a:r>
              <a:rPr lang="ru-RU" dirty="0"/>
              <a:t>, отображающий процесс в целом, получается объединением графов </a:t>
            </a:r>
            <a:r>
              <a:rPr lang="en-US" dirty="0"/>
              <a:t>G’(V’,U’) </a:t>
            </a:r>
            <a:r>
              <a:rPr lang="ru-RU" dirty="0"/>
              <a:t>с подстановкой всего множества дуг (</a:t>
            </a:r>
            <a:r>
              <a:rPr lang="en-US" dirty="0" err="1"/>
              <a:t>vi,vj</a:t>
            </a:r>
            <a:r>
              <a:rPr lang="en-US" dirty="0"/>
              <a:t>)</a:t>
            </a:r>
            <a:r>
              <a:rPr lang="ru-RU" dirty="0"/>
              <a:t>, которые отображают альтернативы, предусматриваемые для вершин.</a:t>
            </a:r>
          </a:p>
          <a:p>
            <a:r>
              <a:rPr lang="ru-RU" b="1" dirty="0"/>
              <a:t>Области применения</a:t>
            </a:r>
            <a:r>
              <a:rPr lang="ru-RU" dirty="0"/>
              <a:t>: стратегический менеджмент, экспертные системы (СППР); системы управления технологическими процессами с элементами вероятностного характера.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69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4956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ru-RU" sz="3400"/>
              <a:t>Пример задачи по оценке действий пользователя. </a:t>
            </a:r>
            <a:r>
              <a:rPr lang="en-US" sz="3400"/>
              <a:t>Customer journey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FA46C498-BE7F-4EAB-A305-6E5141418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11441"/>
            <a:ext cx="8103458" cy="925813"/>
          </a:xfrm>
        </p:spPr>
        <p:txBody>
          <a:bodyPr>
            <a:normAutofit/>
          </a:bodyPr>
          <a:lstStyle/>
          <a:p>
            <a:r>
              <a:rPr lang="ru-RU" b="1" dirty="0" err="1"/>
              <a:t>customer</a:t>
            </a:r>
            <a:r>
              <a:rPr lang="ru-RU" b="1" dirty="0"/>
              <a:t> </a:t>
            </a:r>
            <a:r>
              <a:rPr lang="ru-RU" b="1" dirty="0" err="1"/>
              <a:t>journey</a:t>
            </a:r>
            <a:r>
              <a:rPr lang="ru-RU" b="1" dirty="0"/>
              <a:t> </a:t>
            </a:r>
            <a:r>
              <a:rPr lang="ru-RU" dirty="0"/>
              <a:t>— это визуализированный путь покупателя, который он проходит от момента возникновения потребности в определенном продукте и до момента совершения покупки.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C631279-F002-4972-BD78-043E537239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2" t="-48" r="29928" b="-764"/>
          <a:stretch/>
        </p:blipFill>
        <p:spPr>
          <a:xfrm>
            <a:off x="2550642" y="2937004"/>
            <a:ext cx="3547786" cy="2621869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9251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2641772" cy="656366"/>
          </a:xfrm>
        </p:spPr>
        <p:txBody>
          <a:bodyPr anchor="ctr">
            <a:normAutofit/>
          </a:bodyPr>
          <a:lstStyle/>
          <a:p>
            <a:r>
              <a:rPr lang="ru-RU" sz="3400" dirty="0"/>
              <a:t>Пример</a:t>
            </a:r>
            <a:endParaRPr lang="en-US" sz="3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71</a:t>
            </a:fld>
            <a:endParaRPr lang="ru-RU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EE2068-B9A2-4810-841B-FD4FC088E5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29" t="1338" r="2162" b="10909"/>
          <a:stretch/>
        </p:blipFill>
        <p:spPr>
          <a:xfrm>
            <a:off x="0" y="1115736"/>
            <a:ext cx="8989241" cy="474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718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241" y="106233"/>
            <a:ext cx="5137963" cy="656366"/>
          </a:xfrm>
        </p:spPr>
        <p:txBody>
          <a:bodyPr anchor="ctr">
            <a:normAutofit/>
          </a:bodyPr>
          <a:lstStyle/>
          <a:p>
            <a:r>
              <a:rPr lang="ru-RU" sz="3400" dirty="0"/>
              <a:t>Пример</a:t>
            </a:r>
            <a:r>
              <a:rPr lang="en-US" sz="3400" dirty="0"/>
              <a:t> IKEA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72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6DC9D6-5CDC-445C-9DC7-DF9B3FBC8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128" y="861428"/>
            <a:ext cx="5541744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353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658" y="136524"/>
            <a:ext cx="8332342" cy="849795"/>
          </a:xfrm>
        </p:spPr>
        <p:txBody>
          <a:bodyPr>
            <a:normAutofit/>
          </a:bodyPr>
          <a:lstStyle/>
          <a:p>
            <a:r>
              <a:rPr lang="ru-RU" dirty="0"/>
              <a:t>Стохастический граф. Пример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73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5ADD6A-39F4-4F44-B0F7-70AEAB35E6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59" t="37266" r="35843" b="36167"/>
          <a:stretch/>
        </p:blipFill>
        <p:spPr>
          <a:xfrm>
            <a:off x="713335" y="1632252"/>
            <a:ext cx="8002450" cy="28610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67C0F5-2987-4BE0-B8AE-39C88D71738E}"/>
              </a:ext>
            </a:extLst>
          </p:cNvPr>
          <p:cNvSpPr txBox="1"/>
          <p:nvPr/>
        </p:nvSpPr>
        <p:spPr>
          <a:xfrm>
            <a:off x="1125550" y="5139275"/>
            <a:ext cx="636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Вес ребра = Вероятность*Вес детерминированного ребра</a:t>
            </a:r>
          </a:p>
        </p:txBody>
      </p:sp>
    </p:spTree>
    <p:extLst>
      <p:ext uri="{BB962C8B-B14F-4D97-AF65-F5344CB8AC3E}">
        <p14:creationId xmlns:p14="http://schemas.microsoft.com/office/powerpoint/2010/main" val="6441904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45AD45-251D-4E5C-AFE3-E6519B7FC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1"/>
            <a:ext cx="7379042" cy="737312"/>
          </a:xfrm>
        </p:spPr>
        <p:txBody>
          <a:bodyPr anchor="b">
            <a:normAutofit fontScale="90000"/>
          </a:bodyPr>
          <a:lstStyle/>
          <a:p>
            <a:r>
              <a:rPr lang="ru-RU" sz="2700" dirty="0"/>
              <a:t>Пример </a:t>
            </a:r>
            <a:r>
              <a:rPr lang="en-US" sz="2700" dirty="0"/>
              <a:t>CJ</a:t>
            </a:r>
            <a:r>
              <a:rPr lang="ru-RU" sz="2700" dirty="0"/>
              <a:t> приобретения поездки </a:t>
            </a:r>
            <a:br>
              <a:rPr lang="ru-RU" sz="2700" dirty="0"/>
            </a:br>
            <a:r>
              <a:rPr lang="ru-RU" sz="2700" dirty="0"/>
              <a:t>(товара) на сайте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E086F79-9B55-423A-AF4B-4966CC7065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2774" b="-4870"/>
          <a:stretch/>
        </p:blipFill>
        <p:spPr>
          <a:xfrm>
            <a:off x="4523616" y="1936649"/>
            <a:ext cx="3948502" cy="2984702"/>
          </a:xfrm>
          <a:prstGeom prst="rect">
            <a:avLst/>
          </a:prstGeom>
          <a:noFill/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AC8E8136-EC88-4A8E-B429-F79A98BAD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2984702"/>
          </a:xfrm>
        </p:spPr>
        <p:txBody>
          <a:bodyPr>
            <a:normAutofit/>
          </a:bodyPr>
          <a:lstStyle/>
          <a:p>
            <a:r>
              <a:rPr lang="ru-RU" dirty="0"/>
              <a:t>V(1) – стартовая страница</a:t>
            </a:r>
          </a:p>
          <a:p>
            <a:r>
              <a:rPr lang="ru-RU" dirty="0"/>
              <a:t>3 вероятных действия пользователя:</a:t>
            </a:r>
          </a:p>
          <a:p>
            <a:r>
              <a:rPr lang="ru-RU" dirty="0"/>
              <a:t>i.	Авторизоваться (V2)</a:t>
            </a:r>
          </a:p>
          <a:p>
            <a:r>
              <a:rPr lang="ru-RU" dirty="0" err="1"/>
              <a:t>ii</a:t>
            </a:r>
            <a:r>
              <a:rPr lang="ru-RU" dirty="0"/>
              <a:t>.	Выбрать маршрут (V3)</a:t>
            </a:r>
          </a:p>
          <a:p>
            <a:r>
              <a:rPr lang="ru-RU" dirty="0" err="1"/>
              <a:t>iii</a:t>
            </a:r>
            <a:r>
              <a:rPr lang="ru-RU" dirty="0"/>
              <a:t>.	Покинуть систему (петля) (V1)</a:t>
            </a:r>
          </a:p>
          <a:p>
            <a:endParaRPr lang="ru-RU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57CAC108-DAE4-4B1C-84C5-3B46D34B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74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596210-56AA-4EA1-AC9B-90E791BABCC6}"/>
              </a:ext>
            </a:extLst>
          </p:cNvPr>
          <p:cNvSpPr txBox="1"/>
          <p:nvPr/>
        </p:nvSpPr>
        <p:spPr>
          <a:xfrm>
            <a:off x="5360276" y="3689131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4331C-75D5-40D4-96B1-9D05B9C4E964}"/>
              </a:ext>
            </a:extLst>
          </p:cNvPr>
          <p:cNvSpPr txBox="1"/>
          <p:nvPr/>
        </p:nvSpPr>
        <p:spPr>
          <a:xfrm>
            <a:off x="7260677" y="2632842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3FDE43-21FE-42E5-9ED2-80C546C4E4F8}"/>
              </a:ext>
            </a:extLst>
          </p:cNvPr>
          <p:cNvSpPr txBox="1"/>
          <p:nvPr/>
        </p:nvSpPr>
        <p:spPr>
          <a:xfrm>
            <a:off x="7239657" y="4335517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V3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6904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33B23-0D6B-42E0-9493-A14C89AA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357352"/>
            <a:ext cx="8001533" cy="810612"/>
          </a:xfrm>
        </p:spPr>
        <p:txBody>
          <a:bodyPr>
            <a:normAutofit fontScale="90000"/>
          </a:bodyPr>
          <a:lstStyle/>
          <a:p>
            <a:r>
              <a:rPr lang="ru-RU" dirty="0"/>
              <a:t>Вероятностные действия пользователя в системе</a:t>
            </a:r>
            <a:r>
              <a:rPr lang="en-US" dirty="0"/>
              <a:t> </a:t>
            </a:r>
            <a:r>
              <a:rPr lang="ru-RU" dirty="0"/>
              <a:t>после выбора маршрута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A6DDF-B5CC-4C77-8069-153285AF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16" y="1598677"/>
            <a:ext cx="8001534" cy="156866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Выбрать поездку (услугу, товар) (</a:t>
            </a:r>
            <a:r>
              <a:rPr lang="en-US" dirty="0"/>
              <a:t>V4)</a:t>
            </a:r>
          </a:p>
          <a:p>
            <a:r>
              <a:rPr lang="ru-RU" dirty="0"/>
              <a:t>Перейти к другому варианту выбора (V5)</a:t>
            </a:r>
          </a:p>
          <a:p>
            <a:r>
              <a:rPr lang="ru-RU" dirty="0"/>
              <a:t>Выбрать маршрут (перейти в состояние V3)</a:t>
            </a:r>
          </a:p>
          <a:p>
            <a:r>
              <a:rPr lang="ru-RU" dirty="0"/>
              <a:t>Вернуться в начало (покинуть поиск) (V1)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EA2A4D-9623-41F1-B2DC-4C0DB066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75</a:t>
            </a:fld>
            <a:endParaRPr lang="ru-RU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6CA9F296-FA9A-4850-92E7-21F5249DC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7674" y="5557793"/>
            <a:ext cx="600075" cy="29316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p(2,1)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Flowchart: Connector 5">
            <a:extLst>
              <a:ext uri="{FF2B5EF4-FFF2-40B4-BE49-F238E27FC236}">
                <a16:creationId xmlns:a16="http://schemas.microsoft.com/office/drawing/2014/main" id="{F748E4D9-6F78-41AF-AEA6-37E1CDC0A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695" y="4638950"/>
            <a:ext cx="600075" cy="624106"/>
          </a:xfrm>
          <a:prstGeom prst="flowChartConnector">
            <a:avLst/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V2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8DFFD77E-7FDD-42A8-8B3E-9C4CAA209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739" y="4121727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p(2,5)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5F0B42D-3B1E-405D-892B-0DACC8B71C80}"/>
              </a:ext>
            </a:extLst>
          </p:cNvPr>
          <p:cNvSpPr/>
          <p:nvPr/>
        </p:nvSpPr>
        <p:spPr>
          <a:xfrm>
            <a:off x="3334232" y="3753353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BD74C44E-9EE0-43BD-9DE7-60A52B2FC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256" y="4638506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p(2,3)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B4F047FC-FA81-4DAE-933C-4E269815A13E}"/>
              </a:ext>
            </a:extLst>
          </p:cNvPr>
          <p:cNvCxnSpPr>
            <a:cxnSpLocks/>
          </p:cNvCxnSpPr>
          <p:nvPr/>
        </p:nvCxnSpPr>
        <p:spPr>
          <a:xfrm flipV="1">
            <a:off x="2573140" y="4258972"/>
            <a:ext cx="835661" cy="551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0">
            <a:extLst>
              <a:ext uri="{FF2B5EF4-FFF2-40B4-BE49-F238E27FC236}">
                <a16:creationId xmlns:a16="http://schemas.microsoft.com/office/drawing/2014/main" id="{794621EB-F10A-4C14-B14E-C20C7E8D8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770" y="25090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E0A6AF-0ED2-486D-B7E7-F5B4CC252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045" y="2966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7" name="Flowchart: Connector 9">
            <a:extLst>
              <a:ext uri="{FF2B5EF4-FFF2-40B4-BE49-F238E27FC236}">
                <a16:creationId xmlns:a16="http://schemas.microsoft.com/office/drawing/2014/main" id="{7F7E6192-7D1D-4A4A-9D58-5A110A7E8F74}"/>
              </a:ext>
            </a:extLst>
          </p:cNvPr>
          <p:cNvSpPr/>
          <p:nvPr/>
        </p:nvSpPr>
        <p:spPr>
          <a:xfrm>
            <a:off x="3315336" y="4773158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8" name="Flowchart: Connector 9">
            <a:extLst>
              <a:ext uri="{FF2B5EF4-FFF2-40B4-BE49-F238E27FC236}">
                <a16:creationId xmlns:a16="http://schemas.microsoft.com/office/drawing/2014/main" id="{A085E6EC-296C-4C41-BF61-6F79140C4CD8}"/>
              </a:ext>
            </a:extLst>
          </p:cNvPr>
          <p:cNvSpPr/>
          <p:nvPr/>
        </p:nvSpPr>
        <p:spPr>
          <a:xfrm>
            <a:off x="3314416" y="5791328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cxnSp>
        <p:nvCxnSpPr>
          <p:cNvPr id="20" name="Straight Arrow Connector 18">
            <a:extLst>
              <a:ext uri="{FF2B5EF4-FFF2-40B4-BE49-F238E27FC236}">
                <a16:creationId xmlns:a16="http://schemas.microsoft.com/office/drawing/2014/main" id="{3951465A-D62D-4DB6-AE7C-29372056D6E5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2624335" y="4952135"/>
            <a:ext cx="691001" cy="14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8">
            <a:extLst>
              <a:ext uri="{FF2B5EF4-FFF2-40B4-BE49-F238E27FC236}">
                <a16:creationId xmlns:a16="http://schemas.microsoft.com/office/drawing/2014/main" id="{4E601536-D6B4-4C54-9086-2F715BC4D2DD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2478755" y="5226852"/>
            <a:ext cx="835661" cy="888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467B09B-700F-4000-B7A7-3C6723342D49}"/>
              </a:ext>
            </a:extLst>
          </p:cNvPr>
          <p:cNvSpPr txBox="1"/>
          <p:nvPr/>
        </p:nvSpPr>
        <p:spPr>
          <a:xfrm>
            <a:off x="3420197" y="5936051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B98C6-83C7-4298-A6D2-F7DE241388CF}"/>
              </a:ext>
            </a:extLst>
          </p:cNvPr>
          <p:cNvSpPr txBox="1"/>
          <p:nvPr/>
        </p:nvSpPr>
        <p:spPr>
          <a:xfrm flipH="1">
            <a:off x="3456064" y="4904675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2262DB-5F25-45F9-B627-B6F71E47BF5D}"/>
              </a:ext>
            </a:extLst>
          </p:cNvPr>
          <p:cNvSpPr txBox="1"/>
          <p:nvPr/>
        </p:nvSpPr>
        <p:spPr>
          <a:xfrm flipH="1">
            <a:off x="3470909" y="3872252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Flowchart: Connector 9">
            <a:extLst>
              <a:ext uri="{FF2B5EF4-FFF2-40B4-BE49-F238E27FC236}">
                <a16:creationId xmlns:a16="http://schemas.microsoft.com/office/drawing/2014/main" id="{DB9D89F5-A6BE-4D83-9FEA-4E7C60431E08}"/>
              </a:ext>
            </a:extLst>
          </p:cNvPr>
          <p:cNvSpPr/>
          <p:nvPr/>
        </p:nvSpPr>
        <p:spPr>
          <a:xfrm>
            <a:off x="1942147" y="3357455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DDFE1C-4390-4C33-A821-96319868BB88}"/>
              </a:ext>
            </a:extLst>
          </p:cNvPr>
          <p:cNvSpPr txBox="1"/>
          <p:nvPr/>
        </p:nvSpPr>
        <p:spPr>
          <a:xfrm flipH="1">
            <a:off x="2004695" y="3485903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Straight Arrow Connector 18">
            <a:extLst>
              <a:ext uri="{FF2B5EF4-FFF2-40B4-BE49-F238E27FC236}">
                <a16:creationId xmlns:a16="http://schemas.microsoft.com/office/drawing/2014/main" id="{9635B484-2089-403B-96B1-A181505B5BC4}"/>
              </a:ext>
            </a:extLst>
          </p:cNvPr>
          <p:cNvCxnSpPr>
            <a:cxnSpLocks/>
            <a:stCxn id="7" idx="0"/>
            <a:endCxn id="28" idx="4"/>
          </p:cNvCxnSpPr>
          <p:nvPr/>
        </p:nvCxnSpPr>
        <p:spPr>
          <a:xfrm flipH="1" flipV="1">
            <a:off x="2304732" y="4006162"/>
            <a:ext cx="1" cy="632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8">
            <a:extLst>
              <a:ext uri="{FF2B5EF4-FFF2-40B4-BE49-F238E27FC236}">
                <a16:creationId xmlns:a16="http://schemas.microsoft.com/office/drawing/2014/main" id="{124CF811-ADB2-470E-973E-C5E632F87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5117" y="4181042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p(2,4)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9621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33B23-0D6B-42E0-9493-A14C89AA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357352"/>
            <a:ext cx="8001533" cy="810612"/>
          </a:xfrm>
        </p:spPr>
        <p:txBody>
          <a:bodyPr>
            <a:normAutofit fontScale="90000"/>
          </a:bodyPr>
          <a:lstStyle/>
          <a:p>
            <a:r>
              <a:rPr lang="ru-RU" dirty="0"/>
              <a:t>Вероятностные действия пользователя в системе</a:t>
            </a:r>
            <a:r>
              <a:rPr lang="en-US" dirty="0"/>
              <a:t> </a:t>
            </a:r>
            <a:r>
              <a:rPr lang="ru-RU" dirty="0"/>
              <a:t>после выбора поездки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A6DDF-B5CC-4C77-8069-153285AF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16" y="1598677"/>
            <a:ext cx="8001534" cy="1136801"/>
          </a:xfrm>
        </p:spPr>
        <p:txBody>
          <a:bodyPr>
            <a:normAutofit/>
          </a:bodyPr>
          <a:lstStyle/>
          <a:p>
            <a:r>
              <a:rPr lang="ru-RU" dirty="0"/>
              <a:t>Произвести покупку (</a:t>
            </a:r>
            <a:r>
              <a:rPr lang="en-US" dirty="0"/>
              <a:t>V6) </a:t>
            </a:r>
            <a:r>
              <a:rPr lang="ru-RU" dirty="0"/>
              <a:t>и выйти из системы (</a:t>
            </a:r>
            <a:r>
              <a:rPr lang="en-US" dirty="0"/>
              <a:t>V7)</a:t>
            </a:r>
          </a:p>
          <a:p>
            <a:r>
              <a:rPr lang="ru-RU" dirty="0"/>
              <a:t>Перейти к новому поиску (</a:t>
            </a:r>
            <a:r>
              <a:rPr lang="en-US" dirty="0"/>
              <a:t>V5)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EA2A4D-9623-41F1-B2DC-4C0DB066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76</a:t>
            </a:fld>
            <a:endParaRPr lang="ru-RU"/>
          </a:p>
        </p:txBody>
      </p:sp>
      <p:sp>
        <p:nvSpPr>
          <p:cNvPr id="7" name="Flowchart: Connector 5">
            <a:extLst>
              <a:ext uri="{FF2B5EF4-FFF2-40B4-BE49-F238E27FC236}">
                <a16:creationId xmlns:a16="http://schemas.microsoft.com/office/drawing/2014/main" id="{F748E4D9-6F78-41AF-AEA6-37E1CDC0A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109" y="4642614"/>
            <a:ext cx="600075" cy="624106"/>
          </a:xfrm>
          <a:prstGeom prst="flowChartConnector">
            <a:avLst/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8DFFD77E-7FDD-42A8-8B3E-9C4CAA209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140" y="4139115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5F0B42D-3B1E-405D-892B-0DACC8B71C80}"/>
              </a:ext>
            </a:extLst>
          </p:cNvPr>
          <p:cNvSpPr/>
          <p:nvPr/>
        </p:nvSpPr>
        <p:spPr>
          <a:xfrm>
            <a:off x="3334232" y="3753353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BD74C44E-9EE0-43BD-9DE7-60A52B2FC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0272" y="5254103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B4F047FC-FA81-4DAE-933C-4E269815A13E}"/>
              </a:ext>
            </a:extLst>
          </p:cNvPr>
          <p:cNvCxnSpPr>
            <a:cxnSpLocks/>
          </p:cNvCxnSpPr>
          <p:nvPr/>
        </p:nvCxnSpPr>
        <p:spPr>
          <a:xfrm flipV="1">
            <a:off x="2573140" y="4258972"/>
            <a:ext cx="835661" cy="551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0">
            <a:extLst>
              <a:ext uri="{FF2B5EF4-FFF2-40B4-BE49-F238E27FC236}">
                <a16:creationId xmlns:a16="http://schemas.microsoft.com/office/drawing/2014/main" id="{794621EB-F10A-4C14-B14E-C20C7E8D8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770" y="25090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E0A6AF-0ED2-486D-B7E7-F5B4CC252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045" y="2966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7" name="Flowchart: Connector 9">
            <a:extLst>
              <a:ext uri="{FF2B5EF4-FFF2-40B4-BE49-F238E27FC236}">
                <a16:creationId xmlns:a16="http://schemas.microsoft.com/office/drawing/2014/main" id="{7F7E6192-7D1D-4A4A-9D58-5A110A7E8F74}"/>
              </a:ext>
            </a:extLst>
          </p:cNvPr>
          <p:cNvSpPr/>
          <p:nvPr/>
        </p:nvSpPr>
        <p:spPr>
          <a:xfrm>
            <a:off x="3408801" y="4917831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cxnSp>
        <p:nvCxnSpPr>
          <p:cNvPr id="20" name="Straight Arrow Connector 18">
            <a:extLst>
              <a:ext uri="{FF2B5EF4-FFF2-40B4-BE49-F238E27FC236}">
                <a16:creationId xmlns:a16="http://schemas.microsoft.com/office/drawing/2014/main" id="{3951465A-D62D-4DB6-AE7C-29372056D6E5}"/>
              </a:ext>
            </a:extLst>
          </p:cNvPr>
          <p:cNvCxnSpPr>
            <a:cxnSpLocks/>
            <a:stCxn id="7" idx="5"/>
            <a:endCxn id="17" idx="2"/>
          </p:cNvCxnSpPr>
          <p:nvPr/>
        </p:nvCxnSpPr>
        <p:spPr>
          <a:xfrm>
            <a:off x="2522305" y="5175322"/>
            <a:ext cx="886496" cy="66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49B98C6-83C7-4298-A6D2-F7DE241388CF}"/>
              </a:ext>
            </a:extLst>
          </p:cNvPr>
          <p:cNvSpPr txBox="1"/>
          <p:nvPr/>
        </p:nvSpPr>
        <p:spPr>
          <a:xfrm flipH="1">
            <a:off x="3530633" y="5022255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2262DB-5F25-45F9-B627-B6F71E47BF5D}"/>
              </a:ext>
            </a:extLst>
          </p:cNvPr>
          <p:cNvSpPr txBox="1"/>
          <p:nvPr/>
        </p:nvSpPr>
        <p:spPr>
          <a:xfrm flipH="1">
            <a:off x="3470909" y="3872252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1" name="Flowchart: Connector 9">
            <a:extLst>
              <a:ext uri="{FF2B5EF4-FFF2-40B4-BE49-F238E27FC236}">
                <a16:creationId xmlns:a16="http://schemas.microsoft.com/office/drawing/2014/main" id="{CED7DD74-6202-4032-84C7-74A19A37CE62}"/>
              </a:ext>
            </a:extLst>
          </p:cNvPr>
          <p:cNvSpPr/>
          <p:nvPr/>
        </p:nvSpPr>
        <p:spPr>
          <a:xfrm>
            <a:off x="4531374" y="3788788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C5AD8D-9D95-4E89-B0EF-2D5C0639CFA8}"/>
              </a:ext>
            </a:extLst>
          </p:cNvPr>
          <p:cNvSpPr txBox="1"/>
          <p:nvPr/>
        </p:nvSpPr>
        <p:spPr>
          <a:xfrm flipH="1">
            <a:off x="4653206" y="3928476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33" name="Straight Arrow Connector 18">
            <a:extLst>
              <a:ext uri="{FF2B5EF4-FFF2-40B4-BE49-F238E27FC236}">
                <a16:creationId xmlns:a16="http://schemas.microsoft.com/office/drawing/2014/main" id="{1516A2DB-8F02-441B-81DD-9CCDFA44DC32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4071324" y="4113142"/>
            <a:ext cx="460050" cy="21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1542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2AF86-12CA-4762-BF2B-C2A48D25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76" y="299545"/>
            <a:ext cx="8184274" cy="708775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Journey </a:t>
            </a:r>
            <a:r>
              <a:rPr lang="ru-RU" dirty="0"/>
              <a:t>как стохастический граф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6CCD77-5C8A-4C7A-BD95-DFEC9CF2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77</a:t>
            </a:fld>
            <a:endParaRPr lang="ru-RU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9AC5FFD8-0CC5-4031-8268-76F800E2F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773" y="3470553"/>
            <a:ext cx="600075" cy="29316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p(2,1)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Flowchart: Connector 5">
            <a:extLst>
              <a:ext uri="{FF2B5EF4-FFF2-40B4-BE49-F238E27FC236}">
                <a16:creationId xmlns:a16="http://schemas.microsoft.com/office/drawing/2014/main" id="{96795C17-A5C1-48E6-8754-B0BD38167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681" y="3903225"/>
            <a:ext cx="600075" cy="624106"/>
          </a:xfrm>
          <a:prstGeom prst="flowChartConnector">
            <a:avLst/>
          </a:prstGeom>
          <a:solidFill>
            <a:srgbClr val="4472C4"/>
          </a:solidFill>
          <a:ln w="12700">
            <a:solidFill>
              <a:srgbClr val="1F376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V2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AD7E24C9-3435-4BFD-816D-826BE8742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942" y="4311833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p(2,5)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C5224B-0BA3-4FEE-B128-10AAA2B32FFA}"/>
              </a:ext>
            </a:extLst>
          </p:cNvPr>
          <p:cNvSpPr/>
          <p:nvPr/>
        </p:nvSpPr>
        <p:spPr>
          <a:xfrm>
            <a:off x="5786123" y="3890924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14013F26-0CEF-4336-B310-1CFA1AD9D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7020" y="4492346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p(2,3)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Arrow Connector 18">
            <a:extLst>
              <a:ext uri="{FF2B5EF4-FFF2-40B4-BE49-F238E27FC236}">
                <a16:creationId xmlns:a16="http://schemas.microsoft.com/office/drawing/2014/main" id="{B47A3255-AF14-4F63-B626-EF5471E7853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4622756" y="4215278"/>
            <a:ext cx="11633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Connector 9">
            <a:extLst>
              <a:ext uri="{FF2B5EF4-FFF2-40B4-BE49-F238E27FC236}">
                <a16:creationId xmlns:a16="http://schemas.microsoft.com/office/drawing/2014/main" id="{26A58D60-74FF-4A72-BED4-B31C3C3A1539}"/>
              </a:ext>
            </a:extLst>
          </p:cNvPr>
          <p:cNvSpPr/>
          <p:nvPr/>
        </p:nvSpPr>
        <p:spPr>
          <a:xfrm>
            <a:off x="2518190" y="4927144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14" name="Flowchart: Connector 9">
            <a:extLst>
              <a:ext uri="{FF2B5EF4-FFF2-40B4-BE49-F238E27FC236}">
                <a16:creationId xmlns:a16="http://schemas.microsoft.com/office/drawing/2014/main" id="{57B2284F-C88C-4F87-9812-D24490EFCBC1}"/>
              </a:ext>
            </a:extLst>
          </p:cNvPr>
          <p:cNvSpPr/>
          <p:nvPr/>
        </p:nvSpPr>
        <p:spPr>
          <a:xfrm>
            <a:off x="1967955" y="3254518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cxnSp>
        <p:nvCxnSpPr>
          <p:cNvPr id="15" name="Straight Arrow Connector 18">
            <a:extLst>
              <a:ext uri="{FF2B5EF4-FFF2-40B4-BE49-F238E27FC236}">
                <a16:creationId xmlns:a16="http://schemas.microsoft.com/office/drawing/2014/main" id="{151E4AF3-802A-4299-A91F-93821FBDDB9B}"/>
              </a:ext>
            </a:extLst>
          </p:cNvPr>
          <p:cNvCxnSpPr>
            <a:cxnSpLocks/>
            <a:stCxn id="8" idx="3"/>
            <a:endCxn id="13" idx="7"/>
          </p:cNvCxnSpPr>
          <p:nvPr/>
        </p:nvCxnSpPr>
        <p:spPr>
          <a:xfrm flipH="1">
            <a:off x="3137161" y="4435933"/>
            <a:ext cx="973399" cy="58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8">
            <a:extLst>
              <a:ext uri="{FF2B5EF4-FFF2-40B4-BE49-F238E27FC236}">
                <a16:creationId xmlns:a16="http://schemas.microsoft.com/office/drawing/2014/main" id="{A8146CB0-C89A-43ED-880F-EF9D08BABD98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2429668" y="3531586"/>
            <a:ext cx="1593013" cy="683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0177B69-8427-44D7-BC28-5F2965831189}"/>
              </a:ext>
            </a:extLst>
          </p:cNvPr>
          <p:cNvSpPr txBox="1"/>
          <p:nvPr/>
        </p:nvSpPr>
        <p:spPr>
          <a:xfrm>
            <a:off x="2104567" y="3394205"/>
            <a:ext cx="451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04B502-C961-48EE-9DF2-8DE0CC7D8F07}"/>
              </a:ext>
            </a:extLst>
          </p:cNvPr>
          <p:cNvSpPr txBox="1"/>
          <p:nvPr/>
        </p:nvSpPr>
        <p:spPr>
          <a:xfrm flipH="1">
            <a:off x="2663804" y="5075834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B51453-9AF2-43D4-92C8-040D260698A8}"/>
              </a:ext>
            </a:extLst>
          </p:cNvPr>
          <p:cNvSpPr txBox="1"/>
          <p:nvPr/>
        </p:nvSpPr>
        <p:spPr>
          <a:xfrm flipH="1">
            <a:off x="5907955" y="4037522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Flowchart: Connector 9">
            <a:extLst>
              <a:ext uri="{FF2B5EF4-FFF2-40B4-BE49-F238E27FC236}">
                <a16:creationId xmlns:a16="http://schemas.microsoft.com/office/drawing/2014/main" id="{7155FE7A-2D2D-428B-BF36-2685ED1A1327}"/>
              </a:ext>
            </a:extLst>
          </p:cNvPr>
          <p:cNvSpPr/>
          <p:nvPr/>
        </p:nvSpPr>
        <p:spPr>
          <a:xfrm>
            <a:off x="3960133" y="2014728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8D7AC-C258-4D76-A4B1-18F95ED56701}"/>
              </a:ext>
            </a:extLst>
          </p:cNvPr>
          <p:cNvSpPr txBox="1"/>
          <p:nvPr/>
        </p:nvSpPr>
        <p:spPr>
          <a:xfrm flipH="1">
            <a:off x="4075848" y="2173449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18">
            <a:extLst>
              <a:ext uri="{FF2B5EF4-FFF2-40B4-BE49-F238E27FC236}">
                <a16:creationId xmlns:a16="http://schemas.microsoft.com/office/drawing/2014/main" id="{EA80B10B-C681-41AE-9AA0-C2379A50E5D8}"/>
              </a:ext>
            </a:extLst>
          </p:cNvPr>
          <p:cNvCxnSpPr>
            <a:cxnSpLocks/>
            <a:stCxn id="8" idx="0"/>
            <a:endCxn id="20" idx="4"/>
          </p:cNvCxnSpPr>
          <p:nvPr/>
        </p:nvCxnSpPr>
        <p:spPr>
          <a:xfrm flipH="1" flipV="1">
            <a:off x="4322718" y="2663435"/>
            <a:ext cx="1" cy="1239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8">
            <a:extLst>
              <a:ext uri="{FF2B5EF4-FFF2-40B4-BE49-F238E27FC236}">
                <a16:creationId xmlns:a16="http://schemas.microsoft.com/office/drawing/2014/main" id="{B1DFA23C-9ED8-466E-AD61-574BC17E5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7395" y="2768933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p(2,4)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Text Box 8">
            <a:extLst>
              <a:ext uri="{FF2B5EF4-FFF2-40B4-BE49-F238E27FC236}">
                <a16:creationId xmlns:a16="http://schemas.microsoft.com/office/drawing/2014/main" id="{155B016E-5E23-4917-8899-A4DDB7A0A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518" y="1883508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altLang="ru-RU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Flowchart: Connector 9">
            <a:extLst>
              <a:ext uri="{FF2B5EF4-FFF2-40B4-BE49-F238E27FC236}">
                <a16:creationId xmlns:a16="http://schemas.microsoft.com/office/drawing/2014/main" id="{8002F5A2-D9FC-4FB1-8FC3-985CAEE15A01}"/>
              </a:ext>
            </a:extLst>
          </p:cNvPr>
          <p:cNvSpPr/>
          <p:nvPr/>
        </p:nvSpPr>
        <p:spPr>
          <a:xfrm>
            <a:off x="5401993" y="1998890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31" name="Flowchart: Connector 9">
            <a:extLst>
              <a:ext uri="{FF2B5EF4-FFF2-40B4-BE49-F238E27FC236}">
                <a16:creationId xmlns:a16="http://schemas.microsoft.com/office/drawing/2014/main" id="{413F05CB-9671-40F6-B9AE-C644B574E440}"/>
              </a:ext>
            </a:extLst>
          </p:cNvPr>
          <p:cNvSpPr/>
          <p:nvPr/>
        </p:nvSpPr>
        <p:spPr>
          <a:xfrm>
            <a:off x="6852333" y="1998890"/>
            <a:ext cx="725170" cy="64870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cxnSp>
        <p:nvCxnSpPr>
          <p:cNvPr id="32" name="Straight Arrow Connector 18">
            <a:extLst>
              <a:ext uri="{FF2B5EF4-FFF2-40B4-BE49-F238E27FC236}">
                <a16:creationId xmlns:a16="http://schemas.microsoft.com/office/drawing/2014/main" id="{ADC7802A-0B32-49BA-AC16-0EA3A9EC161E}"/>
              </a:ext>
            </a:extLst>
          </p:cNvPr>
          <p:cNvCxnSpPr>
            <a:cxnSpLocks/>
            <a:stCxn id="20" idx="6"/>
            <a:endCxn id="30" idx="2"/>
          </p:cNvCxnSpPr>
          <p:nvPr/>
        </p:nvCxnSpPr>
        <p:spPr>
          <a:xfrm flipV="1">
            <a:off x="4685303" y="2323244"/>
            <a:ext cx="716690" cy="15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18">
            <a:extLst>
              <a:ext uri="{FF2B5EF4-FFF2-40B4-BE49-F238E27FC236}">
                <a16:creationId xmlns:a16="http://schemas.microsoft.com/office/drawing/2014/main" id="{4D76D79D-4C65-4E0B-AFB4-DFC3FD1E1FE4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6127163" y="2323244"/>
            <a:ext cx="725170" cy="6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3182349-C909-4DD9-AD95-6463D064D3AD}"/>
              </a:ext>
            </a:extLst>
          </p:cNvPr>
          <p:cNvSpPr txBox="1"/>
          <p:nvPr/>
        </p:nvSpPr>
        <p:spPr>
          <a:xfrm flipH="1">
            <a:off x="5517708" y="2141225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5A5930-6B06-4DE5-B93B-62EA11F67A0B}"/>
              </a:ext>
            </a:extLst>
          </p:cNvPr>
          <p:cNvSpPr txBox="1"/>
          <p:nvPr/>
        </p:nvSpPr>
        <p:spPr>
          <a:xfrm flipH="1">
            <a:off x="6974165" y="2154415"/>
            <a:ext cx="48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ru-RU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43" name="Straight Arrow Connector 18">
            <a:extLst>
              <a:ext uri="{FF2B5EF4-FFF2-40B4-BE49-F238E27FC236}">
                <a16:creationId xmlns:a16="http://schemas.microsoft.com/office/drawing/2014/main" id="{2437B08D-793A-4EF4-B04B-3E4D73F796BA}"/>
              </a:ext>
            </a:extLst>
          </p:cNvPr>
          <p:cNvCxnSpPr>
            <a:cxnSpLocks/>
            <a:stCxn id="8" idx="1"/>
            <a:endCxn id="14" idx="7"/>
          </p:cNvCxnSpPr>
          <p:nvPr/>
        </p:nvCxnSpPr>
        <p:spPr>
          <a:xfrm flipH="1" flipV="1">
            <a:off x="2586926" y="3349519"/>
            <a:ext cx="1523634" cy="645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6">
            <a:extLst>
              <a:ext uri="{FF2B5EF4-FFF2-40B4-BE49-F238E27FC236}">
                <a16:creationId xmlns:a16="http://schemas.microsoft.com/office/drawing/2014/main" id="{5E856597-9608-4BEB-BBC5-8AFB6C1DE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881" y="3845560"/>
            <a:ext cx="600075" cy="29316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B9E59BD7-8BE5-40F3-8624-9D946C7F7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334" y="4432239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,3)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0" name="Straight Arrow Connector 18">
            <a:extLst>
              <a:ext uri="{FF2B5EF4-FFF2-40B4-BE49-F238E27FC236}">
                <a16:creationId xmlns:a16="http://schemas.microsoft.com/office/drawing/2014/main" id="{6B7ACB50-6E3F-49AC-B478-A81BCD656522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474314" y="3899556"/>
            <a:ext cx="150075" cy="1122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10">
            <a:extLst>
              <a:ext uri="{FF2B5EF4-FFF2-40B4-BE49-F238E27FC236}">
                <a16:creationId xmlns:a16="http://schemas.microsoft.com/office/drawing/2014/main" id="{B45928E9-155B-4D90-AAE6-06984E3B1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438" y="4492346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p(2,3)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0" name="Straight Arrow Connector 18">
            <a:extLst>
              <a:ext uri="{FF2B5EF4-FFF2-40B4-BE49-F238E27FC236}">
                <a16:creationId xmlns:a16="http://schemas.microsoft.com/office/drawing/2014/main" id="{94DDFBFF-4551-4BE6-AE9C-C20A36900F6D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3200452" y="4527331"/>
            <a:ext cx="1122267" cy="670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Box 10">
            <a:extLst>
              <a:ext uri="{FF2B5EF4-FFF2-40B4-BE49-F238E27FC236}">
                <a16:creationId xmlns:a16="http://schemas.microsoft.com/office/drawing/2014/main" id="{EAF5F09F-2032-42DB-80B0-53287D419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8763" y="4955978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Text Box 8">
            <a:extLst>
              <a:ext uri="{FF2B5EF4-FFF2-40B4-BE49-F238E27FC236}">
                <a16:creationId xmlns:a16="http://schemas.microsoft.com/office/drawing/2014/main" id="{E0DC0DDD-DDF0-4F92-BEEF-C3CE19C33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385" y="3217141"/>
            <a:ext cx="625475" cy="239713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8" name="Straight Arrow Connector 18">
            <a:extLst>
              <a:ext uri="{FF2B5EF4-FFF2-40B4-BE49-F238E27FC236}">
                <a16:creationId xmlns:a16="http://schemas.microsoft.com/office/drawing/2014/main" id="{0EB6F41B-9DE2-4217-A29A-7F6284E0FB8E}"/>
              </a:ext>
            </a:extLst>
          </p:cNvPr>
          <p:cNvCxnSpPr>
            <a:cxnSpLocks/>
            <a:endCxn id="20" idx="5"/>
          </p:cNvCxnSpPr>
          <p:nvPr/>
        </p:nvCxnSpPr>
        <p:spPr>
          <a:xfrm flipH="1" flipV="1">
            <a:off x="4579104" y="2568434"/>
            <a:ext cx="1334890" cy="1432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4DA06673-6ADA-494B-BDA9-6C897AA75989}"/>
              </a:ext>
            </a:extLst>
          </p:cNvPr>
          <p:cNvCxnSpPr>
            <a:cxnSpLocks/>
            <a:stCxn id="14" idx="1"/>
            <a:endCxn id="14" idx="2"/>
          </p:cNvCxnSpPr>
          <p:nvPr/>
        </p:nvCxnSpPr>
        <p:spPr>
          <a:xfrm rot="16200000" flipH="1" flipV="1">
            <a:off x="1906378" y="3411095"/>
            <a:ext cx="229353" cy="106199"/>
          </a:xfrm>
          <a:prstGeom prst="curvedConnector4">
            <a:avLst>
              <a:gd name="adj1" fmla="val -141093"/>
              <a:gd name="adj2" fmla="val 3152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6">
            <a:extLst>
              <a:ext uri="{FF2B5EF4-FFF2-40B4-BE49-F238E27FC236}">
                <a16:creationId xmlns:a16="http://schemas.microsoft.com/office/drawing/2014/main" id="{FC70942C-7C7E-43B0-8D7B-AA9AA0FD9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7917" y="2663435"/>
            <a:ext cx="600075" cy="29316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1368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C2E2-50AC-43FE-A240-2E2A4544D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04" y="321276"/>
            <a:ext cx="8509454" cy="1318054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Задача. Предложите Ваш вариант стохастического графа покупки авиабилетов 30мин. – перерыв 50 мин. =</a:t>
            </a:r>
            <a:r>
              <a:rPr lang="en-US" dirty="0"/>
              <a:t>&gt;</a:t>
            </a:r>
            <a:r>
              <a:rPr lang="ru-RU" dirty="0"/>
              <a:t> 14-15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B3BE-0A2F-4DB7-B896-12DA15093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95" y="1919416"/>
            <a:ext cx="8038746" cy="394163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Используйте следующие ключевые шаги пользователя:</a:t>
            </a:r>
          </a:p>
          <a:p>
            <a:r>
              <a:rPr lang="ru-RU" dirty="0"/>
              <a:t>Регистрация в системе</a:t>
            </a:r>
          </a:p>
          <a:p>
            <a:r>
              <a:rPr lang="ru-RU" dirty="0"/>
              <a:t>Выбор маршрута</a:t>
            </a:r>
          </a:p>
          <a:p>
            <a:r>
              <a:rPr lang="ru-RU" dirty="0"/>
              <a:t>Выбор даты/времени</a:t>
            </a:r>
          </a:p>
          <a:p>
            <a:r>
              <a:rPr lang="ru-RU" dirty="0"/>
              <a:t>Выбор авиакомпании</a:t>
            </a:r>
          </a:p>
          <a:p>
            <a:r>
              <a:rPr lang="ru-RU" dirty="0"/>
              <a:t>Выбор способа оплаты</a:t>
            </a:r>
          </a:p>
          <a:p>
            <a:r>
              <a:rPr lang="ru-RU" dirty="0"/>
              <a:t>Оплата</a:t>
            </a:r>
          </a:p>
          <a:p>
            <a:r>
              <a:rPr lang="ru-RU" dirty="0"/>
              <a:t>Получение электронного билета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A2956-1C3D-45D7-B14C-B926CB25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8549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A0154-549E-4C99-9BA6-A5DAAB1A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Программные библиотеки анализа графов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7FB070-6B48-4344-A3AC-2C9471F07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79</a:t>
            </a:fld>
            <a:endParaRPr lang="ru-RU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084DDA87-F191-449B-8A1A-8EB6DA3CBE9A}"/>
              </a:ext>
            </a:extLst>
          </p:cNvPr>
          <p:cNvSpPr txBox="1">
            <a:spLocks/>
          </p:cNvSpPr>
          <p:nvPr/>
        </p:nvSpPr>
        <p:spPr>
          <a:xfrm>
            <a:off x="433773" y="1927453"/>
            <a:ext cx="8276454" cy="421756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 err="1"/>
              <a:t>NumPy</a:t>
            </a:r>
            <a:r>
              <a:rPr lang="ru-RU" sz="1400" dirty="0"/>
              <a:t> (</a:t>
            </a:r>
            <a:r>
              <a:rPr lang="ru-RU" sz="1400" dirty="0">
                <a:hlinkClick r:id="rId3"/>
              </a:rPr>
              <a:t>http://numpy.scipy.org</a:t>
            </a:r>
            <a:r>
              <a:rPr lang="ru-RU" sz="1400" dirty="0"/>
              <a:t>)</a:t>
            </a:r>
          </a:p>
          <a:p>
            <a:r>
              <a:rPr lang="ru-RU" sz="1400" dirty="0" err="1"/>
              <a:t>NetworkX</a:t>
            </a:r>
            <a:r>
              <a:rPr lang="ru-RU" sz="1400" dirty="0"/>
              <a:t>: </a:t>
            </a:r>
            <a:r>
              <a:rPr lang="ru-RU" sz="1400" dirty="0">
                <a:hlinkClick r:id="rId4"/>
              </a:rPr>
              <a:t>http://networkx.lanl.gov</a:t>
            </a:r>
            <a:r>
              <a:rPr lang="ru-RU" sz="1400" dirty="0"/>
              <a:t> </a:t>
            </a:r>
          </a:p>
          <a:p>
            <a:r>
              <a:rPr lang="ru-RU" sz="1400" dirty="0" err="1"/>
              <a:t>python-graph</a:t>
            </a:r>
            <a:r>
              <a:rPr lang="ru-RU" sz="1400" dirty="0"/>
              <a:t>: http://code.google.com/p/python-graph</a:t>
            </a:r>
          </a:p>
          <a:p>
            <a:r>
              <a:rPr lang="ru-RU" sz="1400" dirty="0" err="1"/>
              <a:t>Graphine</a:t>
            </a:r>
            <a:r>
              <a:rPr lang="ru-RU" sz="1400" dirty="0"/>
              <a:t>: http://gitorious.org/projects/graphine/pages/Home</a:t>
            </a:r>
          </a:p>
          <a:p>
            <a:r>
              <a:rPr lang="ru-RU" sz="1400" dirty="0" err="1"/>
              <a:t>Pygr</a:t>
            </a:r>
            <a:r>
              <a:rPr lang="ru-RU" sz="1400" dirty="0"/>
              <a:t>, база данных графов (http://bioinfo.mbi.ucla.edu/pygr), </a:t>
            </a:r>
          </a:p>
          <a:p>
            <a:r>
              <a:rPr lang="en-US" sz="1400" dirty="0"/>
              <a:t>Exponential random graph models (</a:t>
            </a:r>
            <a:r>
              <a:rPr lang="ru-RU" sz="1400" dirty="0"/>
              <a:t>для </a:t>
            </a:r>
            <a:r>
              <a:rPr lang="en-US" sz="1400" dirty="0"/>
              <a:t>R</a:t>
            </a:r>
            <a:r>
              <a:rPr lang="ru-RU" sz="1400" dirty="0"/>
              <a:t> - </a:t>
            </a:r>
            <a:r>
              <a:rPr lang="en-US" sz="1400" dirty="0">
                <a:hlinkClick r:id="rId5"/>
              </a:rPr>
              <a:t>https://www.sciencedirect.com/science/article/abs/pii/S0378873306000372</a:t>
            </a:r>
            <a:r>
              <a:rPr lang="ru-RU" sz="1400" dirty="0"/>
              <a:t> 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dirty="0" err="1"/>
              <a:t>Gato</a:t>
            </a:r>
            <a:r>
              <a:rPr lang="ru-RU" sz="1400" dirty="0"/>
              <a:t>, набор инструментов для анимации графов (http://gato.sourceforge.net) </a:t>
            </a:r>
          </a:p>
          <a:p>
            <a:r>
              <a:rPr lang="ru-RU" sz="1400" dirty="0"/>
              <a:t>PADS, коллекция алгоритмов на графах (</a:t>
            </a:r>
            <a:r>
              <a:rPr lang="ru-RU" sz="1400" dirty="0">
                <a:hlinkClick r:id="rId6"/>
              </a:rPr>
              <a:t>http://www.ics.uci.edu/~eppstein/PADS</a:t>
            </a:r>
            <a:endParaRPr lang="ru-RU" sz="1400" dirty="0"/>
          </a:p>
          <a:p>
            <a:endParaRPr lang="ru-RU" sz="1400" dirty="0"/>
          </a:p>
          <a:p>
            <a:pPr marL="0" indent="0">
              <a:buNone/>
            </a:pPr>
            <a:r>
              <a:rPr lang="ru-RU" sz="1400" dirty="0"/>
              <a:t>В.А. Горбатов, Тимур </a:t>
            </a:r>
            <a:r>
              <a:rPr lang="ru-RU" sz="1400" dirty="0" err="1"/>
              <a:t>Пулатов</a:t>
            </a: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dirty="0"/>
              <a:t>Рекомендация А. Вольхина: «</a:t>
            </a:r>
            <a:r>
              <a:rPr lang="ru-RU" sz="1400" dirty="0" err="1"/>
              <a:t>Грокаем</a:t>
            </a:r>
            <a:r>
              <a:rPr lang="ru-RU" sz="1400" dirty="0"/>
              <a:t> алгоритмы». (</a:t>
            </a:r>
            <a:r>
              <a:rPr lang="en-US" sz="1400" dirty="0">
                <a:hlinkClick r:id="rId7"/>
              </a:rPr>
              <a:t>https://www.chitai-gorod.ru/catalog/book/960907/</a:t>
            </a:r>
            <a:r>
              <a:rPr lang="ru-RU" sz="1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75182576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658" y="136524"/>
            <a:ext cx="8332342" cy="849795"/>
          </a:xfrm>
        </p:spPr>
        <p:txBody>
          <a:bodyPr>
            <a:normAutofit/>
          </a:bodyPr>
          <a:lstStyle/>
          <a:p>
            <a:r>
              <a:rPr lang="ru-RU" dirty="0"/>
              <a:t>Часть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78" y="1472669"/>
            <a:ext cx="7730341" cy="715727"/>
          </a:xfrm>
        </p:spPr>
        <p:txBody>
          <a:bodyPr>
            <a:normAutofit/>
          </a:bodyPr>
          <a:lstStyle/>
          <a:p>
            <a:r>
              <a:rPr lang="ru-RU" b="1" dirty="0"/>
              <a:t>Нечеткие или лингвистические переменные. 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80</a:t>
            </a:fld>
            <a:endParaRPr lang="ru-RU" dirty="0"/>
          </a:p>
        </p:txBody>
      </p:sp>
      <p:pic>
        <p:nvPicPr>
          <p:cNvPr id="6" name="Picture 5" descr="A picture containing meter&#10;&#10;Description automatically generated">
            <a:extLst>
              <a:ext uri="{FF2B5EF4-FFF2-40B4-BE49-F238E27FC236}">
                <a16:creationId xmlns:a16="http://schemas.microsoft.com/office/drawing/2014/main" id="{01DFC40A-FB9A-4E4D-9174-9F049014D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2188396"/>
            <a:ext cx="9144000" cy="371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1032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43" y="413926"/>
            <a:ext cx="8096036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Неопределенность высказываний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643" y="1842537"/>
            <a:ext cx="7730341" cy="1586463"/>
          </a:xfrm>
        </p:spPr>
        <p:txBody>
          <a:bodyPr>
            <a:normAutofit/>
          </a:bodyPr>
          <a:lstStyle/>
          <a:p>
            <a:r>
              <a:rPr lang="ru-RU" dirty="0"/>
              <a:t>Неточность знаний</a:t>
            </a:r>
          </a:p>
          <a:p>
            <a:r>
              <a:rPr lang="ru-RU" dirty="0"/>
              <a:t>Применение точных методов затруднено</a:t>
            </a:r>
          </a:p>
          <a:p>
            <a:r>
              <a:rPr lang="ru-RU" dirty="0"/>
              <a:t>Неточность формулировок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03423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43" y="413926"/>
            <a:ext cx="8096036" cy="849795"/>
          </a:xfrm>
        </p:spPr>
        <p:txBody>
          <a:bodyPr>
            <a:normAutofit/>
          </a:bodyPr>
          <a:lstStyle/>
          <a:p>
            <a:r>
              <a:rPr lang="ru-RU" dirty="0"/>
              <a:t>Нечеткая логика с 1965 г.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643" y="1842537"/>
            <a:ext cx="7730341" cy="1586463"/>
          </a:xfrm>
        </p:spPr>
        <p:txBody>
          <a:bodyPr>
            <a:normAutofit/>
          </a:bodyPr>
          <a:lstStyle/>
          <a:p>
            <a:r>
              <a:rPr lang="ru-RU" dirty="0"/>
              <a:t>Неточная логика (</a:t>
            </a:r>
            <a:r>
              <a:rPr lang="en-US" dirty="0"/>
              <a:t>fuzzy logic, fuzzy set theory)</a:t>
            </a:r>
          </a:p>
          <a:p>
            <a:r>
              <a:rPr lang="ru-RU" dirty="0"/>
              <a:t>Предложена </a:t>
            </a:r>
            <a:r>
              <a:rPr lang="ru-RU" dirty="0" err="1"/>
              <a:t>Лотфи</a:t>
            </a:r>
            <a:r>
              <a:rPr lang="ru-RU" dirty="0"/>
              <a:t> Заде в 1965 г.</a:t>
            </a:r>
          </a:p>
          <a:p>
            <a:r>
              <a:rPr lang="ru-RU" dirty="0"/>
              <a:t>Основана на интерпретации терминов естественного языка (лингвистических переменных)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18222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ru-RU" dirty="0"/>
              <a:t>Логическая переменная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83</a:t>
            </a:fld>
            <a:endParaRPr lang="ru-RU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223EA39-2EA3-499F-B781-C1E5C6C9D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07286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2819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331" y="136524"/>
            <a:ext cx="8096036" cy="849795"/>
          </a:xfrm>
        </p:spPr>
        <p:txBody>
          <a:bodyPr>
            <a:normAutofit/>
          </a:bodyPr>
          <a:lstStyle/>
          <a:p>
            <a:r>
              <a:rPr lang="ru-RU" dirty="0"/>
              <a:t>Нечеткая переменная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766" y="902910"/>
            <a:ext cx="7730341" cy="1900719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Нечеткая переменная характеризуется тройкой (α, X, А), где</a:t>
            </a:r>
          </a:p>
          <a:p>
            <a:pPr lvl="1"/>
            <a:r>
              <a:rPr lang="ru-RU" dirty="0"/>
              <a:t>α — наименование переменной;</a:t>
            </a:r>
          </a:p>
          <a:p>
            <a:pPr lvl="1"/>
            <a:r>
              <a:rPr lang="ru-RU" dirty="0"/>
              <a:t>X — универсальное множество (область определения α);</a:t>
            </a:r>
          </a:p>
          <a:p>
            <a:pPr lvl="1"/>
            <a:r>
              <a:rPr lang="ru-RU" dirty="0"/>
              <a:t>А — нечеткое множество на X, описывающее ограничения (т.е. </a:t>
            </a:r>
            <a:r>
              <a:rPr lang="ru-RU" dirty="0" err="1"/>
              <a:t>μA</a:t>
            </a:r>
            <a:r>
              <a:rPr lang="ru-RU" dirty="0"/>
              <a:t>(x)) на значения нечеткой переменной α (или иными словами μ – степень уверенности, что х является значением нечеткой переменной α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84</a:t>
            </a:fld>
            <a:endParaRPr lang="ru-R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4DE2AF-BAD2-4255-8ED4-5E734E2BEC76}"/>
              </a:ext>
            </a:extLst>
          </p:cNvPr>
          <p:cNvSpPr txBox="1">
            <a:spLocks/>
          </p:cNvSpPr>
          <p:nvPr/>
        </p:nvSpPr>
        <p:spPr>
          <a:xfrm>
            <a:off x="785009" y="2936633"/>
            <a:ext cx="7730341" cy="29404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Пример: Нечеткая переменная α=возраст (юный, молодой, зрелый, пожилой, старый)</a:t>
            </a:r>
          </a:p>
          <a:p>
            <a:r>
              <a:rPr lang="ru-RU" dirty="0"/>
              <a:t>Х=</a:t>
            </a:r>
            <a:r>
              <a:rPr lang="en-US" dirty="0"/>
              <a:t>{0; 120}</a:t>
            </a:r>
            <a:endParaRPr lang="ru-RU" dirty="0"/>
          </a:p>
          <a:p>
            <a:r>
              <a:rPr lang="ru-RU" dirty="0"/>
              <a:t>х</a:t>
            </a:r>
            <a:r>
              <a:rPr lang="en-US" dirty="0"/>
              <a:t>(</a:t>
            </a:r>
            <a:r>
              <a:rPr lang="ru-RU" dirty="0"/>
              <a:t>молодой)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€ </a:t>
            </a:r>
            <a:r>
              <a:rPr lang="en-US" dirty="0"/>
              <a:t>A={15;</a:t>
            </a:r>
            <a:r>
              <a:rPr lang="ru-RU" dirty="0"/>
              <a:t>50</a:t>
            </a:r>
            <a:r>
              <a:rPr lang="en-US" dirty="0"/>
              <a:t>}</a:t>
            </a:r>
            <a:endParaRPr lang="ru-RU" dirty="0"/>
          </a:p>
          <a:p>
            <a:r>
              <a:rPr lang="en-US" dirty="0"/>
              <a:t>x(</a:t>
            </a:r>
            <a:r>
              <a:rPr lang="ru-RU" dirty="0"/>
              <a:t>зрелый)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€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A={30;65}</a:t>
            </a:r>
            <a:endParaRPr lang="ru-RU" dirty="0"/>
          </a:p>
          <a:p>
            <a:pPr lvl="1"/>
            <a:r>
              <a:rPr lang="ru-RU" dirty="0"/>
              <a:t>Х</a:t>
            </a:r>
            <a:r>
              <a:rPr lang="en-US" dirty="0"/>
              <a:t> (</a:t>
            </a:r>
            <a:r>
              <a:rPr lang="ru-RU" dirty="0"/>
              <a:t>молодой)=</a:t>
            </a:r>
            <a:r>
              <a:rPr lang="en-US" dirty="0"/>
              <a:t>3</a:t>
            </a:r>
            <a:r>
              <a:rPr lang="ru-RU" dirty="0"/>
              <a:t>0, </a:t>
            </a:r>
            <a:r>
              <a:rPr lang="ru-RU" dirty="0" err="1"/>
              <a:t>μA</a:t>
            </a:r>
            <a:r>
              <a:rPr lang="ru-RU" dirty="0"/>
              <a:t>(x)=0,8 – форма записи: 20/0.8 или 0.8/20</a:t>
            </a:r>
          </a:p>
          <a:p>
            <a:pPr lvl="1"/>
            <a:r>
              <a:rPr lang="ru-RU" dirty="0"/>
              <a:t>х</a:t>
            </a:r>
            <a:r>
              <a:rPr lang="en-US" dirty="0"/>
              <a:t>(</a:t>
            </a:r>
            <a:r>
              <a:rPr lang="ru-RU" dirty="0"/>
              <a:t>зрелый)=30, </a:t>
            </a:r>
            <a:r>
              <a:rPr lang="ru-RU" dirty="0" err="1"/>
              <a:t>μA</a:t>
            </a:r>
            <a:r>
              <a:rPr lang="ru-RU" dirty="0"/>
              <a:t>(x)=0,3</a:t>
            </a:r>
          </a:p>
          <a:p>
            <a:pPr lvl="1"/>
            <a:r>
              <a:rPr lang="ru-RU" dirty="0"/>
              <a:t>х=45, </a:t>
            </a:r>
            <a:r>
              <a:rPr lang="ru-RU" dirty="0" err="1"/>
              <a:t>μA</a:t>
            </a:r>
            <a:r>
              <a:rPr lang="ru-RU" dirty="0"/>
              <a:t>(x)=0,1</a:t>
            </a:r>
          </a:p>
          <a:p>
            <a:pPr lvl="1"/>
            <a:r>
              <a:rPr lang="ru-RU" dirty="0"/>
              <a:t>х(зрелый)=45, </a:t>
            </a:r>
            <a:r>
              <a:rPr lang="ru-RU" dirty="0" err="1"/>
              <a:t>μA</a:t>
            </a:r>
            <a:r>
              <a:rPr lang="ru-RU" dirty="0"/>
              <a:t>(x)=0,75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52462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38ADA-37DD-435C-AD0E-762C85D8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16" y="365126"/>
            <a:ext cx="8595360" cy="704395"/>
          </a:xfrm>
        </p:spPr>
        <p:txBody>
          <a:bodyPr/>
          <a:lstStyle/>
          <a:p>
            <a:r>
              <a:rPr lang="ru-RU" dirty="0"/>
              <a:t>Задача. 15-15. перерыв до 15-40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D0705D-7C0B-4169-86F4-774B2F9EF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73629"/>
            <a:ext cx="7886700" cy="490333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Вашей области интересов </a:t>
            </a:r>
          </a:p>
          <a:p>
            <a:r>
              <a:rPr lang="ru-RU" dirty="0"/>
              <a:t>опишите нечеткую переменную.</a:t>
            </a:r>
          </a:p>
          <a:p>
            <a:r>
              <a:rPr lang="ru-RU" dirty="0"/>
              <a:t>Ее дискретную часть</a:t>
            </a:r>
          </a:p>
          <a:p>
            <a:r>
              <a:rPr lang="ru-RU" dirty="0"/>
              <a:t>Область определения непрерывную</a:t>
            </a:r>
          </a:p>
          <a:p>
            <a:r>
              <a:rPr lang="ru-RU" dirty="0"/>
              <a:t>Приведите пример значений с степенью уверенности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D7C6FA-CEAE-46BF-B78C-B562E7D2B5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570799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43" y="413926"/>
            <a:ext cx="8096036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Нечеткая переменная</a:t>
            </a:r>
            <a:br>
              <a:rPr lang="ru-RU" dirty="0"/>
            </a:br>
            <a:r>
              <a:rPr lang="ru-RU" dirty="0"/>
              <a:t>Графическое представление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79" y="1376736"/>
            <a:ext cx="7730341" cy="1027417"/>
          </a:xfrm>
        </p:spPr>
        <p:txBody>
          <a:bodyPr>
            <a:normAutofit/>
          </a:bodyPr>
          <a:lstStyle/>
          <a:p>
            <a:r>
              <a:rPr lang="ru-RU" dirty="0"/>
              <a:t> </a:t>
            </a:r>
            <a:r>
              <a:rPr lang="ru-RU" dirty="0" err="1"/>
              <a:t>μA</a:t>
            </a:r>
            <a:r>
              <a:rPr lang="ru-RU" dirty="0"/>
              <a:t>(x) может также представлять собой функциональную зависимость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86</a:t>
            </a:fld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657BF-056E-452B-A61B-286F19873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313" y="3189781"/>
            <a:ext cx="5026249" cy="26898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0804B-3273-4980-A56C-5D2F6CA2E070}"/>
              </a:ext>
            </a:extLst>
          </p:cNvPr>
          <p:cNvSpPr txBox="1"/>
          <p:nvPr/>
        </p:nvSpPr>
        <p:spPr>
          <a:xfrm>
            <a:off x="698643" y="219400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показывает степень принадлежности переменной к данному подмножеству</a:t>
            </a:r>
          </a:p>
        </p:txBody>
      </p:sp>
    </p:spTree>
    <p:extLst>
      <p:ext uri="{BB962C8B-B14F-4D97-AF65-F5344CB8AC3E}">
        <p14:creationId xmlns:p14="http://schemas.microsoft.com/office/powerpoint/2010/main" val="17719144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77" y="172485"/>
            <a:ext cx="6683340" cy="849795"/>
          </a:xfrm>
        </p:spPr>
        <p:txBody>
          <a:bodyPr>
            <a:normAutofit/>
          </a:bodyPr>
          <a:lstStyle/>
          <a:p>
            <a:r>
              <a:rPr lang="ru-RU" dirty="0"/>
              <a:t>Определение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/>
              <a:t>функции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87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AA144-3C86-4B84-BDE4-7F3BCD9C7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79" y="945222"/>
            <a:ext cx="6025137" cy="3078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129D9E-7B45-423B-A878-DB045B87D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111188"/>
            <a:ext cx="4365114" cy="23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427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90" y="136524"/>
            <a:ext cx="4881268" cy="849795"/>
          </a:xfrm>
        </p:spPr>
        <p:txBody>
          <a:bodyPr>
            <a:normAutofit/>
          </a:bodyPr>
          <a:lstStyle/>
          <a:p>
            <a:r>
              <a:rPr lang="ru-RU" dirty="0"/>
              <a:t>Виды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/>
              <a:t>функций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226" y="1263721"/>
            <a:ext cx="4805629" cy="1212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левая сторона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правая сторона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88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629C9-375F-4CBD-8DC8-36A12D9D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90" y="1263721"/>
            <a:ext cx="3362325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930660-4D64-4B5C-88AC-419F8AC39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332" y="2646023"/>
            <a:ext cx="6067318" cy="342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462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22" y="256352"/>
            <a:ext cx="8424811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Распространенные варианты процедуры </a:t>
            </a:r>
            <a:r>
              <a:rPr lang="en-US" dirty="0"/>
              <a:t>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89</a:t>
            </a:fld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4E6AAB-3342-424F-A638-429F27BB17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547" t="15010" r="36335" b="68310"/>
          <a:stretch/>
        </p:blipFill>
        <p:spPr>
          <a:xfrm>
            <a:off x="308222" y="1298121"/>
            <a:ext cx="5254834" cy="1445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4921D-49FD-4F5D-B216-DBA68FED99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447" r="14492"/>
          <a:stretch/>
        </p:blipFill>
        <p:spPr>
          <a:xfrm>
            <a:off x="2094135" y="2856215"/>
            <a:ext cx="6067205" cy="386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846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8072-F4DF-4AD2-AB0F-4FBFC850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788171"/>
          </a:xfrm>
        </p:spPr>
        <p:txBody>
          <a:bodyPr/>
          <a:lstStyle/>
          <a:p>
            <a:r>
              <a:rPr lang="ru-RU" dirty="0"/>
              <a:t>Примеры </a:t>
            </a:r>
            <a:r>
              <a:rPr lang="en-US" dirty="0"/>
              <a:t>G-</a:t>
            </a:r>
            <a:r>
              <a:rPr lang="ru-RU" dirty="0"/>
              <a:t>функции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ED611-0383-4D3D-BACF-7869A892F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982362"/>
            <a:ext cx="7886700" cy="4893276"/>
          </a:xfrm>
        </p:spPr>
        <p:txBody>
          <a:bodyPr/>
          <a:lstStyle/>
          <a:p>
            <a:r>
              <a:rPr lang="ru-RU" dirty="0"/>
              <a:t>Пусть х</a:t>
            </a:r>
            <a:r>
              <a:rPr lang="en-US" dirty="0"/>
              <a:t>(</a:t>
            </a:r>
            <a:r>
              <a:rPr lang="ru-RU" dirty="0"/>
              <a:t>молодой)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€ </a:t>
            </a:r>
            <a:r>
              <a:rPr lang="en-US" dirty="0"/>
              <a:t>A={15;</a:t>
            </a:r>
            <a:r>
              <a:rPr lang="ru-RU" dirty="0"/>
              <a:t>50</a:t>
            </a:r>
            <a:r>
              <a:rPr lang="en-US" dirty="0"/>
              <a:t>}</a:t>
            </a:r>
            <a:endParaRPr lang="ru-RU" dirty="0"/>
          </a:p>
          <a:p>
            <a:pPr lvl="1"/>
            <a:r>
              <a:rPr lang="ru-RU" dirty="0"/>
              <a:t>х=20, </a:t>
            </a:r>
            <a:r>
              <a:rPr lang="ru-RU" dirty="0" err="1"/>
              <a:t>μA</a:t>
            </a:r>
            <a:r>
              <a:rPr lang="ru-RU" dirty="0"/>
              <a:t>(x)=0,8</a:t>
            </a:r>
          </a:p>
          <a:p>
            <a:pPr lvl="1"/>
            <a:r>
              <a:rPr lang="ru-RU" dirty="0"/>
              <a:t>х=50, </a:t>
            </a:r>
            <a:r>
              <a:rPr lang="ru-RU" dirty="0" err="1"/>
              <a:t>μA</a:t>
            </a:r>
            <a:r>
              <a:rPr lang="ru-RU" dirty="0"/>
              <a:t>(x)=0,05</a:t>
            </a:r>
          </a:p>
          <a:p>
            <a:r>
              <a:rPr lang="ru-RU" dirty="0"/>
              <a:t>Не молодой: </a:t>
            </a:r>
          </a:p>
          <a:p>
            <a:pPr lvl="1"/>
            <a:r>
              <a:rPr lang="ru-RU" dirty="0"/>
              <a:t>х=20, </a:t>
            </a:r>
            <a:r>
              <a:rPr lang="ru-RU" dirty="0" err="1"/>
              <a:t>μТ</a:t>
            </a:r>
            <a:r>
              <a:rPr lang="ru-RU" dirty="0"/>
              <a:t>(x)=1-μA(x)=0,2</a:t>
            </a:r>
          </a:p>
          <a:p>
            <a:pPr lvl="1"/>
            <a:r>
              <a:rPr lang="ru-RU" dirty="0"/>
              <a:t>х=50, </a:t>
            </a:r>
            <a:r>
              <a:rPr lang="ru-RU" dirty="0" err="1"/>
              <a:t>μТ</a:t>
            </a:r>
            <a:r>
              <a:rPr lang="ru-RU" dirty="0"/>
              <a:t>(x)=1-μA(x)=0,95</a:t>
            </a:r>
          </a:p>
          <a:p>
            <a:r>
              <a:rPr lang="ru-RU" dirty="0"/>
              <a:t>Очень молодой</a:t>
            </a:r>
          </a:p>
          <a:p>
            <a:pPr lvl="1"/>
            <a:r>
              <a:rPr lang="ru-RU" dirty="0"/>
              <a:t>х=20, </a:t>
            </a:r>
            <a:r>
              <a:rPr lang="ru-RU" dirty="0" err="1"/>
              <a:t>μТ</a:t>
            </a:r>
            <a:r>
              <a:rPr lang="ru-RU" dirty="0"/>
              <a:t>(x)=(</a:t>
            </a:r>
            <a:r>
              <a:rPr lang="ru-RU" dirty="0" err="1"/>
              <a:t>μA</a:t>
            </a:r>
            <a:r>
              <a:rPr lang="ru-RU" dirty="0"/>
              <a:t>(x))</a:t>
            </a:r>
            <a:r>
              <a:rPr lang="ru-RU" baseline="30000" dirty="0"/>
              <a:t>2</a:t>
            </a:r>
            <a:r>
              <a:rPr lang="ru-RU" dirty="0"/>
              <a:t>=0,64</a:t>
            </a:r>
          </a:p>
          <a:p>
            <a:pPr lvl="1"/>
            <a:r>
              <a:rPr lang="ru-RU" dirty="0"/>
              <a:t>х=50, </a:t>
            </a:r>
            <a:r>
              <a:rPr lang="ru-RU" dirty="0" err="1"/>
              <a:t>μТ</a:t>
            </a:r>
            <a:r>
              <a:rPr lang="ru-RU" dirty="0"/>
              <a:t>(x)=(</a:t>
            </a:r>
            <a:r>
              <a:rPr lang="ru-RU" dirty="0" err="1"/>
              <a:t>μA</a:t>
            </a:r>
            <a:r>
              <a:rPr lang="ru-RU" dirty="0"/>
              <a:t>(x))</a:t>
            </a:r>
            <a:r>
              <a:rPr lang="ru-RU" baseline="30000" dirty="0"/>
              <a:t>2</a:t>
            </a:r>
            <a:r>
              <a:rPr lang="ru-RU" dirty="0"/>
              <a:t>=0,0005</a:t>
            </a:r>
          </a:p>
          <a:p>
            <a:r>
              <a:rPr lang="ru-RU" dirty="0"/>
              <a:t>Чересчур молодой </a:t>
            </a:r>
          </a:p>
          <a:p>
            <a:pPr lvl="1"/>
            <a:r>
              <a:rPr lang="en-US" dirty="0"/>
              <a:t>X-20, </a:t>
            </a:r>
            <a:r>
              <a:rPr lang="ru-RU" dirty="0" err="1"/>
              <a:t>μТ</a:t>
            </a:r>
            <a:r>
              <a:rPr lang="ru-RU" dirty="0"/>
              <a:t>(x)=(</a:t>
            </a:r>
            <a:r>
              <a:rPr lang="ru-RU" dirty="0" err="1"/>
              <a:t>μA</a:t>
            </a:r>
            <a:r>
              <a:rPr lang="ru-RU" dirty="0"/>
              <a:t>(x))</a:t>
            </a:r>
            <a:r>
              <a:rPr lang="en-US" baseline="30000" dirty="0"/>
              <a:t>3</a:t>
            </a:r>
            <a:r>
              <a:rPr lang="ru-RU" dirty="0"/>
              <a:t>=0</a:t>
            </a:r>
            <a:r>
              <a:rPr lang="en-US" dirty="0"/>
              <a:t>.512</a:t>
            </a:r>
            <a:endParaRPr lang="ru-RU" dirty="0"/>
          </a:p>
          <a:p>
            <a:r>
              <a:rPr lang="ru-RU" dirty="0"/>
              <a:t>Более-менее молодой</a:t>
            </a:r>
          </a:p>
          <a:p>
            <a:pPr lvl="1"/>
            <a:r>
              <a:rPr lang="ru-RU" dirty="0"/>
              <a:t>х=20, </a:t>
            </a:r>
            <a:r>
              <a:rPr lang="ru-RU" dirty="0" err="1"/>
              <a:t>μТ</a:t>
            </a:r>
            <a:r>
              <a:rPr lang="ru-RU" dirty="0"/>
              <a:t>(x)=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ru-RU" dirty="0"/>
              <a:t>(</a:t>
            </a:r>
            <a:r>
              <a:rPr lang="ru-RU" dirty="0" err="1"/>
              <a:t>μA</a:t>
            </a:r>
            <a:r>
              <a:rPr lang="ru-RU" dirty="0"/>
              <a:t>(x))=0,</a:t>
            </a:r>
            <a:r>
              <a:rPr lang="en-US" dirty="0"/>
              <a:t>89</a:t>
            </a:r>
            <a:endParaRPr lang="ru-RU" dirty="0"/>
          </a:p>
          <a:p>
            <a:pPr lvl="1"/>
            <a:r>
              <a:rPr lang="ru-RU" dirty="0"/>
              <a:t>х=50, </a:t>
            </a:r>
            <a:r>
              <a:rPr lang="ru-RU" dirty="0" err="1"/>
              <a:t>μТ</a:t>
            </a:r>
            <a:r>
              <a:rPr lang="ru-RU" dirty="0"/>
              <a:t>(x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√ </a:t>
            </a:r>
            <a:r>
              <a:rPr lang="ru-RU" dirty="0" err="1"/>
              <a:t>μA</a:t>
            </a:r>
            <a:r>
              <a:rPr lang="ru-RU" dirty="0"/>
              <a:t>(x))=0,</a:t>
            </a:r>
            <a:r>
              <a:rPr lang="en-US" dirty="0"/>
              <a:t>22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3180B-DE0C-456B-BCEC-0FE11678D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931400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30FF-4973-4FEF-9A66-938BD67C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2269"/>
          </a:xfrm>
        </p:spPr>
        <p:txBody>
          <a:bodyPr/>
          <a:lstStyle/>
          <a:p>
            <a:r>
              <a:rPr lang="ru-RU" dirty="0"/>
              <a:t>Задача 16-45.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4871-91F6-40A7-A0E3-4028B8D0F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10" y="1589903"/>
            <a:ext cx="7886700" cy="207586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 Вашей предметной области предложите ОДНУ нечеткую переменную, примеры ее значений (5-7) и </a:t>
            </a:r>
            <a:r>
              <a:rPr lang="el-GR" dirty="0"/>
              <a:t>μ - </a:t>
            </a:r>
            <a:r>
              <a:rPr lang="ru-RU" dirty="0"/>
              <a:t>функции</a:t>
            </a:r>
          </a:p>
          <a:p>
            <a:r>
              <a:rPr lang="ru-RU" dirty="0"/>
              <a:t>Приведите примеры расчета для </a:t>
            </a:r>
            <a:r>
              <a:rPr lang="en-US" dirty="0"/>
              <a:t>G-</a:t>
            </a:r>
            <a:r>
              <a:rPr lang="ru-RU" dirty="0"/>
              <a:t>функций «НЕ», «ОЧЕНЬ», «Более-менее».</a:t>
            </a:r>
            <a:endParaRPr lang="en-US" dirty="0"/>
          </a:p>
          <a:p>
            <a:r>
              <a:rPr lang="ru-RU" dirty="0"/>
              <a:t>Приведите пример расчета «Не Очень»</a:t>
            </a:r>
          </a:p>
          <a:p>
            <a:r>
              <a:rPr lang="ru-RU" dirty="0"/>
              <a:t>Постройте графики </a:t>
            </a:r>
            <a:r>
              <a:rPr lang="en-US" dirty="0"/>
              <a:t>G-</a:t>
            </a:r>
            <a:r>
              <a:rPr lang="ru-RU" dirty="0"/>
              <a:t>функций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FF80-A45A-41EC-9EAE-21CE11CAB3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85356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2" y="136524"/>
            <a:ext cx="8096036" cy="849795"/>
          </a:xfrm>
        </p:spPr>
        <p:txBody>
          <a:bodyPr>
            <a:normAutofit/>
          </a:bodyPr>
          <a:lstStyle/>
          <a:p>
            <a:r>
              <a:rPr lang="ru-RU" dirty="0"/>
              <a:t>Лингвистическая переменная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01" y="986319"/>
            <a:ext cx="7730341" cy="48904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Лингвистической переменной (ЛП) </a:t>
            </a:r>
            <a:r>
              <a:rPr lang="ru-RU" dirty="0"/>
              <a:t>называется набор (β, Т, X, G, М), где</a:t>
            </a:r>
          </a:p>
          <a:p>
            <a:r>
              <a:rPr lang="ru-RU" dirty="0"/>
              <a:t>β — наименование лингвистической переменной;</a:t>
            </a:r>
          </a:p>
          <a:p>
            <a:r>
              <a:rPr lang="ru-RU" dirty="0"/>
              <a:t>Т — множество ее значений (терм-множество), представляю­щих собой наименования нечетких переменных, областью опре­деления каждой из которых является множество X. Множество Т называется базовым терм-множеством лингвистической пе­ременной;</a:t>
            </a:r>
          </a:p>
          <a:p>
            <a:r>
              <a:rPr lang="ru-RU" dirty="0"/>
              <a:t>G — синтаксическая процедура, позволяющая оперировать эле­ментами терм-множества T, в частности, генерировать новые тер­мы (значения). Множество T∪G(T), где G(T) — множество сгене­рированных термов, называется расширенным терм-множеством лингвистической переменной;</a:t>
            </a:r>
          </a:p>
          <a:p>
            <a:r>
              <a:rPr lang="ru-RU" dirty="0"/>
              <a:t>М — семантическая процедура, позволяющая превратить каж­дое новое значение лингвистической переменной, образуемое про­цедурой G, в нечеткую переменную, т.е. сформировать соответ­ствующее нечеткое множество.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Замечание</a:t>
            </a:r>
            <a:r>
              <a:rPr lang="ru-RU" dirty="0"/>
              <a:t>. Чтобы избежать большого количества символов:</a:t>
            </a:r>
          </a:p>
          <a:p>
            <a:endParaRPr lang="ru-RU" dirty="0"/>
          </a:p>
          <a:p>
            <a:r>
              <a:rPr lang="ru-RU" dirty="0"/>
              <a:t>1) символ β используют как для названия самой переменной, так и для всех ее значений;</a:t>
            </a:r>
          </a:p>
          <a:p>
            <a:r>
              <a:rPr lang="ru-RU" dirty="0"/>
              <a:t>2) пользуются одним и тем же символом для обозначения не­четкого множества и его названия, например терм «Молодой», явля­ющийся значением лингвистической переменной β = «возраст», одновременно есть и нечеткое множество М («Молодой»).</a:t>
            </a:r>
          </a:p>
          <a:p>
            <a:r>
              <a:rPr lang="ru-RU" dirty="0"/>
              <a:t>3) G — процедура образования новых термов с помощью связок «и», «или» и модификаторов типа «очень», «не», «слегка» и т.п.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08635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2" y="136524"/>
            <a:ext cx="8096036" cy="849795"/>
          </a:xfrm>
        </p:spPr>
        <p:txBody>
          <a:bodyPr>
            <a:normAutofit/>
          </a:bodyPr>
          <a:lstStyle/>
          <a:p>
            <a:r>
              <a:rPr lang="ru-RU" dirty="0"/>
              <a:t>Нечеткое множество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65" y="1344658"/>
            <a:ext cx="7730341" cy="3651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Нечёткое множество </a:t>
            </a:r>
            <a:r>
              <a:rPr lang="ru-RU" dirty="0"/>
              <a:t>(иногда размытое, расплывчатое, туманное) — понятие, введённое </a:t>
            </a:r>
            <a:r>
              <a:rPr lang="ru-RU" dirty="0" err="1"/>
              <a:t>Лотфи</a:t>
            </a:r>
            <a:r>
              <a:rPr lang="ru-RU" dirty="0"/>
              <a:t> Заде в 1965 году в статье «</a:t>
            </a:r>
            <a:r>
              <a:rPr lang="ru-RU" dirty="0" err="1"/>
              <a:t>Fuzzy</a:t>
            </a:r>
            <a:r>
              <a:rPr lang="ru-RU" dirty="0"/>
              <a:t> </a:t>
            </a:r>
            <a:r>
              <a:rPr lang="ru-RU" dirty="0" err="1"/>
              <a:t>Sets</a:t>
            </a:r>
            <a:r>
              <a:rPr lang="ru-RU" dirty="0"/>
              <a:t>» в журнале </a:t>
            </a:r>
            <a:r>
              <a:rPr lang="ru-RU" dirty="0" err="1"/>
              <a:t>Information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, в котором характеристическая функция множества (функция принадлежности) может принимать любые значения в интервале [0, 1], а не только значения 0 или 1. </a:t>
            </a:r>
          </a:p>
          <a:p>
            <a:pPr marL="0" indent="0">
              <a:buNone/>
            </a:pPr>
            <a:r>
              <a:rPr lang="ru-RU" dirty="0"/>
              <a:t>А = {</a:t>
            </a:r>
            <a:r>
              <a:rPr lang="ru-RU" dirty="0" err="1"/>
              <a:t>μA</a:t>
            </a:r>
            <a:r>
              <a:rPr lang="ru-RU" dirty="0"/>
              <a:t>(x) / x},</a:t>
            </a:r>
          </a:p>
          <a:p>
            <a:pPr marL="0" indent="0">
              <a:buNone/>
            </a:pPr>
            <a:r>
              <a:rPr lang="ru-RU" dirty="0"/>
              <a:t>где </a:t>
            </a:r>
            <a:r>
              <a:rPr lang="ru-RU" dirty="0" err="1"/>
              <a:t>μА</a:t>
            </a:r>
            <a:r>
              <a:rPr lang="ru-RU" dirty="0"/>
              <a:t>(х) — характеристическая функция принадлежности (или просто функция принадлежности), принимающая значения в некотором вполне упорядоченном множестве М (например, М = [0, 1]).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89385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2" y="136524"/>
            <a:ext cx="8096036" cy="849795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01" y="1181527"/>
            <a:ext cx="7730341" cy="469529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Пусть эксперт определяет возраст с помощью понятий «Молодой», «Средний возраст» и «Старый», при этом минимальный возраст 10 лет, а максималь­ный – 120 лет.</a:t>
            </a:r>
          </a:p>
          <a:p>
            <a:r>
              <a:rPr lang="ru-RU" dirty="0"/>
              <a:t>Формализация такого описания может быть проведена с помощью следующей лингвистической переменной (</a:t>
            </a:r>
            <a:r>
              <a:rPr lang="ru-RU" i="1" dirty="0"/>
              <a:t>β</a:t>
            </a:r>
            <a:r>
              <a:rPr lang="ru-RU" dirty="0"/>
              <a:t>, </a:t>
            </a:r>
            <a:r>
              <a:rPr lang="ru-RU" i="1" dirty="0"/>
              <a:t>Т, X</a:t>
            </a:r>
            <a:r>
              <a:rPr lang="ru-RU" dirty="0"/>
              <a:t>, G, М</a:t>
            </a:r>
            <a:r>
              <a:rPr lang="ru-RU" i="1" dirty="0"/>
              <a:t>),</a:t>
            </a:r>
            <a:r>
              <a:rPr lang="ru-RU" dirty="0"/>
              <a:t> где</a:t>
            </a:r>
          </a:p>
          <a:p>
            <a:r>
              <a:rPr lang="ru-RU" i="1" dirty="0"/>
              <a:t>β </a:t>
            </a:r>
            <a:r>
              <a:rPr lang="ru-RU" dirty="0"/>
              <a:t>— «возраст»;</a:t>
            </a:r>
          </a:p>
          <a:p>
            <a:r>
              <a:rPr lang="ru-RU" i="1" dirty="0"/>
              <a:t>Т </a:t>
            </a:r>
            <a:r>
              <a:rPr lang="ru-RU" dirty="0"/>
              <a:t>— </a:t>
            </a:r>
            <a:r>
              <a:rPr lang="en-US" dirty="0"/>
              <a:t>{</a:t>
            </a:r>
            <a:r>
              <a:rPr lang="ru-RU" dirty="0"/>
              <a:t>«Молодой», «Средний возраст»</a:t>
            </a:r>
            <a:r>
              <a:rPr lang="en-US" dirty="0"/>
              <a:t>,</a:t>
            </a:r>
            <a:r>
              <a:rPr lang="ru-RU" dirty="0"/>
              <a:t>«Старый»};</a:t>
            </a:r>
          </a:p>
          <a:p>
            <a:r>
              <a:rPr lang="ru-RU" i="1" dirty="0"/>
              <a:t>X </a:t>
            </a:r>
            <a:r>
              <a:rPr lang="ru-RU" dirty="0"/>
              <a:t>— [10, 120];</a:t>
            </a:r>
          </a:p>
          <a:p>
            <a:r>
              <a:rPr lang="ru-RU" dirty="0"/>
              <a:t>G — процедура образования новых термов с помощью связок «и», «или» и модификаторов типа «очень», «не», «слегка» и т.п. Например: «Молодой и средний возраст», «Не молодой» и т.п.;</a:t>
            </a:r>
          </a:p>
          <a:p>
            <a:r>
              <a:rPr lang="ru-RU" i="1" dirty="0"/>
              <a:t>М </a:t>
            </a:r>
            <a:r>
              <a:rPr lang="ru-RU" dirty="0"/>
              <a:t>— процедура задания на </a:t>
            </a:r>
            <a:r>
              <a:rPr lang="ru-RU" i="1" dirty="0"/>
              <a:t>X =</a:t>
            </a:r>
            <a:r>
              <a:rPr lang="ru-RU" dirty="0"/>
              <a:t> [10, 80] нечетких подмножеств </a:t>
            </a:r>
            <a:r>
              <a:rPr lang="ru-RU" i="1" dirty="0"/>
              <a:t>А</a:t>
            </a:r>
            <a:r>
              <a:rPr lang="ru-RU" baseline="-25000" dirty="0"/>
              <a:t>1</a:t>
            </a:r>
            <a:r>
              <a:rPr lang="ru-RU" dirty="0"/>
              <a:t>  = «Молодой», </a:t>
            </a:r>
            <a:r>
              <a:rPr lang="ru-RU" i="1" dirty="0"/>
              <a:t>А</a:t>
            </a:r>
            <a:r>
              <a:rPr lang="ru-RU" baseline="-25000" dirty="0"/>
              <a:t>2</a:t>
            </a:r>
            <a:r>
              <a:rPr lang="ru-RU" dirty="0"/>
              <a:t>= «Средний возраст», </a:t>
            </a:r>
            <a:r>
              <a:rPr lang="ru-RU" i="1" dirty="0"/>
              <a:t>A</a:t>
            </a:r>
            <a:r>
              <a:rPr lang="ru-RU" i="1" baseline="-25000" dirty="0"/>
              <a:t>3 </a:t>
            </a:r>
            <a:r>
              <a:rPr lang="ru-RU" dirty="0"/>
              <a:t>= «Старый», а также нечетких множеств для термов из G</a:t>
            </a:r>
            <a:r>
              <a:rPr lang="ru-RU" i="1" dirty="0"/>
              <a:t>(Т)</a:t>
            </a:r>
            <a:r>
              <a:rPr lang="ru-RU" dirty="0"/>
              <a:t>в соответствии с пра­вилами трансляции нечетких связок и модификаторов «и», «или», «не», «очень», «слегка» и других операций над нечеткими множествами.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81690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90" y="136524"/>
            <a:ext cx="8691938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записи </a:t>
            </a:r>
            <a:br>
              <a:rPr lang="ru-RU" dirty="0"/>
            </a:br>
            <a:r>
              <a:rPr lang="ru-RU" dirty="0"/>
              <a:t>нечеткого множества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65" y="1344658"/>
            <a:ext cx="7730341" cy="30424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Пусть </a:t>
            </a:r>
            <a:r>
              <a:rPr lang="en-US" dirty="0"/>
              <a:t>T</a:t>
            </a:r>
            <a:r>
              <a:rPr lang="ru-RU" dirty="0"/>
              <a:t> = {x1, x2, </a:t>
            </a:r>
            <a:r>
              <a:rPr lang="ru-RU" dirty="0" err="1"/>
              <a:t>хз</a:t>
            </a:r>
            <a:r>
              <a:rPr lang="ru-RU" dirty="0"/>
              <a:t>, x4,x5}, М = [0, 1];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А — нечеткое множество, для которого </a:t>
            </a:r>
          </a:p>
          <a:p>
            <a:pPr marL="0" indent="0">
              <a:buNone/>
            </a:pPr>
            <a:r>
              <a:rPr lang="ru-RU" dirty="0" err="1"/>
              <a:t>μA</a:t>
            </a:r>
            <a:r>
              <a:rPr lang="ru-RU" dirty="0"/>
              <a:t>(x1)=0,3; </a:t>
            </a:r>
            <a:r>
              <a:rPr lang="ru-RU" dirty="0" err="1"/>
              <a:t>μA</a:t>
            </a:r>
            <a:r>
              <a:rPr lang="ru-RU" dirty="0"/>
              <a:t>(х2)= 0; </a:t>
            </a:r>
            <a:r>
              <a:rPr lang="ru-RU" dirty="0" err="1"/>
              <a:t>μA</a:t>
            </a:r>
            <a:r>
              <a:rPr lang="ru-RU" dirty="0"/>
              <a:t>(х3) = 1; </a:t>
            </a:r>
            <a:r>
              <a:rPr lang="ru-RU" dirty="0" err="1"/>
              <a:t>μA</a:t>
            </a:r>
            <a:r>
              <a:rPr lang="ru-RU" dirty="0"/>
              <a:t>(x4) = 0,5; </a:t>
            </a:r>
            <a:r>
              <a:rPr lang="ru-RU" dirty="0" err="1"/>
              <a:t>μA</a:t>
            </a:r>
            <a:r>
              <a:rPr lang="ru-RU" dirty="0"/>
              <a:t>(х5)=0,9.</a:t>
            </a:r>
          </a:p>
          <a:p>
            <a:pPr marL="0" indent="0">
              <a:buNone/>
            </a:pPr>
            <a:r>
              <a:rPr lang="ru-RU" dirty="0"/>
              <a:t>Тогда А можно представить в виде</a:t>
            </a:r>
          </a:p>
          <a:p>
            <a:pPr marL="0" indent="0">
              <a:buNone/>
            </a:pPr>
            <a:r>
              <a:rPr lang="ru-RU" dirty="0"/>
              <a:t>А ={0,3/x1; 0/х2; 1/х3; 0,5/х4; 0,9/х5},</a:t>
            </a:r>
          </a:p>
          <a:p>
            <a:pPr marL="0" indent="0">
              <a:buNone/>
            </a:pPr>
            <a:r>
              <a:rPr lang="ru-RU" dirty="0"/>
              <a:t>или</a:t>
            </a:r>
          </a:p>
          <a:p>
            <a:pPr marL="0" indent="0">
              <a:buNone/>
            </a:pPr>
            <a:r>
              <a:rPr lang="ru-RU" dirty="0"/>
              <a:t>А={0,3/x1 +0/х2+1/х3+0,5/х4+0,9/х5},</a:t>
            </a:r>
          </a:p>
          <a:p>
            <a:pPr marL="0" indent="0">
              <a:buNone/>
            </a:pPr>
            <a:r>
              <a:rPr lang="ru-RU" dirty="0"/>
              <a:t>или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95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0BCEF-2D1C-4239-8437-D9D3C381C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65" y="4360418"/>
            <a:ext cx="3999860" cy="76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589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2" y="136524"/>
            <a:ext cx="8096036" cy="849795"/>
          </a:xfrm>
        </p:spPr>
        <p:txBody>
          <a:bodyPr>
            <a:normAutofit/>
          </a:bodyPr>
          <a:lstStyle/>
          <a:p>
            <a:r>
              <a:rPr lang="ru-RU" dirty="0"/>
              <a:t>Пример. Продолжение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361" y="4078181"/>
            <a:ext cx="7730341" cy="11421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Функции принадлежности нечетких множеств </a:t>
            </a:r>
            <a:r>
              <a:rPr lang="ru-RU" i="1" dirty="0"/>
              <a:t>А</a:t>
            </a:r>
            <a:r>
              <a:rPr lang="ru-RU" baseline="-25000" dirty="0"/>
              <a:t>1</a:t>
            </a:r>
            <a:r>
              <a:rPr lang="ru-RU" dirty="0"/>
              <a:t>  = «Молодой», </a:t>
            </a:r>
            <a:r>
              <a:rPr lang="ru-RU" i="1" dirty="0"/>
              <a:t>А</a:t>
            </a:r>
            <a:r>
              <a:rPr lang="ru-RU" baseline="-25000" dirty="0"/>
              <a:t>2</a:t>
            </a:r>
            <a:r>
              <a:rPr lang="ru-RU" dirty="0"/>
              <a:t>= «Средний возраст», </a:t>
            </a:r>
            <a:r>
              <a:rPr lang="ru-RU" i="1" dirty="0"/>
              <a:t>A</a:t>
            </a:r>
            <a:r>
              <a:rPr lang="ru-RU" i="1" baseline="-25000" dirty="0"/>
              <a:t>3 </a:t>
            </a:r>
            <a:r>
              <a:rPr lang="ru-RU" dirty="0"/>
              <a:t>= «Старый»</a:t>
            </a:r>
          </a:p>
          <a:p>
            <a:pPr marL="0" indent="0">
              <a:buNone/>
            </a:pPr>
            <a:r>
              <a:rPr lang="ru-RU" dirty="0"/>
              <a:t>Для простоты функция перехода </a:t>
            </a:r>
            <a:r>
              <a:rPr lang="ru-RU" dirty="0" err="1"/>
              <a:t>μA</a:t>
            </a:r>
            <a:r>
              <a:rPr lang="ru-RU" dirty="0"/>
              <a:t>(x) линейная.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96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1DB81-2341-43DD-A230-4F5CF5C80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55" y="1084725"/>
            <a:ext cx="5322014" cy="25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4959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A7297-8ACA-450E-AB07-C7C0E3CC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35024"/>
          </a:xfrm>
        </p:spPr>
        <p:txBody>
          <a:bodyPr/>
          <a:lstStyle/>
          <a:p>
            <a:r>
              <a:rPr lang="ru-RU" dirty="0"/>
              <a:t>Задача.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794DE3-292C-44DC-A1AC-E84BEF94C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021" y="1843315"/>
            <a:ext cx="7886700" cy="201657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Построить графическое представление нечетких множеств по выбранной Вам области</a:t>
            </a:r>
          </a:p>
          <a:p>
            <a:r>
              <a:rPr lang="ru-RU" dirty="0"/>
              <a:t>2 терма (пример. «Уверенная», «Слабая» техника)</a:t>
            </a:r>
          </a:p>
          <a:p>
            <a:r>
              <a:rPr lang="ru-RU" dirty="0"/>
              <a:t>2 </a:t>
            </a:r>
            <a:r>
              <a:rPr lang="en-US" dirty="0"/>
              <a:t>G-</a:t>
            </a:r>
            <a:r>
              <a:rPr lang="ru-RU" dirty="0"/>
              <a:t> выражения (пример. «Очень уверенная техника», «Не слабая техника»)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BF0573-573A-4E9F-9398-989DE78BF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298940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02" y="413926"/>
            <a:ext cx="8291244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Нечеткие высказывания </a:t>
            </a:r>
            <a:br>
              <a:rPr lang="ru-RU" dirty="0"/>
            </a:br>
            <a:r>
              <a:rPr lang="ru-RU" dirty="0"/>
              <a:t>и отношения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390" y="1645805"/>
            <a:ext cx="8139219" cy="4189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Нечетким высказыванием </a:t>
            </a:r>
            <a:r>
              <a:rPr lang="el-GR" dirty="0"/>
              <a:t>β</a:t>
            </a:r>
            <a:r>
              <a:rPr lang="ru-RU" dirty="0"/>
              <a:t> называется </a:t>
            </a:r>
          </a:p>
          <a:p>
            <a:pPr marL="0" indent="0">
              <a:buNone/>
            </a:pPr>
            <a:r>
              <a:rPr lang="ru-RU" dirty="0"/>
              <a:t>высказывание А, степень истинности которого можно оценить числом из некоторого интервала И</a:t>
            </a:r>
          </a:p>
          <a:p>
            <a:pPr marL="0" indent="0">
              <a:buNone/>
            </a:pPr>
            <a:r>
              <a:rPr lang="ru-RU" dirty="0"/>
              <a:t>Модификация исходного высказывания </a:t>
            </a:r>
            <a:r>
              <a:rPr lang="el-GR" dirty="0"/>
              <a:t>β</a:t>
            </a:r>
            <a:r>
              <a:rPr lang="ru-RU" dirty="0"/>
              <a:t> модификаторами </a:t>
            </a:r>
            <a:r>
              <a:rPr lang="en-US" dirty="0"/>
              <a:t>m (“</a:t>
            </a:r>
            <a:r>
              <a:rPr lang="ru-RU" dirty="0"/>
              <a:t>очень</a:t>
            </a:r>
            <a:r>
              <a:rPr lang="en-US" dirty="0"/>
              <a:t>”, “</a:t>
            </a:r>
            <a:r>
              <a:rPr lang="ru-RU" dirty="0"/>
              <a:t>около</a:t>
            </a:r>
            <a:r>
              <a:rPr lang="en-US" dirty="0"/>
              <a:t>”</a:t>
            </a:r>
            <a:r>
              <a:rPr lang="ru-RU" dirty="0"/>
              <a:t>, </a:t>
            </a:r>
            <a:r>
              <a:rPr lang="en-US" dirty="0"/>
              <a:t>“</a:t>
            </a:r>
            <a:r>
              <a:rPr lang="ru-RU" dirty="0"/>
              <a:t>более или менее</a:t>
            </a:r>
            <a:r>
              <a:rPr lang="en-US" dirty="0"/>
              <a:t>”</a:t>
            </a:r>
            <a:r>
              <a:rPr lang="ru-RU" dirty="0"/>
              <a:t> и подобные) И</a:t>
            </a:r>
          </a:p>
          <a:p>
            <a:pPr marL="0" indent="0">
              <a:buNone/>
            </a:pPr>
            <a:r>
              <a:rPr lang="ru-RU" dirty="0"/>
              <a:t>Составные высказывания, образованные из </a:t>
            </a:r>
            <a:r>
              <a:rPr lang="el-GR" dirty="0"/>
              <a:t>β</a:t>
            </a:r>
            <a:r>
              <a:rPr lang="en-US" dirty="0" err="1"/>
              <a:t>i</a:t>
            </a:r>
            <a:r>
              <a:rPr lang="el-GR" dirty="0"/>
              <a:t> β</a:t>
            </a:r>
            <a:r>
              <a:rPr lang="en-US" dirty="0"/>
              <a:t>j </a:t>
            </a:r>
            <a:r>
              <a:rPr lang="ru-RU" dirty="0"/>
              <a:t>с помощью операций И, ИЛИ, ЕСЛИ…ТО.</a:t>
            </a:r>
          </a:p>
          <a:p>
            <a:pPr marL="0" indent="0">
              <a:buNone/>
            </a:pPr>
            <a:r>
              <a:rPr lang="ru-RU" dirty="0"/>
              <a:t>В зависимости от длины интервала нечеткая логика будет являться:</a:t>
            </a:r>
          </a:p>
          <a:p>
            <a:pPr marL="0" indent="0">
              <a:buNone/>
            </a:pPr>
            <a:r>
              <a:rPr lang="ru-RU" dirty="0"/>
              <a:t>Логикой Заде: </a:t>
            </a:r>
            <a:r>
              <a:rPr lang="en-US" dirty="0"/>
              <a:t>[0;1]</a:t>
            </a:r>
          </a:p>
          <a:p>
            <a:pPr marL="0" indent="0">
              <a:buNone/>
            </a:pPr>
            <a:r>
              <a:rPr lang="ru-RU" dirty="0"/>
              <a:t>Логикой антонимов </a:t>
            </a:r>
            <a:r>
              <a:rPr lang="en-US" dirty="0"/>
              <a:t>[0;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∞[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Бесконечно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значной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логикой: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-∞; ∞[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20760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0AB84-FE77-4D64-8688-8B7931D7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81783"/>
          </a:xfrm>
        </p:spPr>
        <p:txBody>
          <a:bodyPr/>
          <a:lstStyle/>
          <a:p>
            <a:r>
              <a:rPr lang="ru-RU" dirty="0"/>
              <a:t>Булевы операции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A2BCBC-0EA7-4FFA-B373-8858C745C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93" y="1714979"/>
            <a:ext cx="7886700" cy="1468796"/>
          </a:xfrm>
        </p:spPr>
        <p:txBody>
          <a:bodyPr/>
          <a:lstStyle/>
          <a:p>
            <a:r>
              <a:rPr lang="ru-RU" dirty="0"/>
              <a:t>НЕ: 1-х </a:t>
            </a:r>
            <a:endParaRPr lang="en-US" dirty="0"/>
          </a:p>
          <a:p>
            <a:r>
              <a:rPr lang="ru-RU" dirty="0"/>
              <a:t>ИЛИ: 1 ИЛИ 1=1; 1 ИЛИ 0=1; 0ИЛИ1=1; 0 ИЛИ 0=0</a:t>
            </a:r>
          </a:p>
          <a:p>
            <a:r>
              <a:rPr lang="ru-RU" dirty="0"/>
              <a:t>И 1 ИЛИ 1=1; 1 ИЛИ 0=0; 0ИЛИ1=0; 0 ИЛИ 0=0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092104-B812-4A1F-8CCD-620334331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99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53262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02" y="413926"/>
            <a:ext cx="8291244" cy="849795"/>
          </a:xfrm>
        </p:spPr>
        <p:txBody>
          <a:bodyPr>
            <a:normAutofit/>
          </a:bodyPr>
          <a:lstStyle/>
          <a:p>
            <a:r>
              <a:rPr lang="ru-RU" dirty="0"/>
              <a:t>Сравнение нечетких множеств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100</a:t>
            </a:fld>
            <a:endParaRPr lang="ru-RU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AE6DD56-FF10-46AD-930A-541405F2BE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673" r="6875" b="26779"/>
          <a:stretch/>
        </p:blipFill>
        <p:spPr>
          <a:xfrm>
            <a:off x="-26133" y="1714198"/>
            <a:ext cx="9170133" cy="264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4334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включения нечетких множеств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871" y="1918814"/>
            <a:ext cx="7886700" cy="3719306"/>
          </a:xfrm>
        </p:spPr>
        <p:txBody>
          <a:bodyPr/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101</a:t>
            </a:fld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559733"/>
              </p:ext>
            </p:extLst>
          </p:nvPr>
        </p:nvGraphicFramePr>
        <p:xfrm>
          <a:off x="527957" y="2343606"/>
          <a:ext cx="592182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75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22829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734283"/>
              </p:ext>
            </p:extLst>
          </p:nvPr>
        </p:nvGraphicFramePr>
        <p:xfrm>
          <a:off x="527956" y="3661300"/>
          <a:ext cx="7179132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78663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равенства НМ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871" y="1918814"/>
            <a:ext cx="7886700" cy="3719306"/>
          </a:xfrm>
        </p:spPr>
        <p:txBody>
          <a:bodyPr>
            <a:normAutofit/>
          </a:bodyPr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Степень равенства </a:t>
            </a:r>
            <a:r>
              <a:rPr lang="en-US" dirty="0"/>
              <a:t>l(s)=1-max|(</a:t>
            </a:r>
            <a:r>
              <a:rPr lang="ru-RU" dirty="0"/>
              <a:t>μ</a:t>
            </a:r>
            <a:r>
              <a:rPr lang="en-US" dirty="0"/>
              <a:t>A(x)-</a:t>
            </a:r>
            <a:r>
              <a:rPr lang="ru-RU" dirty="0"/>
              <a:t> μ </a:t>
            </a:r>
            <a:r>
              <a:rPr lang="en-US" dirty="0"/>
              <a:t>B(x)|=1-0.4=0.6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102</a:t>
            </a:fld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/>
        </p:nvGraphicFramePr>
        <p:xfrm>
          <a:off x="527957" y="234360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486045"/>
              </p:ext>
            </p:extLst>
          </p:nvPr>
        </p:nvGraphicFramePr>
        <p:xfrm>
          <a:off x="527956" y="3661300"/>
          <a:ext cx="6036130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8946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02" y="413926"/>
            <a:ext cx="8291244" cy="849795"/>
          </a:xfrm>
        </p:spPr>
        <p:txBody>
          <a:bodyPr>
            <a:normAutofit fontScale="90000"/>
          </a:bodyPr>
          <a:lstStyle/>
          <a:p>
            <a:r>
              <a:rPr lang="ru-RU" dirty="0"/>
              <a:t>Операции над нечеткими множествами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103</a:t>
            </a:fld>
            <a:endParaRPr lang="ru-RU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0712CA7C-8B86-4C21-AEE6-34EEEAD8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89" y="3544061"/>
            <a:ext cx="7886700" cy="1330018"/>
          </a:xfrm>
        </p:spPr>
        <p:txBody>
          <a:bodyPr>
            <a:normAutofit/>
          </a:bodyPr>
          <a:lstStyle/>
          <a:p>
            <a:r>
              <a:rPr lang="ru-RU" b="1" dirty="0"/>
              <a:t>Пересечением</a:t>
            </a:r>
            <a:r>
              <a:rPr lang="ru-RU" dirty="0"/>
              <a:t> </a:t>
            </a:r>
            <a:r>
              <a:rPr lang="ru-RU" sz="1700" dirty="0">
                <a:solidFill>
                  <a:srgbClr val="404040"/>
                </a:solidFill>
                <a:latin typeface="arial" panose="020B0604020202020204" pitchFamily="34" charset="0"/>
              </a:rPr>
              <a:t>нечетких множеств называется нечеткое множество с функцией принадлежности</a:t>
            </a:r>
          </a:p>
          <a:p>
            <a:r>
              <a:rPr lang="ru-RU" sz="2100" b="1" dirty="0"/>
              <a:t>ПЕРЕСЕЧЕНИЕ</a:t>
            </a:r>
            <a:r>
              <a:rPr lang="ru-RU" sz="2100" dirty="0"/>
              <a:t>: </a:t>
            </a:r>
            <a:r>
              <a:rPr lang="ru-RU" sz="1700" dirty="0">
                <a:solidFill>
                  <a:srgbClr val="404040"/>
                </a:solidFill>
                <a:latin typeface="arial" panose="020B0604020202020204" pitchFamily="34" charset="0"/>
              </a:rPr>
              <a:t>создается новое множество из одинаковых элементов исходных множеств, принадлежность которых берется минимальной.</a:t>
            </a:r>
            <a:endParaRPr lang="en-US" sz="1700" dirty="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D923C-639A-49A8-A836-F1B7C32F7D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888" t="23118" r="32472" b="72468"/>
          <a:stretch/>
        </p:blipFill>
        <p:spPr>
          <a:xfrm>
            <a:off x="1290954" y="5192628"/>
            <a:ext cx="5529986" cy="539512"/>
          </a:xfrm>
          <a:prstGeom prst="rect">
            <a:avLst/>
          </a:prstGeom>
        </p:spPr>
      </p:pic>
      <p:sp>
        <p:nvSpPr>
          <p:cNvPr id="7" name="Content Placeholder 26">
            <a:extLst>
              <a:ext uri="{FF2B5EF4-FFF2-40B4-BE49-F238E27FC236}">
                <a16:creationId xmlns:a16="http://schemas.microsoft.com/office/drawing/2014/main" id="{8DA0EB77-ACBC-4130-B216-196BBBAF2443}"/>
              </a:ext>
            </a:extLst>
          </p:cNvPr>
          <p:cNvSpPr txBox="1">
            <a:spLocks/>
          </p:cNvSpPr>
          <p:nvPr/>
        </p:nvSpPr>
        <p:spPr>
          <a:xfrm>
            <a:off x="332304" y="1578609"/>
            <a:ext cx="7886700" cy="11073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Сумма </a:t>
            </a:r>
            <a:r>
              <a:rPr lang="en-US" b="1" dirty="0"/>
              <a:t>(</a:t>
            </a:r>
            <a:r>
              <a:rPr lang="ru-RU" b="1" dirty="0"/>
              <a:t>объединение) </a:t>
            </a:r>
            <a:r>
              <a:rPr lang="ru-RU" dirty="0"/>
              <a:t>нечетких множеств - нечеткое множество, определенное функцией принадлежности</a:t>
            </a:r>
          </a:p>
          <a:p>
            <a:r>
              <a:rPr lang="ru-RU" b="1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ОБЪЕДИНЕНИЕ:</a:t>
            </a:r>
            <a:r>
              <a:rPr lang="ru-RU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создается новое множество из элементов исходных множеств, причем для одинаковых элементов принадлежность берется максимальной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75D05B-219F-436A-AFEE-EB3C8ED591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377" t="40771" r="33310" b="55233"/>
          <a:stretch/>
        </p:blipFill>
        <p:spPr>
          <a:xfrm>
            <a:off x="1290954" y="2726732"/>
            <a:ext cx="5135073" cy="43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827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5457"/>
          </a:xfrm>
        </p:spPr>
        <p:txBody>
          <a:bodyPr/>
          <a:lstStyle/>
          <a:p>
            <a:r>
              <a:rPr lang="ru-RU" dirty="0"/>
              <a:t>Объединение</a:t>
            </a:r>
            <a:r>
              <a:rPr lang="en-US" dirty="0"/>
              <a:t> (</a:t>
            </a:r>
            <a:r>
              <a:rPr lang="ru-RU" dirty="0"/>
              <a:t>ИЛИ)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871" y="1464124"/>
            <a:ext cx="7886700" cy="3719306"/>
          </a:xfrm>
        </p:spPr>
        <p:txBody>
          <a:bodyPr/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A U B =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104</a:t>
            </a:fld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62071"/>
              </p:ext>
            </p:extLst>
          </p:nvPr>
        </p:nvGraphicFramePr>
        <p:xfrm>
          <a:off x="527956" y="186386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697576"/>
              </p:ext>
            </p:extLst>
          </p:nvPr>
        </p:nvGraphicFramePr>
        <p:xfrm>
          <a:off x="527956" y="3151790"/>
          <a:ext cx="7179132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A870AE9-35AB-417B-9C3B-F6B1458A3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12630"/>
              </p:ext>
            </p:extLst>
          </p:nvPr>
        </p:nvGraphicFramePr>
        <p:xfrm>
          <a:off x="527956" y="4839456"/>
          <a:ext cx="7179131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978">
                  <a:extLst>
                    <a:ext uri="{9D8B030D-6E8A-4147-A177-3AD203B41FA5}">
                      <a16:colId xmlns:a16="http://schemas.microsoft.com/office/drawing/2014/main" val="3806729918"/>
                    </a:ext>
                  </a:extLst>
                </a:gridCol>
                <a:gridCol w="106597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01499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035853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001092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021948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973286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71147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5457"/>
          </a:xfrm>
        </p:spPr>
        <p:txBody>
          <a:bodyPr/>
          <a:lstStyle/>
          <a:p>
            <a:r>
              <a:rPr lang="ru-RU" dirty="0"/>
              <a:t>Пересечение (И)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32045"/>
            <a:ext cx="7886700" cy="350638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∩B</a:t>
            </a:r>
            <a:r>
              <a:rPr lang="en-US" dirty="0"/>
              <a:t> =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105</a:t>
            </a:fld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518533"/>
              </p:ext>
            </p:extLst>
          </p:nvPr>
        </p:nvGraphicFramePr>
        <p:xfrm>
          <a:off x="628650" y="210074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580539"/>
              </p:ext>
            </p:extLst>
          </p:nvPr>
        </p:nvGraphicFramePr>
        <p:xfrm>
          <a:off x="628650" y="3429000"/>
          <a:ext cx="7179132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A870AE9-35AB-417B-9C3B-F6B1458A3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5445"/>
              </p:ext>
            </p:extLst>
          </p:nvPr>
        </p:nvGraphicFramePr>
        <p:xfrm>
          <a:off x="1910443" y="4507749"/>
          <a:ext cx="4220935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821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987878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808264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25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21063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ADE40-7867-4A91-A59C-7F50F1083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65174"/>
          </a:xfrm>
        </p:spPr>
        <p:txBody>
          <a:bodyPr/>
          <a:lstStyle/>
          <a:p>
            <a:r>
              <a:rPr lang="ru-RU" dirty="0"/>
              <a:t>Пример области применения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728D28-33C7-4B66-BAE1-14847FBE3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выбор показателей, например, качества, которые удовлетворят разные группы покупателей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объединение имеет значение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тк</a:t>
            </a:r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показывает возможность интегрированного влияния нескольких процессов на конечный результат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пересечение множеств может быть когда в интернет магазине добавляешь товары в сравнение друг с другом и смотришь по параметрам отличия их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DDDF4D-E39F-473B-8C6E-6BDB62960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61653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5457"/>
          </a:xfrm>
        </p:spPr>
        <p:txBody>
          <a:bodyPr/>
          <a:lstStyle/>
          <a:p>
            <a:r>
              <a:rPr lang="ru-RU" dirty="0"/>
              <a:t>Разность нечетких множеств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08108"/>
            <a:ext cx="7886700" cy="350638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«Молодой по версии Б» =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A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/>
              <a:t> =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107</a:t>
            </a:fld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279965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C057A0E-2DBC-4138-A7B0-9D1266D1A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065493"/>
              </p:ext>
            </p:extLst>
          </p:nvPr>
        </p:nvGraphicFramePr>
        <p:xfrm>
          <a:off x="628650" y="3429000"/>
          <a:ext cx="7179132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58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19198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6479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3579917778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A870AE9-35AB-417B-9C3B-F6B1458A3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243429"/>
              </p:ext>
            </p:extLst>
          </p:nvPr>
        </p:nvGraphicFramePr>
        <p:xfrm>
          <a:off x="693964" y="4921844"/>
          <a:ext cx="2050849" cy="742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996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035853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</a:tblGrid>
              <a:tr h="371857"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75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C94A24-F7DB-4C89-880B-B2BDA23832EE}"/>
              </a:ext>
            </a:extLst>
          </p:cNvPr>
          <p:cNvSpPr txBox="1"/>
          <p:nvPr/>
        </p:nvSpPr>
        <p:spPr>
          <a:xfrm>
            <a:off x="628650" y="1152958"/>
            <a:ext cx="6155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РАЗНОСТЬ:</a:t>
            </a:r>
            <a:r>
              <a:rPr lang="ru-RU" dirty="0"/>
              <a:t> новое множество состоит из одинаковых элементов исходных множеств.</a:t>
            </a:r>
          </a:p>
        </p:txBody>
      </p:sp>
    </p:spTree>
    <p:extLst>
      <p:ext uri="{BB962C8B-B14F-4D97-AF65-F5344CB8AC3E}">
        <p14:creationId xmlns:p14="http://schemas.microsoft.com/office/powerpoint/2010/main" val="236682185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46DA9-D419-49AB-85C9-05494FBB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5457"/>
          </a:xfrm>
        </p:spPr>
        <p:txBody>
          <a:bodyPr>
            <a:normAutofit fontScale="90000"/>
          </a:bodyPr>
          <a:lstStyle/>
          <a:p>
            <a:r>
              <a:rPr lang="ru-RU" dirty="0"/>
              <a:t>Дополнение или Отрицание</a:t>
            </a:r>
            <a:br>
              <a:rPr lang="ru-RU" dirty="0"/>
            </a:br>
            <a:r>
              <a:rPr lang="ru-RU" dirty="0"/>
              <a:t>к нечеткому множеству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B46D8-7877-43C6-8C63-C97C4CF0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9965"/>
            <a:ext cx="7886700" cy="350638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«Молодой по версии А» = 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ru-RU" dirty="0"/>
              <a:t>«Дополнение (Отрицание) к А» =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103EA-421D-4903-A044-9E1EAE61B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108</a:t>
            </a:fld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C09FB43-D1CA-49D5-84AA-D09058109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103948"/>
              </p:ext>
            </p:extLst>
          </p:nvPr>
        </p:nvGraphicFramePr>
        <p:xfrm>
          <a:off x="628649" y="268944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C94A24-F7DB-4C89-880B-B2BDA23832EE}"/>
              </a:ext>
            </a:extLst>
          </p:cNvPr>
          <p:cNvSpPr txBox="1"/>
          <p:nvPr/>
        </p:nvSpPr>
        <p:spPr>
          <a:xfrm>
            <a:off x="628649" y="1391550"/>
            <a:ext cx="6539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Дополнение:</a:t>
            </a:r>
            <a:r>
              <a:rPr lang="ru-RU" dirty="0"/>
              <a:t> μ</a:t>
            </a:r>
            <a:r>
              <a:rPr lang="en-US" dirty="0"/>
              <a:t>A`(x)=1-</a:t>
            </a:r>
            <a:r>
              <a:rPr lang="ru-RU" dirty="0"/>
              <a:t>μ</a:t>
            </a:r>
            <a:r>
              <a:rPr lang="en-US" dirty="0"/>
              <a:t>A(x</a:t>
            </a:r>
            <a:r>
              <a:rPr lang="ru-RU" dirty="0"/>
              <a:t>)</a:t>
            </a:r>
          </a:p>
        </p:txBody>
      </p:sp>
      <p:graphicFrame>
        <p:nvGraphicFramePr>
          <p:cNvPr id="10" name="Таблица 6">
            <a:extLst>
              <a:ext uri="{FF2B5EF4-FFF2-40B4-BE49-F238E27FC236}">
                <a16:creationId xmlns:a16="http://schemas.microsoft.com/office/drawing/2014/main" id="{2ED9BB0A-5D26-4A8F-BB6B-73FB88A57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930863"/>
              </p:ext>
            </p:extLst>
          </p:nvPr>
        </p:nvGraphicFramePr>
        <p:xfrm>
          <a:off x="628649" y="435969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244627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11897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8732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45186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82184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</a:t>
                      </a:r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7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76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31335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50" y="0"/>
            <a:ext cx="8291244" cy="849795"/>
          </a:xfrm>
        </p:spPr>
        <p:txBody>
          <a:bodyPr>
            <a:normAutofit/>
          </a:bodyPr>
          <a:lstStyle/>
          <a:p>
            <a:r>
              <a:rPr lang="ru-RU" dirty="0"/>
              <a:t>Графическое представление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109</a:t>
            </a:fld>
            <a:endParaRPr lang="ru-RU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0712CA7C-8B86-4C21-AEE6-34EEEAD8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7173" y="5461984"/>
            <a:ext cx="2704485" cy="712673"/>
          </a:xfrm>
        </p:spPr>
        <p:txBody>
          <a:bodyPr/>
          <a:lstStyle/>
          <a:p>
            <a:r>
              <a:rPr lang="ru-RU" dirty="0"/>
              <a:t>Инверсия или Отрицание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2B821-CA06-4991-977A-13D87F3C1B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32" t="20457" r="18089" b="41590"/>
          <a:stretch/>
        </p:blipFill>
        <p:spPr>
          <a:xfrm>
            <a:off x="98323" y="2011487"/>
            <a:ext cx="9124099" cy="3359650"/>
          </a:xfrm>
          <a:prstGeom prst="rect">
            <a:avLst/>
          </a:prstGeom>
        </p:spPr>
      </p:pic>
      <p:sp>
        <p:nvSpPr>
          <p:cNvPr id="6" name="Content Placeholder 26">
            <a:extLst>
              <a:ext uri="{FF2B5EF4-FFF2-40B4-BE49-F238E27FC236}">
                <a16:creationId xmlns:a16="http://schemas.microsoft.com/office/drawing/2014/main" id="{D44E6050-90AA-4004-91CA-06FCA729F92B}"/>
              </a:ext>
            </a:extLst>
          </p:cNvPr>
          <p:cNvSpPr txBox="1">
            <a:spLocks/>
          </p:cNvSpPr>
          <p:nvPr/>
        </p:nvSpPr>
        <p:spPr>
          <a:xfrm>
            <a:off x="825296" y="5461985"/>
            <a:ext cx="2704485" cy="7126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Объединение или простое суммирование</a:t>
            </a:r>
            <a:endParaRPr lang="en-US" dirty="0"/>
          </a:p>
        </p:txBody>
      </p:sp>
      <p:sp>
        <p:nvSpPr>
          <p:cNvPr id="7" name="Content Placeholder 26">
            <a:extLst>
              <a:ext uri="{FF2B5EF4-FFF2-40B4-BE49-F238E27FC236}">
                <a16:creationId xmlns:a16="http://schemas.microsoft.com/office/drawing/2014/main" id="{F00974F9-1B4C-4A95-80C3-C0B166A2181E}"/>
              </a:ext>
            </a:extLst>
          </p:cNvPr>
          <p:cNvSpPr txBox="1">
            <a:spLocks/>
          </p:cNvSpPr>
          <p:nvPr/>
        </p:nvSpPr>
        <p:spPr>
          <a:xfrm>
            <a:off x="6262535" y="1089217"/>
            <a:ext cx="2704485" cy="7126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4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Пересечение или </a:t>
            </a:r>
            <a:r>
              <a:rPr lang="ru-RU"/>
              <a:t>простое умножение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65374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2" y="136524"/>
            <a:ext cx="8096036" cy="849795"/>
          </a:xfrm>
        </p:spPr>
        <p:txBody>
          <a:bodyPr>
            <a:normAutofit/>
          </a:bodyPr>
          <a:lstStyle/>
          <a:p>
            <a:r>
              <a:rPr lang="ru-RU" dirty="0"/>
              <a:t>Пример. Продолжение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29" y="3964567"/>
            <a:ext cx="7730341" cy="11421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Функция принадлежности нечеткого множества  «Молодой и среднего возраста»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Для простоты функция перехода </a:t>
            </a:r>
            <a:r>
              <a:rPr lang="ru-RU" dirty="0" err="1"/>
              <a:t>μA</a:t>
            </a:r>
            <a:r>
              <a:rPr lang="ru-RU" dirty="0"/>
              <a:t>(x) линейная.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110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E4D411-DD27-438C-B4C4-E51E97FF2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62" y="1165813"/>
            <a:ext cx="4996621" cy="23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5783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0260"/>
            <a:ext cx="8451801" cy="3738211"/>
          </a:xfrm>
        </p:spPr>
        <p:txBody>
          <a:bodyPr>
            <a:normAutofit/>
          </a:bodyPr>
          <a:lstStyle/>
          <a:p>
            <a:r>
              <a:rPr lang="ru-RU" dirty="0"/>
              <a:t>Задача. 25 мин.+15 мин.</a:t>
            </a:r>
            <a:r>
              <a:rPr lang="en-US" dirty="0"/>
              <a:t>=&gt;</a:t>
            </a:r>
            <a:r>
              <a:rPr lang="ru-RU" dirty="0"/>
              <a:t>12-00</a:t>
            </a:r>
            <a:br>
              <a:rPr lang="ru-RU" dirty="0"/>
            </a:br>
            <a:r>
              <a:rPr lang="ru-RU" sz="2400" dirty="0"/>
              <a:t>1. Приведите примеры включения, сравнения, объединения, пересечения и разности 2х множеств (по </a:t>
            </a:r>
            <a:r>
              <a:rPr lang="en-US" sz="2400" dirty="0"/>
              <a:t>5</a:t>
            </a:r>
            <a:r>
              <a:rPr lang="ru-RU" sz="2400" dirty="0"/>
              <a:t> значений в каждом множестве) – 15 мин.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2. Постройте нечеткое множество «игрок уверенной ИЛИ «звездной» техники»</a:t>
            </a:r>
            <a:br>
              <a:rPr lang="ru-RU" sz="2400" dirty="0"/>
            </a:br>
            <a:r>
              <a:rPr lang="ru-RU" sz="2400" dirty="0"/>
              <a:t>Постройте множество «Игрок среднего И высокого роста» (чуть выше среднего) – 10 мин.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916" y="4237751"/>
            <a:ext cx="7730341" cy="611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 основе примера в </a:t>
            </a:r>
            <a:r>
              <a:rPr lang="en-US" dirty="0"/>
              <a:t>Excel</a:t>
            </a:r>
            <a:r>
              <a:rPr lang="ru-RU" dirty="0"/>
              <a:t> на листе </a:t>
            </a:r>
            <a:r>
              <a:rPr lang="en-US" dirty="0"/>
              <a:t>mu-</a:t>
            </a:r>
            <a:r>
              <a:rPr lang="ru-RU" dirty="0"/>
              <a:t>функции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559988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16" y="356776"/>
            <a:ext cx="4433298" cy="849795"/>
          </a:xfrm>
        </p:spPr>
        <p:txBody>
          <a:bodyPr>
            <a:normAutofit/>
          </a:bodyPr>
          <a:lstStyle/>
          <a:p>
            <a:r>
              <a:rPr lang="ru-RU" dirty="0"/>
              <a:t>Нечеткий вывод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16" y="1334042"/>
            <a:ext cx="8490948" cy="3033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Нечетким логическим выводом</a:t>
            </a:r>
            <a:r>
              <a:rPr lang="ru-RU" dirty="0"/>
              <a:t> называется аппроксимация зависимости каждой выходной нечеткой переменной от множества входных нечетких переменных и получение заключения в виде нечеткого множества.</a:t>
            </a:r>
          </a:p>
          <a:p>
            <a:pPr marL="0" indent="0">
              <a:buNone/>
            </a:pPr>
            <a:r>
              <a:rPr lang="ru-RU" dirty="0"/>
              <a:t>Нечеткий вывод производится на основе композиционного правила.</a:t>
            </a:r>
          </a:p>
          <a:p>
            <a:pPr marL="0" indent="0">
              <a:buNone/>
            </a:pPr>
            <a:r>
              <a:rPr lang="ru-RU" dirty="0"/>
              <a:t>Базовым является композиционное правило Заде.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1600" u="sng" dirty="0"/>
              <a:t>Примечание. Также существуют правила </a:t>
            </a:r>
            <a:r>
              <a:rPr lang="ru-RU" sz="1600" u="sng" dirty="0" err="1"/>
              <a:t>Мамдани</a:t>
            </a:r>
            <a:r>
              <a:rPr lang="ru-RU" sz="1600" u="sng" dirty="0"/>
              <a:t>, </a:t>
            </a:r>
            <a:r>
              <a:rPr lang="ru-RU" sz="1600" u="sng" dirty="0" err="1"/>
              <a:t>Лукасевича</a:t>
            </a:r>
            <a:r>
              <a:rPr lang="ru-RU" sz="1600" u="sng" dirty="0"/>
              <a:t> и др.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28724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B5BFB-78C9-42F9-A36C-1C6499396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3676"/>
            <a:ext cx="7886700" cy="1325563"/>
          </a:xfrm>
        </p:spPr>
        <p:txBody>
          <a:bodyPr/>
          <a:lstStyle/>
          <a:p>
            <a:r>
              <a:rPr lang="ru-RU" dirty="0"/>
              <a:t>Пример отличий логик Заде, </a:t>
            </a:r>
            <a:r>
              <a:rPr lang="ru-RU" dirty="0" err="1"/>
              <a:t>Мамдани</a:t>
            </a:r>
            <a:r>
              <a:rPr lang="ru-RU" dirty="0"/>
              <a:t>, </a:t>
            </a:r>
            <a:r>
              <a:rPr lang="ru-RU" dirty="0" err="1"/>
              <a:t>Лукасевича</a:t>
            </a:r>
            <a:r>
              <a:rPr lang="ru-RU" dirty="0"/>
              <a:t> и пр.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6675BE-51E3-47F3-B753-F22EAB864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113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8467AF-B44D-440F-AC3E-AEC557A37C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14" t="25397" r="31875" b="17936"/>
          <a:stretch/>
        </p:blipFill>
        <p:spPr>
          <a:xfrm>
            <a:off x="253092" y="1763485"/>
            <a:ext cx="8680145" cy="443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8135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6424102" cy="326571"/>
          </a:xfrm>
        </p:spPr>
        <p:txBody>
          <a:bodyPr anchor="b">
            <a:normAutofit fontScale="90000"/>
          </a:bodyPr>
          <a:lstStyle/>
          <a:p>
            <a:r>
              <a:rPr lang="ru-RU" dirty="0"/>
              <a:t>Система нечеткого вывода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57881-55D8-4075-976C-B11A623DE8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05" t="34269" r="45393" b="45556"/>
          <a:stretch/>
        </p:blipFill>
        <p:spPr>
          <a:xfrm>
            <a:off x="3687115" y="2057400"/>
            <a:ext cx="5171327" cy="2016579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0059" y="2057400"/>
            <a:ext cx="3338960" cy="2359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Система нечеткого вывода </a:t>
            </a:r>
            <a:r>
              <a:rPr lang="ru-RU" dirty="0"/>
              <a:t>– это процесс получения нечетких заключений о требуемом управлении объектом на основе нечетких условий или предпосылок, представляющих собой информацию о текущем состоянии объекта.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92400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84" y="2196193"/>
            <a:ext cx="2802721" cy="887829"/>
          </a:xfrm>
        </p:spPr>
        <p:txBody>
          <a:bodyPr anchor="b">
            <a:normAutofit fontScale="90000"/>
          </a:bodyPr>
          <a:lstStyle/>
          <a:p>
            <a:r>
              <a:rPr lang="ru-RU" sz="2700" dirty="0"/>
              <a:t>Продукционное (нечеткое) правило</a:t>
            </a:r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115</a:t>
            </a:fld>
            <a:endParaRPr lang="ru-RU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4AAA62B-04C5-4496-82B3-7E3B5BE97F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44814"/>
              </p:ext>
            </p:extLst>
          </p:nvPr>
        </p:nvGraphicFramePr>
        <p:xfrm>
          <a:off x="3524596" y="224444"/>
          <a:ext cx="5353397" cy="6010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061120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90" y="208443"/>
            <a:ext cx="8291244" cy="1024456"/>
          </a:xfrm>
        </p:spPr>
        <p:txBody>
          <a:bodyPr>
            <a:normAutofit/>
          </a:bodyPr>
          <a:lstStyle/>
          <a:p>
            <a:r>
              <a:rPr lang="ru-RU" dirty="0"/>
              <a:t>Пример импликации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085" y="1232899"/>
            <a:ext cx="7511453" cy="3585683"/>
          </a:xfrm>
        </p:spPr>
        <p:txBody>
          <a:bodyPr>
            <a:normAutofit/>
          </a:bodyPr>
          <a:lstStyle/>
          <a:p>
            <a:r>
              <a:rPr lang="ru-RU" dirty="0"/>
              <a:t>ПРАВИЛО</a:t>
            </a:r>
            <a:r>
              <a:rPr lang="en-US" dirty="0"/>
              <a:t>: </a:t>
            </a:r>
            <a:r>
              <a:rPr lang="ru-RU" dirty="0"/>
              <a:t>«ЕСЛИ «оценка» положительная, ТО «результат экзамена» = «зачет» «ставим в ведомость»</a:t>
            </a:r>
          </a:p>
          <a:p>
            <a:r>
              <a:rPr lang="ru-RU" b="1" dirty="0"/>
              <a:t>Здесь:</a:t>
            </a:r>
          </a:p>
          <a:p>
            <a:pPr lvl="1"/>
            <a:r>
              <a:rPr lang="en-US" dirty="0"/>
              <a:t>Q – </a:t>
            </a:r>
            <a:r>
              <a:rPr lang="ru-RU" dirty="0"/>
              <a:t>образование (скрытая компонента)</a:t>
            </a:r>
          </a:p>
          <a:p>
            <a:pPr lvl="1"/>
            <a:r>
              <a:rPr lang="ru-RU" dirty="0"/>
              <a:t>Р – условие «ЕСЛИ»</a:t>
            </a:r>
          </a:p>
          <a:p>
            <a:pPr lvl="1"/>
            <a:r>
              <a:rPr lang="ru-RU" dirty="0"/>
              <a:t>А (антецедент) – «оценка»</a:t>
            </a:r>
          </a:p>
          <a:p>
            <a:pPr lvl="1"/>
            <a:r>
              <a:rPr lang="ru-RU" dirty="0"/>
              <a:t>В (</a:t>
            </a:r>
            <a:r>
              <a:rPr lang="ru-RU" dirty="0" err="1"/>
              <a:t>консеквент</a:t>
            </a:r>
            <a:r>
              <a:rPr lang="ru-RU" dirty="0"/>
              <a:t>) – «результат»</a:t>
            </a:r>
          </a:p>
          <a:p>
            <a:pPr lvl="1"/>
            <a:r>
              <a:rPr lang="en-US" dirty="0"/>
              <a:t>S</a:t>
            </a:r>
            <a:r>
              <a:rPr lang="ru-RU" dirty="0"/>
              <a:t> – «положительная»</a:t>
            </a:r>
          </a:p>
          <a:p>
            <a:pPr lvl="1"/>
            <a:r>
              <a:rPr lang="en-US" dirty="0"/>
              <a:t>N</a:t>
            </a:r>
            <a:r>
              <a:rPr lang="ru-RU" dirty="0"/>
              <a:t> – постусловие – «ставим в ведомость»</a:t>
            </a:r>
          </a:p>
          <a:p>
            <a:pPr lvl="1"/>
            <a:r>
              <a:rPr lang="en-US" dirty="0"/>
              <a:t>F </a:t>
            </a:r>
            <a:r>
              <a:rPr lang="ru-RU" dirty="0"/>
              <a:t>определяется по </a:t>
            </a:r>
            <a:r>
              <a:rPr lang="el-GR" dirty="0"/>
              <a:t>μ - </a:t>
            </a:r>
            <a:r>
              <a:rPr lang="ru-RU" dirty="0"/>
              <a:t>функции</a:t>
            </a:r>
          </a:p>
          <a:p>
            <a:pPr lvl="1"/>
            <a:endParaRPr lang="ru-RU" dirty="0"/>
          </a:p>
          <a:p>
            <a:pPr lvl="1"/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116</a:t>
            </a:fld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EADAF2-41D2-46D2-92C1-B7C8027893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843" b="7311"/>
          <a:stretch/>
        </p:blipFill>
        <p:spPr>
          <a:xfrm>
            <a:off x="5643288" y="3865192"/>
            <a:ext cx="3345005" cy="1905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857478-8912-4D08-ACCE-88098BE40E14}"/>
              </a:ext>
            </a:extLst>
          </p:cNvPr>
          <p:cNvSpPr txBox="1"/>
          <p:nvPr/>
        </p:nvSpPr>
        <p:spPr>
          <a:xfrm>
            <a:off x="6072027" y="5843038"/>
            <a:ext cx="186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1    2     3    4    5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5722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90" y="208443"/>
            <a:ext cx="8291244" cy="1024456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 правила. </a:t>
            </a:r>
            <a:br>
              <a:rPr lang="ru-RU" dirty="0"/>
            </a:br>
            <a:r>
              <a:rPr lang="ru-RU" dirty="0" err="1"/>
              <a:t>Импликиция</a:t>
            </a:r>
            <a:r>
              <a:rPr lang="ru-RU" dirty="0"/>
              <a:t> «ЕСЛИ…, ТО…»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390" y="1674686"/>
            <a:ext cx="8139219" cy="3801439"/>
          </a:xfrm>
        </p:spPr>
        <p:txBody>
          <a:bodyPr>
            <a:normAutofit/>
          </a:bodyPr>
          <a:lstStyle/>
          <a:p>
            <a:r>
              <a:rPr lang="ru-RU" dirty="0"/>
              <a:t>ПРАВИЛО &lt;#&gt; : ЕСЛИ </a:t>
            </a:r>
            <a:r>
              <a:rPr lang="el-GR" dirty="0"/>
              <a:t>β 1 « </a:t>
            </a:r>
            <a:r>
              <a:rPr lang="ru-RU" dirty="0"/>
              <a:t>ЕСТЬ </a:t>
            </a:r>
            <a:r>
              <a:rPr lang="el-GR" dirty="0"/>
              <a:t>ά 1 » </a:t>
            </a:r>
            <a:r>
              <a:rPr lang="ru-RU" dirty="0"/>
              <a:t>ТО « </a:t>
            </a:r>
            <a:r>
              <a:rPr lang="el-GR" dirty="0"/>
              <a:t>β 2 </a:t>
            </a:r>
            <a:r>
              <a:rPr lang="ru-RU" dirty="0"/>
              <a:t>ЕСТЬ </a:t>
            </a:r>
            <a:r>
              <a:rPr lang="el-GR" dirty="0"/>
              <a:t>ά 2 »</a:t>
            </a:r>
          </a:p>
          <a:p>
            <a:r>
              <a:rPr lang="ru-RU" dirty="0"/>
              <a:t>Антецедент и </a:t>
            </a:r>
            <a:r>
              <a:rPr lang="ru-RU" dirty="0" err="1"/>
              <a:t>консеквент</a:t>
            </a:r>
            <a:r>
              <a:rPr lang="ru-RU" dirty="0"/>
              <a:t> ядра нечеткой продукции может быть сложным, состоящим из связок «И», «ИЛИ», «НЕ», например:</a:t>
            </a:r>
          </a:p>
          <a:p>
            <a:r>
              <a:rPr lang="ru-RU" dirty="0"/>
              <a:t>ПРАВИЛО &lt;#&gt;: ЕСЛИ « </a:t>
            </a:r>
            <a:r>
              <a:rPr lang="el-GR" dirty="0"/>
              <a:t>β 1 </a:t>
            </a:r>
            <a:r>
              <a:rPr lang="ru-RU" dirty="0"/>
              <a:t>ЕСТЬ </a:t>
            </a:r>
            <a:r>
              <a:rPr lang="el-GR" dirty="0"/>
              <a:t>ά » </a:t>
            </a:r>
            <a:r>
              <a:rPr lang="ru-RU" dirty="0"/>
              <a:t>И « </a:t>
            </a:r>
            <a:r>
              <a:rPr lang="el-GR" dirty="0"/>
              <a:t>β 2 </a:t>
            </a:r>
            <a:r>
              <a:rPr lang="ru-RU" dirty="0"/>
              <a:t>ЕСТЬ НЕ </a:t>
            </a:r>
            <a:r>
              <a:rPr lang="el-GR" dirty="0"/>
              <a:t>ά » </a:t>
            </a:r>
            <a:r>
              <a:rPr lang="ru-RU" dirty="0"/>
              <a:t>ТО « </a:t>
            </a:r>
            <a:r>
              <a:rPr lang="el-GR" dirty="0"/>
              <a:t>β 1 </a:t>
            </a:r>
            <a:r>
              <a:rPr lang="ru-RU" dirty="0"/>
              <a:t>ЕСТЬ НЕ </a:t>
            </a:r>
            <a:r>
              <a:rPr lang="el-GR" dirty="0"/>
              <a:t>β 2 »</a:t>
            </a:r>
            <a:endParaRPr lang="ru-RU" dirty="0"/>
          </a:p>
          <a:p>
            <a:r>
              <a:rPr lang="ru-RU" dirty="0"/>
              <a:t>Операция логического ИЛИ называется </a:t>
            </a:r>
            <a:r>
              <a:rPr lang="ru-RU" b="1" dirty="0"/>
              <a:t>Дизъюнкцией</a:t>
            </a:r>
          </a:p>
          <a:p>
            <a:r>
              <a:rPr lang="ru-RU" dirty="0"/>
              <a:t>Операция логического И называется </a:t>
            </a:r>
            <a:r>
              <a:rPr lang="ru-RU" b="1" dirty="0"/>
              <a:t>Конъюнкцией</a:t>
            </a:r>
          </a:p>
          <a:p>
            <a:r>
              <a:rPr lang="ru-RU" b="1" dirty="0"/>
              <a:t>Пример: </a:t>
            </a:r>
            <a:r>
              <a:rPr lang="ru-RU" dirty="0"/>
              <a:t>ЕСЛИ</a:t>
            </a:r>
            <a:r>
              <a:rPr lang="en-US" dirty="0"/>
              <a:t> “</a:t>
            </a:r>
            <a:r>
              <a:rPr lang="ru-RU" dirty="0"/>
              <a:t>оценка положительная» И «посещаемость удовлетворительная ИЛИ хорошая», ТО результат «курс зачтен» поставить в ведомость</a:t>
            </a:r>
            <a:endParaRPr lang="el-GR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43637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36DC8-EA5A-4E14-A1AA-B8C19ADFB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126"/>
            <a:ext cx="8545484" cy="881783"/>
          </a:xfrm>
        </p:spPr>
        <p:txBody>
          <a:bodyPr/>
          <a:lstStyle/>
          <a:p>
            <a:r>
              <a:rPr lang="ru-RU" dirty="0"/>
              <a:t>Задача</a:t>
            </a:r>
            <a:r>
              <a:rPr lang="en-US" dirty="0"/>
              <a:t>. </a:t>
            </a:r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AECA0F02-2F3E-4B34-A4AA-01CFDE1925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432769"/>
              </p:ext>
            </p:extLst>
          </p:nvPr>
        </p:nvGraphicFramePr>
        <p:xfrm>
          <a:off x="63386" y="2457450"/>
          <a:ext cx="883123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589">
                  <a:extLst>
                    <a:ext uri="{9D8B030D-6E8A-4147-A177-3AD203B41FA5}">
                      <a16:colId xmlns:a16="http://schemas.microsoft.com/office/drawing/2014/main" val="2653471766"/>
                    </a:ext>
                  </a:extLst>
                </a:gridCol>
                <a:gridCol w="931988">
                  <a:extLst>
                    <a:ext uri="{9D8B030D-6E8A-4147-A177-3AD203B41FA5}">
                      <a16:colId xmlns:a16="http://schemas.microsoft.com/office/drawing/2014/main" val="2489403330"/>
                    </a:ext>
                  </a:extLst>
                </a:gridCol>
                <a:gridCol w="1009654">
                  <a:extLst>
                    <a:ext uri="{9D8B030D-6E8A-4147-A177-3AD203B41FA5}">
                      <a16:colId xmlns:a16="http://schemas.microsoft.com/office/drawing/2014/main" val="1281055908"/>
                    </a:ext>
                  </a:extLst>
                </a:gridCol>
                <a:gridCol w="1251280">
                  <a:extLst>
                    <a:ext uri="{9D8B030D-6E8A-4147-A177-3AD203B41FA5}">
                      <a16:colId xmlns:a16="http://schemas.microsoft.com/office/drawing/2014/main" val="5413756"/>
                    </a:ext>
                  </a:extLst>
                </a:gridCol>
                <a:gridCol w="923359">
                  <a:extLst>
                    <a:ext uri="{9D8B030D-6E8A-4147-A177-3AD203B41FA5}">
                      <a16:colId xmlns:a16="http://schemas.microsoft.com/office/drawing/2014/main" val="1487804995"/>
                    </a:ext>
                  </a:extLst>
                </a:gridCol>
                <a:gridCol w="1052802">
                  <a:extLst>
                    <a:ext uri="{9D8B030D-6E8A-4147-A177-3AD203B41FA5}">
                      <a16:colId xmlns:a16="http://schemas.microsoft.com/office/drawing/2014/main" val="3810263351"/>
                    </a:ext>
                  </a:extLst>
                </a:gridCol>
                <a:gridCol w="1361470">
                  <a:extLst>
                    <a:ext uri="{9D8B030D-6E8A-4147-A177-3AD203B41FA5}">
                      <a16:colId xmlns:a16="http://schemas.microsoft.com/office/drawing/2014/main" val="993465040"/>
                    </a:ext>
                  </a:extLst>
                </a:gridCol>
                <a:gridCol w="1141090">
                  <a:extLst>
                    <a:ext uri="{9D8B030D-6E8A-4147-A177-3AD203B41FA5}">
                      <a16:colId xmlns:a16="http://schemas.microsoft.com/office/drawing/2014/main" val="3135986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Удовл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Посещ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Удовл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Хорошая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Зачет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8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91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309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7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6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050630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F8F43C-D51A-437F-A98A-D87910AD0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422936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37EB2-3893-4A35-8593-265D0EB5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90590"/>
          </a:xfrm>
        </p:spPr>
        <p:txBody>
          <a:bodyPr/>
          <a:lstStyle/>
          <a:p>
            <a:r>
              <a:rPr lang="en-US" dirty="0"/>
              <a:t>30 </a:t>
            </a:r>
            <a:r>
              <a:rPr lang="ru-RU" dirty="0"/>
              <a:t>мин.+50мин.=</a:t>
            </a:r>
            <a:r>
              <a:rPr lang="en-US" dirty="0"/>
              <a:t>&gt;14-25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6EB787E7-BD17-4AEC-A8BB-B3A3D087BD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634690"/>
              </p:ext>
            </p:extLst>
          </p:nvPr>
        </p:nvGraphicFramePr>
        <p:xfrm>
          <a:off x="465513" y="1612669"/>
          <a:ext cx="8049837" cy="3747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964">
                  <a:extLst>
                    <a:ext uri="{9D8B030D-6E8A-4147-A177-3AD203B41FA5}">
                      <a16:colId xmlns:a16="http://schemas.microsoft.com/office/drawing/2014/main" val="3698066463"/>
                    </a:ext>
                  </a:extLst>
                </a:gridCol>
                <a:gridCol w="750475">
                  <a:extLst>
                    <a:ext uri="{9D8B030D-6E8A-4147-A177-3AD203B41FA5}">
                      <a16:colId xmlns:a16="http://schemas.microsoft.com/office/drawing/2014/main" val="2130904926"/>
                    </a:ext>
                  </a:extLst>
                </a:gridCol>
                <a:gridCol w="624080">
                  <a:extLst>
                    <a:ext uri="{9D8B030D-6E8A-4147-A177-3AD203B41FA5}">
                      <a16:colId xmlns:a16="http://schemas.microsoft.com/office/drawing/2014/main" val="3408153952"/>
                    </a:ext>
                  </a:extLst>
                </a:gridCol>
                <a:gridCol w="624080">
                  <a:extLst>
                    <a:ext uri="{9D8B030D-6E8A-4147-A177-3AD203B41FA5}">
                      <a16:colId xmlns:a16="http://schemas.microsoft.com/office/drawing/2014/main" val="4061911502"/>
                    </a:ext>
                  </a:extLst>
                </a:gridCol>
                <a:gridCol w="774174">
                  <a:extLst>
                    <a:ext uri="{9D8B030D-6E8A-4147-A177-3AD203B41FA5}">
                      <a16:colId xmlns:a16="http://schemas.microsoft.com/office/drawing/2014/main" val="583396966"/>
                    </a:ext>
                  </a:extLst>
                </a:gridCol>
                <a:gridCol w="703077">
                  <a:extLst>
                    <a:ext uri="{9D8B030D-6E8A-4147-A177-3AD203B41FA5}">
                      <a16:colId xmlns:a16="http://schemas.microsoft.com/office/drawing/2014/main" val="4118303031"/>
                    </a:ext>
                  </a:extLst>
                </a:gridCol>
                <a:gridCol w="647779">
                  <a:extLst>
                    <a:ext uri="{9D8B030D-6E8A-4147-A177-3AD203B41FA5}">
                      <a16:colId xmlns:a16="http://schemas.microsoft.com/office/drawing/2014/main" val="1898530492"/>
                    </a:ext>
                  </a:extLst>
                </a:gridCol>
                <a:gridCol w="876872">
                  <a:extLst>
                    <a:ext uri="{9D8B030D-6E8A-4147-A177-3AD203B41FA5}">
                      <a16:colId xmlns:a16="http://schemas.microsoft.com/office/drawing/2014/main" val="1266853187"/>
                    </a:ext>
                  </a:extLst>
                </a:gridCol>
                <a:gridCol w="845272">
                  <a:extLst>
                    <a:ext uri="{9D8B030D-6E8A-4147-A177-3AD203B41FA5}">
                      <a16:colId xmlns:a16="http://schemas.microsoft.com/office/drawing/2014/main" val="4195696952"/>
                    </a:ext>
                  </a:extLst>
                </a:gridCol>
                <a:gridCol w="560882">
                  <a:extLst>
                    <a:ext uri="{9D8B030D-6E8A-4147-A177-3AD203B41FA5}">
                      <a16:colId xmlns:a16="http://schemas.microsoft.com/office/drawing/2014/main" val="2310431106"/>
                    </a:ext>
                  </a:extLst>
                </a:gridCol>
                <a:gridCol w="537182">
                  <a:extLst>
                    <a:ext uri="{9D8B030D-6E8A-4147-A177-3AD203B41FA5}">
                      <a16:colId xmlns:a16="http://schemas.microsoft.com/office/drawing/2014/main" val="2163053506"/>
                    </a:ext>
                  </a:extLst>
                </a:gridCol>
              </a:tblGrid>
              <a:tr h="325469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Оценка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3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4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5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Посещ.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Неуд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Удовл.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Хорошая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3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4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5</a:t>
                      </a:r>
                      <a:endParaRPr lang="ru-RU" sz="1100" b="1" i="0" u="none" strike="noStrike">
                        <a:solidFill>
                          <a:srgbClr val="FFFFFF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extLst>
                  <a:ext uri="{0D108BD9-81ED-4DB2-BD59-A6C34878D82A}">
                    <a16:rowId xmlns:a16="http://schemas.microsoft.com/office/drawing/2014/main" val="525157439"/>
                  </a:ext>
                </a:extLst>
              </a:tr>
              <a:tr h="33381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0%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44" marR="4644" marT="4644" marB="0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extLst>
                  <a:ext uri="{0D108BD9-81ED-4DB2-BD59-A6C34878D82A}">
                    <a16:rowId xmlns:a16="http://schemas.microsoft.com/office/drawing/2014/main" val="1927461725"/>
                  </a:ext>
                </a:extLst>
              </a:tr>
              <a:tr h="33381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0,05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20%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0,05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44" marR="4644" marT="4644" marB="0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extLst>
                  <a:ext uri="{0D108BD9-81ED-4DB2-BD59-A6C34878D82A}">
                    <a16:rowId xmlns:a16="http://schemas.microsoft.com/office/drawing/2014/main" val="2452876024"/>
                  </a:ext>
                </a:extLst>
              </a:tr>
              <a:tr h="33381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0,05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50%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0,05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44" marR="4644" marT="4644" marB="0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extLst>
                  <a:ext uri="{0D108BD9-81ED-4DB2-BD59-A6C34878D82A}">
                    <a16:rowId xmlns:a16="http://schemas.microsoft.com/office/drawing/2014/main" val="331740989"/>
                  </a:ext>
                </a:extLst>
              </a:tr>
              <a:tr h="33381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80%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0,8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0,7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44" marR="4644" marT="4644" marB="0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extLst>
                  <a:ext uri="{0D108BD9-81ED-4DB2-BD59-A6C34878D82A}">
                    <a16:rowId xmlns:a16="http://schemas.microsoft.com/office/drawing/2014/main" val="2942099606"/>
                  </a:ext>
                </a:extLst>
              </a:tr>
              <a:tr h="33381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0,05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0,9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100%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0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u="none" strike="noStrike">
                          <a:effectLst/>
                        </a:rPr>
                        <a:t> 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44" marR="4644" marT="4644" marB="0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extLst>
                  <a:ext uri="{0D108BD9-81ED-4DB2-BD59-A6C34878D82A}">
                    <a16:rowId xmlns:a16="http://schemas.microsoft.com/office/drawing/2014/main" val="1984663514"/>
                  </a:ext>
                </a:extLst>
              </a:tr>
              <a:tr h="200289"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extLst>
                  <a:ext uri="{0D108BD9-81ED-4DB2-BD59-A6C34878D82A}">
                    <a16:rowId xmlns:a16="http://schemas.microsoft.com/office/drawing/2014/main" val="1502373933"/>
                  </a:ext>
                </a:extLst>
              </a:tr>
              <a:tr h="200289"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44" marR="4644" marT="4644" marB="0" anchor="b"/>
                </a:tc>
                <a:extLst>
                  <a:ext uri="{0D108BD9-81ED-4DB2-BD59-A6C34878D82A}">
                    <a16:rowId xmlns:a16="http://schemas.microsoft.com/office/drawing/2014/main" val="874716312"/>
                  </a:ext>
                </a:extLst>
              </a:tr>
              <a:tr h="675974">
                <a:tc gridSpan="11"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ЕСЛИ “оценка 4 ИЛИ 5» И «посещаемость удовлетворительная ИЛИ хорошая», ТО результат «Оценка 5» поставить в ведомость</a:t>
                      </a:r>
                      <a:endParaRPr lang="ru-RU" sz="1200" b="0" i="0" u="none" strike="noStrike">
                        <a:solidFill>
                          <a:srgbClr val="40404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409916"/>
                  </a:ext>
                </a:extLst>
              </a:tr>
              <a:tr h="675974">
                <a:tc gridSpan="11"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ЕСЛИ “(оценка 4 ИЛИ 5» И «посещаемость удовлетворительная») ИЛИ оценка 3 И "посещаемость </a:t>
                      </a:r>
                      <a:r>
                        <a:rPr lang="ru-RU" sz="1200" u="none" strike="noStrike" dirty="0" err="1">
                          <a:effectLst/>
                        </a:rPr>
                        <a:t>Удовл</a:t>
                      </a:r>
                      <a:r>
                        <a:rPr lang="ru-RU" sz="1200" u="none" strike="noStrike" dirty="0">
                          <a:effectLst/>
                        </a:rPr>
                        <a:t>. ИЛИ Хорошая" , ТО результат «Оценка 3» поставить в ведомость</a:t>
                      </a:r>
                      <a:endParaRPr lang="ru-RU" sz="1200" b="0" i="0" u="none" strike="noStrike" dirty="0">
                        <a:solidFill>
                          <a:srgbClr val="404040"/>
                        </a:solidFill>
                        <a:effectLst/>
                        <a:latin typeface="Myriad Pro" panose="020B0503030403020204"/>
                      </a:endParaRPr>
                    </a:p>
                  </a:txBody>
                  <a:tcPr marL="4644" marR="4644" marT="4644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704186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DA33D1-8BB1-428A-83C8-5CB6D3E215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879827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02B75-EFC3-48A3-BEB2-3ABCBED59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этапы построенного механизма нечеткого вывода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9F20E0-42B8-487B-A9B6-1A2D34AFD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2530722"/>
          </a:xfrm>
        </p:spPr>
        <p:txBody>
          <a:bodyPr/>
          <a:lstStyle/>
          <a:p>
            <a:r>
              <a:rPr lang="ru-RU" dirty="0"/>
              <a:t>Формирование базы правил систем нечеткого вывода.</a:t>
            </a:r>
          </a:p>
          <a:p>
            <a:r>
              <a:rPr lang="ru-RU" dirty="0" err="1"/>
              <a:t>Фаззификация</a:t>
            </a:r>
            <a:r>
              <a:rPr lang="ru-RU" dirty="0"/>
              <a:t> входных переменных.</a:t>
            </a:r>
          </a:p>
          <a:p>
            <a:r>
              <a:rPr lang="ru-RU" dirty="0"/>
              <a:t>Агрегирование </a:t>
            </a:r>
            <a:r>
              <a:rPr lang="ru-RU" dirty="0" err="1"/>
              <a:t>подусловий</a:t>
            </a:r>
            <a:r>
              <a:rPr lang="ru-RU" dirty="0"/>
              <a:t> в нечетких правилах продукций.</a:t>
            </a:r>
          </a:p>
          <a:p>
            <a:r>
              <a:rPr lang="ru-RU" dirty="0"/>
              <a:t>Активизация или композиция </a:t>
            </a:r>
            <a:r>
              <a:rPr lang="ru-RU" dirty="0" err="1"/>
              <a:t>подзаключений</a:t>
            </a:r>
            <a:r>
              <a:rPr lang="ru-RU" dirty="0"/>
              <a:t> в нечетких правилах продукций.</a:t>
            </a:r>
          </a:p>
          <a:p>
            <a:r>
              <a:rPr lang="ru-RU" dirty="0"/>
              <a:t>Аккумулирование заключений нечетких правил продукций.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0EC187-3AE7-4219-A7D3-E94333066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982294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7CF6D36-8FD4-4C48-B5A1-5162E165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199"/>
            <a:ext cx="2949178" cy="2645229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этапы построенного механизма нечеткого вывода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721DD3-F4A6-4729-9F4B-402B64DB0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670" y="418398"/>
            <a:ext cx="3265873" cy="5937953"/>
          </a:xfrm>
          <a:prstGeom prst="rect">
            <a:avLst/>
          </a:prstGeom>
          <a:noFill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59198E-4A60-4C1C-B9D2-5946C67E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62765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01BF9-92C3-4664-A7F7-531AFF40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83" y="136524"/>
            <a:ext cx="7787538" cy="726621"/>
          </a:xfrm>
        </p:spPr>
        <p:txBody>
          <a:bodyPr>
            <a:normAutofit/>
          </a:bodyPr>
          <a:lstStyle/>
          <a:p>
            <a:r>
              <a:rPr lang="ru-RU" dirty="0"/>
              <a:t>Формирование базы правил.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1E1D72-FE01-472B-9765-60FDD3E76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73" y="969768"/>
            <a:ext cx="8051177" cy="4791531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База правил систем нечеткого вывода предназначена для формального представления эмпирических знаний или знаний экспертов в той или иной проблемной области. В системах нечеткого вывода используются правила нечетких продукций, в которых условия и заключения сформулированы в терминах нечетких лингвистических высказываний рассмотренных выше видов. </a:t>
            </a:r>
          </a:p>
          <a:p>
            <a:r>
              <a:rPr lang="ru-RU" dirty="0"/>
              <a:t>Совокупность таких правил будем далее называть базами правил нечетких продукций. База правил нечетких продукций. </a:t>
            </a:r>
          </a:p>
          <a:p>
            <a:r>
              <a:rPr lang="ru-RU" dirty="0"/>
              <a:t>База правил нечетких продукций представляет собой конечное множество правил нечетких продукций, согласованных относительно используемых в них лингвистических переменных. Наиболее часто база правил представляется в форме структурированного текста: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ПРАВИЛО.1: ЕСЛИ "Условие_1" ТО "Заключение_1" (F1)</a:t>
            </a:r>
          </a:p>
          <a:p>
            <a:r>
              <a:rPr lang="ru-RU" dirty="0"/>
              <a:t>ПРАВИЛО_2: ЕСЛИ "Условие_2" ТО "Заключение_2" (F2) …</a:t>
            </a:r>
          </a:p>
          <a:p>
            <a:r>
              <a:rPr lang="ru-RU" dirty="0" err="1"/>
              <a:t>ПРАВИЛО_n</a:t>
            </a:r>
            <a:r>
              <a:rPr lang="ru-RU" dirty="0"/>
              <a:t>: ЕСЛИ "</a:t>
            </a:r>
            <a:r>
              <a:rPr lang="ru-RU" dirty="0" err="1"/>
              <a:t>Условие_n</a:t>
            </a:r>
            <a:r>
              <a:rPr lang="ru-RU" dirty="0"/>
              <a:t>" ТО "</a:t>
            </a:r>
            <a:r>
              <a:rPr lang="ru-RU" dirty="0" err="1"/>
              <a:t>Заключение_n</a:t>
            </a:r>
            <a:r>
              <a:rPr lang="ru-RU" dirty="0"/>
              <a:t>" (F)</a:t>
            </a:r>
          </a:p>
          <a:p>
            <a:endParaRPr lang="ru-RU" dirty="0"/>
          </a:p>
          <a:p>
            <a:r>
              <a:rPr lang="ru-RU" dirty="0"/>
              <a:t>Здесь через </a:t>
            </a:r>
            <a:r>
              <a:rPr lang="ru-RU" dirty="0" err="1"/>
              <a:t>Fi</a:t>
            </a:r>
            <a:r>
              <a:rPr lang="ru-RU" dirty="0"/>
              <a:t>(i∈1,2,....n) 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обозначены коэффициенты определенности или весовые коэффициенты соответствующих правил. Эти коэффициенты могут принимать значения из интервала [0, 1].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1A49A3-44E3-49AF-B7B5-BCC3120F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65837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7F9D6-685D-4E69-9F37-4EB9E6781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ru-RU" dirty="0"/>
              <a:t>Простой пример</a:t>
            </a:r>
          </a:p>
        </p:txBody>
      </p:sp>
      <p:pic>
        <p:nvPicPr>
          <p:cNvPr id="7" name="Рисунок 6" descr="Изображение выглядит как здание, зеркало, женщина, велосипед&#10;&#10;Автоматически созданное описание">
            <a:extLst>
              <a:ext uri="{FF2B5EF4-FFF2-40B4-BE49-F238E27FC236}">
                <a16:creationId xmlns:a16="http://schemas.microsoft.com/office/drawing/2014/main" id="{51EF2733-D98D-42B4-9965-BD12719CF1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7755" r="7544" b="2"/>
          <a:stretch/>
        </p:blipFill>
        <p:spPr>
          <a:xfrm>
            <a:off x="628650" y="1621518"/>
            <a:ext cx="3886200" cy="4351338"/>
          </a:xfrm>
          <a:prstGeom prst="rect">
            <a:avLst/>
          </a:prstGeom>
          <a:noFill/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E68D6949-BC48-4176-8FF3-4EA79ED86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 sz="1400" dirty="0"/>
              <a:t>http://nrsu.bstu.ru/chap27.html#:~:text=%D0%A4%D0%B0%D0%B7%D0%B7%D0%B8%D1%84%D0%B8%D0%BA%D0%B0%D1%86%D0%B8%D1%8F%20(%D0%B2%D0%B2%D0%B5%D0%B4%D0%B5%D0%BD%D0%B8%D0%B5%20%D0%BD%D0%B5%D1%87%D0%B5%D1%82%D0%BA%D0%BE%D1%81%D1%82%D0%B8)%20%E2%80%93%20%D1%8D%D1%82%D0%BE,%D1%81%D0%BE%D0%BE%D1%82%D0%B2%D0%B5%D1%82%D1%81%D1%82%D0%B2%D1%83%D1%8E%D1%89%D0%B5%D0%B3%D0%BE%20%D0%B5%D0%B9%20%D1%82%D0%B5%D1%80%D0%BC%D0%B0%20%D0%BB%D0%B8%D0%BD%D0%B3%D0%B2%D0%B8%D1%81%D1%82%D0%B8%D1%87%D0%B5%D1%81%D0%BA%D0%BE%D0%B9%20%D0%BF%D0%B5%D1%80%D0%B5%D0%BC%D0%B5%D0%BD%D0%BD%D0%BE%D0%B9</a:t>
            </a:r>
            <a:r>
              <a:rPr lang="ru-RU" sz="1400" dirty="0"/>
              <a:t>  </a:t>
            </a:r>
            <a:r>
              <a:rPr lang="en-US" sz="1400" dirty="0"/>
              <a:t>.</a:t>
            </a:r>
            <a:r>
              <a:rPr lang="ru-RU" sz="1400" dirty="0"/>
              <a:t> </a:t>
            </a:r>
          </a:p>
          <a:p>
            <a:endParaRPr lang="ru-RU" sz="1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B0FE25-0AEB-4AB8-AF1A-13E17AAC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66054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01BF9-92C3-4664-A7F7-531AFF40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83" y="270327"/>
            <a:ext cx="7787538" cy="726621"/>
          </a:xfrm>
        </p:spPr>
        <p:txBody>
          <a:bodyPr>
            <a:normAutofit/>
          </a:bodyPr>
          <a:lstStyle/>
          <a:p>
            <a:r>
              <a:rPr lang="ru-RU" dirty="0"/>
              <a:t>Формирование базы правил.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1E1D72-FE01-472B-9765-60FDD3E76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64" y="1338944"/>
            <a:ext cx="8051177" cy="452210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при задании или формировании базы правил нечетких продукций необходимо определить: </a:t>
            </a:r>
          </a:p>
          <a:p>
            <a:pPr lvl="1"/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множество правил нечетких продукций:</a:t>
            </a:r>
          </a:p>
          <a:p>
            <a:pPr lvl="1"/>
            <a:endParaRPr lang="ru-RU" dirty="0">
              <a:solidFill>
                <a:srgbClr val="252525"/>
              </a:solidFill>
              <a:latin typeface="open sans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252525"/>
              </a:solidFill>
              <a:effectLst/>
              <a:latin typeface="open sans"/>
            </a:endParaRPr>
          </a:p>
          <a:p>
            <a:pPr lvl="1"/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множество входных лингвистических переменных:</a:t>
            </a:r>
            <a:br>
              <a:rPr lang="ru-RU" b="0" i="0" dirty="0">
                <a:solidFill>
                  <a:srgbClr val="252525"/>
                </a:solidFill>
                <a:effectLst/>
                <a:latin typeface="open sans"/>
              </a:rPr>
            </a:br>
            <a:endParaRPr lang="ru-RU" b="0" i="0" dirty="0">
              <a:solidFill>
                <a:srgbClr val="252525"/>
              </a:solidFill>
              <a:effectLst/>
              <a:latin typeface="open sans"/>
            </a:endParaRPr>
          </a:p>
          <a:p>
            <a:pPr lvl="1"/>
            <a:endParaRPr lang="ru-RU" dirty="0">
              <a:solidFill>
                <a:srgbClr val="252525"/>
              </a:solidFill>
              <a:latin typeface="open sans"/>
            </a:endParaRPr>
          </a:p>
          <a:p>
            <a:pPr marL="457200" lvl="1" indent="0">
              <a:buNone/>
            </a:pP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	</a:t>
            </a:r>
          </a:p>
          <a:p>
            <a:pPr lvl="1"/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и множество выходных лингвистических переменных: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1A49A3-44E3-49AF-B7B5-BCC3120F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124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E49106-9498-48EC-871D-E39A7DAAF5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967" t="45405" r="26468" b="51641"/>
          <a:stretch/>
        </p:blipFill>
        <p:spPr>
          <a:xfrm>
            <a:off x="1771650" y="2522764"/>
            <a:ext cx="2222022" cy="4310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50046B-92D5-41AC-B2B6-4CC7D8864E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92" t="50000" r="84107"/>
          <a:stretch/>
        </p:blipFill>
        <p:spPr>
          <a:xfrm>
            <a:off x="1714500" y="3582488"/>
            <a:ext cx="2291125" cy="55517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8D31C84-DCFF-48A3-B212-196BD37242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786" t="50000" r="47589" b="13926"/>
          <a:stretch/>
        </p:blipFill>
        <p:spPr>
          <a:xfrm>
            <a:off x="1714500" y="5043895"/>
            <a:ext cx="3007679" cy="4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3042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5741"/>
            <a:ext cx="7886700" cy="67256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ru-RU" dirty="0" err="1"/>
              <a:t>Фаззификация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125</a:t>
            </a:fld>
            <a:endParaRPr lang="ru-RU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2F5F437-CE5E-4064-A408-07EB0F793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3533981"/>
              </p:ext>
            </p:extLst>
          </p:nvPr>
        </p:nvGraphicFramePr>
        <p:xfrm>
          <a:off x="1" y="1037692"/>
          <a:ext cx="8928242" cy="5139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425708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89" y="93434"/>
            <a:ext cx="8291244" cy="798424"/>
          </a:xfrm>
        </p:spPr>
        <p:txBody>
          <a:bodyPr>
            <a:normAutofit/>
          </a:bodyPr>
          <a:lstStyle/>
          <a:p>
            <a:r>
              <a:rPr lang="ru-RU" dirty="0" err="1"/>
              <a:t>Фаззификация</a:t>
            </a:r>
            <a:r>
              <a:rPr lang="ru-RU" dirty="0"/>
              <a:t> (2)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126</a:t>
            </a:fld>
            <a:endParaRPr lang="ru-R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5D05E-A634-4B0D-A46D-1E7C1A4A484A}"/>
              </a:ext>
            </a:extLst>
          </p:cNvPr>
          <p:cNvSpPr txBox="1">
            <a:spLocks/>
          </p:cNvSpPr>
          <p:nvPr/>
        </p:nvSpPr>
        <p:spPr>
          <a:xfrm>
            <a:off x="578402" y="1017141"/>
            <a:ext cx="8139219" cy="5065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37C0E-18CB-4BD4-BE62-E5FD197740E1}"/>
              </a:ext>
            </a:extLst>
          </p:cNvPr>
          <p:cNvSpPr txBox="1"/>
          <p:nvPr/>
        </p:nvSpPr>
        <p:spPr>
          <a:xfrm>
            <a:off x="209737" y="804961"/>
            <a:ext cx="85078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В контексте нечеткой логики под </a:t>
            </a:r>
            <a:r>
              <a:rPr lang="ru-RU" b="1" i="0" dirty="0" err="1">
                <a:solidFill>
                  <a:srgbClr val="252525"/>
                </a:solidFill>
                <a:effectLst/>
                <a:latin typeface="open sans"/>
              </a:rPr>
              <a:t>фаззификацией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 понимается не только отдельный этап выполнения нечеткого вывода, но и собственно процесс или процедура нахождения значений функций принадлежности нечетких множеств (термов) на основе обычных (не нечетких) исходных данных . </a:t>
            </a:r>
            <a:r>
              <a:rPr lang="ru-RU" b="0" i="0" dirty="0" err="1">
                <a:solidFill>
                  <a:srgbClr val="252525"/>
                </a:solidFill>
                <a:effectLst/>
                <a:latin typeface="open sans"/>
              </a:rPr>
              <a:t>Фаззификацию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 еще называют введением нечеткости. </a:t>
            </a:r>
          </a:p>
          <a:p>
            <a:endParaRPr lang="ru-RU" dirty="0">
              <a:solidFill>
                <a:srgbClr val="252525"/>
              </a:solidFill>
              <a:latin typeface="open sans"/>
            </a:endParaRPr>
          </a:p>
          <a:p>
            <a:r>
              <a:rPr lang="ru-RU" b="1" i="0" dirty="0">
                <a:solidFill>
                  <a:srgbClr val="252525"/>
                </a:solidFill>
                <a:effectLst/>
                <a:latin typeface="open sans"/>
              </a:rPr>
              <a:t>Целью 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этапа </a:t>
            </a:r>
            <a:r>
              <a:rPr lang="ru-RU" b="0" i="0" dirty="0" err="1">
                <a:solidFill>
                  <a:srgbClr val="252525"/>
                </a:solidFill>
                <a:effectLst/>
                <a:latin typeface="open sans"/>
              </a:rPr>
              <a:t>фаззификации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 является установление соответствия между конкретным (численным) значением отдельной входной переменной системы нечеткого вывода и значением функции принадлежности соответствующего ей терма входной лингвистической переменной. </a:t>
            </a:r>
          </a:p>
          <a:p>
            <a:endParaRPr lang="ru-RU" dirty="0">
              <a:solidFill>
                <a:srgbClr val="252525"/>
              </a:solidFill>
              <a:latin typeface="open sans"/>
            </a:endParaRPr>
          </a:p>
          <a:p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После </a:t>
            </a:r>
            <a:r>
              <a:rPr lang="ru-RU" b="1" i="0" dirty="0">
                <a:solidFill>
                  <a:srgbClr val="252525"/>
                </a:solidFill>
                <a:effectLst/>
                <a:latin typeface="open sans"/>
              </a:rPr>
              <a:t>завершения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 этого этапа для всех входных переменных должны быть определены конкретные значения функций принадлежности по каждому из лингвистических термов, которые используются в </a:t>
            </a:r>
            <a:r>
              <a:rPr lang="ru-RU" b="0" i="0" dirty="0" err="1">
                <a:solidFill>
                  <a:srgbClr val="252525"/>
                </a:solidFill>
                <a:effectLst/>
                <a:latin typeface="open sans"/>
              </a:rPr>
              <a:t>подусловиях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 базы правил системы нечеткого вывода. </a:t>
            </a:r>
          </a:p>
          <a:p>
            <a:endParaRPr lang="ru-RU" b="0" i="0" dirty="0">
              <a:solidFill>
                <a:srgbClr val="252525"/>
              </a:solidFill>
              <a:effectLst/>
              <a:latin typeface="open sans"/>
            </a:endParaRPr>
          </a:p>
          <a:p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Этап </a:t>
            </a:r>
            <a:r>
              <a:rPr lang="ru-RU" b="0" i="0" dirty="0" err="1">
                <a:solidFill>
                  <a:srgbClr val="252525"/>
                </a:solidFill>
                <a:effectLst/>
                <a:latin typeface="open sans"/>
              </a:rPr>
              <a:t>фаззификации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 считается </a:t>
            </a:r>
            <a:r>
              <a:rPr lang="ru-RU" b="1" i="0" dirty="0">
                <a:solidFill>
                  <a:srgbClr val="252525"/>
                </a:solidFill>
                <a:effectLst/>
                <a:latin typeface="open sans"/>
              </a:rPr>
              <a:t>законченным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, когда будут найдены все значения для каждого из </a:t>
            </a:r>
            <a:r>
              <a:rPr lang="ru-RU" b="0" i="0" dirty="0" err="1">
                <a:solidFill>
                  <a:srgbClr val="252525"/>
                </a:solidFill>
                <a:effectLst/>
                <a:latin typeface="open sans"/>
              </a:rPr>
              <a:t>подусловий</a:t>
            </a:r>
            <a:r>
              <a:rPr lang="ru-RU" b="0" i="0" dirty="0">
                <a:solidFill>
                  <a:srgbClr val="252525"/>
                </a:solidFill>
                <a:effectLst/>
                <a:latin typeface="open sans"/>
              </a:rPr>
              <a:t> всех правил, входящих в рассматриваемую базу правил системы нечеткого вывода.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960642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90" y="208443"/>
            <a:ext cx="8291244" cy="798424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127</a:t>
            </a:fld>
            <a:endParaRPr lang="ru-R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D66A0A-E7D8-4494-BB7D-6126F941083C}"/>
              </a:ext>
            </a:extLst>
          </p:cNvPr>
          <p:cNvCxnSpPr/>
          <p:nvPr/>
        </p:nvCxnSpPr>
        <p:spPr>
          <a:xfrm flipV="1">
            <a:off x="1191802" y="1068513"/>
            <a:ext cx="0" cy="2383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77ABEF-36A3-4148-8CB7-20938951154E}"/>
              </a:ext>
            </a:extLst>
          </p:cNvPr>
          <p:cNvCxnSpPr>
            <a:cxnSpLocks/>
          </p:cNvCxnSpPr>
          <p:nvPr/>
        </p:nvCxnSpPr>
        <p:spPr>
          <a:xfrm>
            <a:off x="1191802" y="3452117"/>
            <a:ext cx="6082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CA35D4-BA14-4497-BC53-9E187271E479}"/>
              </a:ext>
            </a:extLst>
          </p:cNvPr>
          <p:cNvSpPr txBox="1"/>
          <p:nvPr/>
        </p:nvSpPr>
        <p:spPr>
          <a:xfrm>
            <a:off x="1345915" y="3549990"/>
            <a:ext cx="592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</a:t>
            </a:r>
            <a:r>
              <a:rPr lang="ru-RU" dirty="0"/>
              <a:t>1    </a:t>
            </a:r>
            <a:r>
              <a:rPr lang="en-US" dirty="0"/>
              <a:t>0.</a:t>
            </a:r>
            <a:r>
              <a:rPr lang="ru-RU" dirty="0"/>
              <a:t>2    </a:t>
            </a:r>
            <a:r>
              <a:rPr lang="en-US" dirty="0"/>
              <a:t>0.</a:t>
            </a:r>
            <a:r>
              <a:rPr lang="ru-RU" dirty="0"/>
              <a:t>3    </a:t>
            </a:r>
            <a:r>
              <a:rPr lang="en-US" dirty="0"/>
              <a:t>0.</a:t>
            </a:r>
            <a:r>
              <a:rPr lang="ru-RU" dirty="0"/>
              <a:t>4    </a:t>
            </a:r>
            <a:r>
              <a:rPr lang="en-US" dirty="0"/>
              <a:t> 0.</a:t>
            </a:r>
            <a:r>
              <a:rPr lang="ru-RU" dirty="0"/>
              <a:t>5</a:t>
            </a:r>
            <a:r>
              <a:rPr lang="en-US" dirty="0"/>
              <a:t>     0.6     0.7     0.8     0.9     1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43269D-98AE-4C3A-B8A9-9C7C00DBA35A}"/>
              </a:ext>
            </a:extLst>
          </p:cNvPr>
          <p:cNvCxnSpPr/>
          <p:nvPr/>
        </p:nvCxnSpPr>
        <p:spPr>
          <a:xfrm flipV="1">
            <a:off x="3801439" y="1068513"/>
            <a:ext cx="842480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8AF301-068A-46C9-B613-C95E116E4313}"/>
              </a:ext>
            </a:extLst>
          </p:cNvPr>
          <p:cNvCxnSpPr>
            <a:cxnSpLocks/>
          </p:cNvCxnSpPr>
          <p:nvPr/>
        </p:nvCxnSpPr>
        <p:spPr>
          <a:xfrm flipH="1" flipV="1">
            <a:off x="4643919" y="1068513"/>
            <a:ext cx="976045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AFA062-FF60-48FD-A861-F44DC05F4784}"/>
              </a:ext>
            </a:extLst>
          </p:cNvPr>
          <p:cNvCxnSpPr/>
          <p:nvPr/>
        </p:nvCxnSpPr>
        <p:spPr>
          <a:xfrm flipV="1">
            <a:off x="4981255" y="1068512"/>
            <a:ext cx="842480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B28EAF-3D09-4DAF-9946-12B34DF74253}"/>
              </a:ext>
            </a:extLst>
          </p:cNvPr>
          <p:cNvCxnSpPr>
            <a:cxnSpLocks/>
          </p:cNvCxnSpPr>
          <p:nvPr/>
        </p:nvCxnSpPr>
        <p:spPr>
          <a:xfrm flipH="1">
            <a:off x="5804043" y="1068512"/>
            <a:ext cx="82278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448A6D-6E4C-4DF9-B5E4-847900C58A8D}"/>
              </a:ext>
            </a:extLst>
          </p:cNvPr>
          <p:cNvCxnSpPr>
            <a:cxnSpLocks/>
          </p:cNvCxnSpPr>
          <p:nvPr/>
        </p:nvCxnSpPr>
        <p:spPr>
          <a:xfrm flipV="1">
            <a:off x="3877639" y="3082248"/>
            <a:ext cx="1412694" cy="36986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B8CD67-0023-4143-8E5F-B5F7EB9D68F8}"/>
              </a:ext>
            </a:extLst>
          </p:cNvPr>
          <p:cNvCxnSpPr>
            <a:cxnSpLocks/>
          </p:cNvCxnSpPr>
          <p:nvPr/>
        </p:nvCxnSpPr>
        <p:spPr>
          <a:xfrm flipV="1">
            <a:off x="5277587" y="2900664"/>
            <a:ext cx="12746" cy="20213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C0F70D-B76F-4B82-9E27-43294992A99D}"/>
              </a:ext>
            </a:extLst>
          </p:cNvPr>
          <p:cNvCxnSpPr>
            <a:cxnSpLocks/>
          </p:cNvCxnSpPr>
          <p:nvPr/>
        </p:nvCxnSpPr>
        <p:spPr>
          <a:xfrm flipV="1">
            <a:off x="5290333" y="996400"/>
            <a:ext cx="1298392" cy="183999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9418E4-87A2-4851-B21D-BC9A0C17D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69" y="4274051"/>
            <a:ext cx="7886700" cy="1743252"/>
          </a:xfrm>
        </p:spPr>
        <p:txBody>
          <a:bodyPr/>
          <a:lstStyle/>
          <a:p>
            <a:r>
              <a:rPr lang="ru-RU" dirty="0"/>
              <a:t>Красная кривая показывает результат </a:t>
            </a:r>
            <a:r>
              <a:rPr lang="ru-RU" dirty="0" err="1"/>
              <a:t>фаззификации</a:t>
            </a:r>
            <a:r>
              <a:rPr lang="ru-RU" dirty="0"/>
              <a:t> процедуры определения для двух различных нечетких множеств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82288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Агрегирование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5D05E-A634-4B0D-A46D-1E7C1A4A484A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3886200" cy="2060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Агрегирование</a:t>
            </a:r>
            <a:r>
              <a:rPr lang="ru-RU" dirty="0"/>
              <a:t> </a:t>
            </a:r>
            <a:r>
              <a:rPr lang="ru-RU" b="0" i="0" dirty="0">
                <a:effectLst/>
              </a:rPr>
              <a:t>представляет собой процедуру определения степени истинности условий по каждому из правил системы нечеткого вывода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128</a:t>
            </a:fld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53DCB53-8CC4-4CF4-B4E7-32252AC51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437577"/>
              </p:ext>
            </p:extLst>
          </p:nvPr>
        </p:nvGraphicFramePr>
        <p:xfrm>
          <a:off x="5159420" y="1400806"/>
          <a:ext cx="2988945" cy="381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110">
                  <a:extLst>
                    <a:ext uri="{9D8B030D-6E8A-4147-A177-3AD203B41FA5}">
                      <a16:colId xmlns:a16="http://schemas.microsoft.com/office/drawing/2014/main" val="1107541620"/>
                    </a:ext>
                  </a:extLst>
                </a:gridCol>
                <a:gridCol w="1727835">
                  <a:extLst>
                    <a:ext uri="{9D8B030D-6E8A-4147-A177-3AD203B41FA5}">
                      <a16:colId xmlns:a16="http://schemas.microsoft.com/office/drawing/2014/main" val="2174271356"/>
                    </a:ext>
                  </a:extLst>
                </a:gridCol>
              </a:tblGrid>
              <a:tr h="635508">
                <a:tc>
                  <a:txBody>
                    <a:bodyPr/>
                    <a:lstStyle/>
                    <a:p>
                      <a:pPr algn="l" fontAlgn="b"/>
                      <a:r>
                        <a:rPr lang="ru-RU" sz="3300" u="none" strike="noStrike">
                          <a:effectLst/>
                        </a:rPr>
                        <a:t>Рост</a:t>
                      </a:r>
                      <a:endParaRPr lang="ru-RU" sz="3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3300" u="none" strike="noStrike" dirty="0">
                          <a:effectLst/>
                        </a:rPr>
                        <a:t>Низкий</a:t>
                      </a:r>
                      <a:endParaRPr lang="ru-RU" sz="3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476307542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160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1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514096179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165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0,8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604578197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170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0,6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1315965647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175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0,4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672042758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>
                          <a:effectLst/>
                        </a:rPr>
                        <a:t>180</a:t>
                      </a:r>
                      <a:endParaRPr lang="ru-RU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3300" u="none" strike="noStrike" dirty="0">
                          <a:effectLst/>
                        </a:rPr>
                        <a:t>0,2</a:t>
                      </a:r>
                      <a:endParaRPr lang="ru-RU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940933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2200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Активизация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129</a:t>
            </a:fld>
            <a:endParaRPr lang="ru-RU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8DEDAC5-0EE5-46EF-BC5B-965BA00B8B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8438421"/>
              </p:ext>
            </p:extLst>
          </p:nvPr>
        </p:nvGraphicFramePr>
        <p:xfrm>
          <a:off x="628650" y="1510600"/>
          <a:ext cx="7886700" cy="3719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358230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90" y="208443"/>
            <a:ext cx="8291244" cy="798424"/>
          </a:xfrm>
        </p:spPr>
        <p:txBody>
          <a:bodyPr>
            <a:normAutofit/>
          </a:bodyPr>
          <a:lstStyle/>
          <a:p>
            <a:r>
              <a:rPr lang="ru-RU" dirty="0"/>
              <a:t>Аккумулирование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130</a:t>
            </a:fld>
            <a:endParaRPr lang="ru-R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5D05E-A634-4B0D-A46D-1E7C1A4A484A}"/>
              </a:ext>
            </a:extLst>
          </p:cNvPr>
          <p:cNvSpPr txBox="1">
            <a:spLocks/>
          </p:cNvSpPr>
          <p:nvPr/>
        </p:nvSpPr>
        <p:spPr>
          <a:xfrm>
            <a:off x="502390" y="1485900"/>
            <a:ext cx="8139219" cy="3747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Аккумуляция </a:t>
            </a:r>
            <a:r>
              <a:rPr lang="ru-RU" dirty="0"/>
              <a:t>(или аккумулирование) в системах нечеткого вывода – это процесс нахождения функции принадлежности для каждой из выходных лингвистических переменных. </a:t>
            </a:r>
            <a:endParaRPr lang="en-US" dirty="0"/>
          </a:p>
          <a:p>
            <a:pPr lvl="1"/>
            <a:r>
              <a:rPr lang="ru-RU" dirty="0"/>
              <a:t>Цель аккумуляции состоит в объединении всех степеней истинности </a:t>
            </a:r>
            <a:r>
              <a:rPr lang="ru-RU" dirty="0" err="1"/>
              <a:t>подзаключений</a:t>
            </a:r>
            <a:r>
              <a:rPr lang="ru-RU" dirty="0"/>
              <a:t> для получения функции принадлежности каждой из выходных переменных. </a:t>
            </a:r>
            <a:endParaRPr lang="en-US" dirty="0"/>
          </a:p>
          <a:p>
            <a:pPr lvl="1"/>
            <a:r>
              <a:rPr lang="ru-RU" dirty="0"/>
              <a:t>Результат аккумуляции для каждой выходной лингвистической переменной определяется как объединение нечетких множеств всех </a:t>
            </a:r>
            <a:r>
              <a:rPr lang="ru-RU" dirty="0" err="1"/>
              <a:t>подзаключений</a:t>
            </a:r>
            <a:r>
              <a:rPr lang="ru-RU" dirty="0"/>
              <a:t> нечеткой базы правил относительно соответствующей лингвистической переменной. </a:t>
            </a:r>
            <a:endParaRPr lang="en-US" dirty="0"/>
          </a:p>
          <a:p>
            <a:pPr lvl="1"/>
            <a:r>
              <a:rPr lang="ru-RU" dirty="0"/>
              <a:t>Объединение функций принадлежности всех </a:t>
            </a:r>
            <a:r>
              <a:rPr lang="ru-RU" dirty="0" err="1"/>
              <a:t>подзаключений</a:t>
            </a:r>
            <a:r>
              <a:rPr lang="ru-RU" dirty="0"/>
              <a:t> проводится как правило классически ∀</a:t>
            </a:r>
            <a:r>
              <a:rPr lang="ru-RU" dirty="0" err="1"/>
              <a:t>x∈X</a:t>
            </a:r>
            <a:r>
              <a:rPr lang="ru-RU" dirty="0"/>
              <a:t>  μ A∪B ( x )=</a:t>
            </a:r>
            <a:r>
              <a:rPr lang="ru-RU" dirty="0" err="1"/>
              <a:t>max</a:t>
            </a:r>
            <a:r>
              <a:rPr lang="ru-RU" dirty="0"/>
              <a:t>{ μ A ( x ); μ B ( x ) }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8775414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90" y="208443"/>
            <a:ext cx="8291244" cy="798424"/>
          </a:xfrm>
        </p:spPr>
        <p:txBody>
          <a:bodyPr>
            <a:normAutofit/>
          </a:bodyPr>
          <a:lstStyle/>
          <a:p>
            <a:r>
              <a:rPr lang="ru-RU" dirty="0" err="1"/>
              <a:t>Дефаззификация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131</a:t>
            </a:fld>
            <a:endParaRPr lang="ru-R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25D05E-A634-4B0D-A46D-1E7C1A4A484A}"/>
              </a:ext>
            </a:extLst>
          </p:cNvPr>
          <p:cNvSpPr txBox="1">
            <a:spLocks/>
          </p:cNvSpPr>
          <p:nvPr/>
        </p:nvSpPr>
        <p:spPr>
          <a:xfrm>
            <a:off x="502390" y="1453242"/>
            <a:ext cx="8139219" cy="2865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</a:rPr>
              <a:t>Дефаззификация</a:t>
            </a:r>
            <a:r>
              <a:rPr lang="ru-RU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</a:rPr>
              <a:t> в системах нечеткого вывода – это процесс перехода от функции принадлежности выходной лингвистической переменной к её четкому (числовому) значению. </a:t>
            </a:r>
          </a:p>
          <a:p>
            <a:r>
              <a:rPr lang="ru-RU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</a:rPr>
              <a:t>Цель</a:t>
            </a:r>
            <a:r>
              <a:rPr lang="ru-RU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</a:rPr>
              <a:t>дефаззификации</a:t>
            </a:r>
            <a:r>
              <a:rPr lang="ru-RU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</a:rPr>
              <a:t> состоит в том, чтобы, используя результаты аккумуляции всех выходных лингвистических переменных, получить количественные значения для каждой выходной переменной, которое используется внешними по отношению к системе нечеткого вывода устройствами (исполнительными механизмами интеллектуальной САУ)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3433689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8B515-9CC3-4483-9A3C-48BB778E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620486"/>
          </a:xfrm>
        </p:spPr>
        <p:txBody>
          <a:bodyPr anchor="b">
            <a:normAutofit fontScale="90000"/>
          </a:bodyPr>
          <a:lstStyle/>
          <a:p>
            <a:r>
              <a:rPr lang="ru-RU" sz="2500" dirty="0"/>
              <a:t>Правила </a:t>
            </a:r>
            <a:r>
              <a:rPr lang="ru-RU" sz="2500" dirty="0" err="1"/>
              <a:t>дефаззификации</a:t>
            </a:r>
            <a:endParaRPr lang="ru-RU" sz="25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E9F210-4C5D-439E-A159-1D6A28ED2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081" y="1426935"/>
            <a:ext cx="4004129" cy="4004129"/>
          </a:xfrm>
          <a:prstGeom prst="rect">
            <a:avLst/>
          </a:prstGeom>
          <a:noFill/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4E96CA8-4E12-47EC-AA95-77F5AC969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7779" y="2057401"/>
            <a:ext cx="4539341" cy="2000249"/>
          </a:xfrm>
        </p:spPr>
        <p:txBody>
          <a:bodyPr>
            <a:normAutofit/>
          </a:bodyPr>
          <a:lstStyle/>
          <a:p>
            <a:r>
              <a:rPr lang="ru-RU" dirty="0"/>
              <a:t>метод левого модального значения y= x </a:t>
            </a:r>
            <a:r>
              <a:rPr lang="ru-RU" dirty="0" err="1"/>
              <a:t>min</a:t>
            </a:r>
            <a:r>
              <a:rPr lang="ru-RU" dirty="0"/>
              <a:t> ;</a:t>
            </a:r>
          </a:p>
          <a:p>
            <a:r>
              <a:rPr lang="ru-RU" dirty="0"/>
              <a:t>метод правого модального значения y= x </a:t>
            </a:r>
            <a:r>
              <a:rPr lang="ru-RU" dirty="0" err="1"/>
              <a:t>max</a:t>
            </a:r>
            <a:endParaRPr lang="ru-RU" dirty="0"/>
          </a:p>
          <a:p>
            <a:r>
              <a:rPr lang="ru-RU" dirty="0"/>
              <a:t>метод центра площади заключается в расчете абсциссы y, делящей площадь, ограниченную кривой функции принадлежности μ (x) , так называемой биссектрисы площади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E61C45-9D9D-45FE-B53E-241590A0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30616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90" y="208443"/>
            <a:ext cx="8291244" cy="798424"/>
          </a:xfrm>
        </p:spPr>
        <p:txBody>
          <a:bodyPr>
            <a:normAutofit/>
          </a:bodyPr>
          <a:lstStyle/>
          <a:p>
            <a:r>
              <a:rPr lang="ru-RU" dirty="0"/>
              <a:t>Применение нормализации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390" y="1232899"/>
            <a:ext cx="8139219" cy="1797977"/>
          </a:xfrm>
        </p:spPr>
        <p:txBody>
          <a:bodyPr>
            <a:normAutofit/>
          </a:bodyPr>
          <a:lstStyle/>
          <a:p>
            <a:r>
              <a:rPr lang="ru-RU" b="1" dirty="0"/>
              <a:t>Нормализация:</a:t>
            </a:r>
            <a:r>
              <a:rPr lang="ru-RU" dirty="0"/>
              <a:t> приведение разномасштабных величин к единой шкале. Например, к интервалу </a:t>
            </a:r>
            <a:r>
              <a:rPr lang="en-US" dirty="0"/>
              <a:t>[0;1] </a:t>
            </a:r>
            <a:r>
              <a:rPr lang="ru-RU" dirty="0"/>
              <a:t>или </a:t>
            </a:r>
            <a:r>
              <a:rPr lang="en-US" dirty="0"/>
              <a:t>[0;100]</a:t>
            </a:r>
            <a:endParaRPr lang="ru-RU" dirty="0"/>
          </a:p>
          <a:p>
            <a:r>
              <a:rPr lang="ru-RU" dirty="0"/>
              <a:t>Нормализованная оценка: 0.2, 0.4, 0.6, 0.8, 1 (1,2,3,4,5)</a:t>
            </a:r>
          </a:p>
          <a:p>
            <a:r>
              <a:rPr lang="ru-RU" dirty="0"/>
              <a:t>Нормализованная посещаемость: 0, 0.1,…,1.</a:t>
            </a:r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133</a:t>
            </a:fld>
            <a:endParaRPr lang="ru-R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D66A0A-E7D8-4494-BB7D-6126F941083C}"/>
              </a:ext>
            </a:extLst>
          </p:cNvPr>
          <p:cNvCxnSpPr/>
          <p:nvPr/>
        </p:nvCxnSpPr>
        <p:spPr>
          <a:xfrm flipV="1">
            <a:off x="1191802" y="2856216"/>
            <a:ext cx="0" cy="2383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77ABEF-36A3-4148-8CB7-20938951154E}"/>
              </a:ext>
            </a:extLst>
          </p:cNvPr>
          <p:cNvCxnSpPr>
            <a:cxnSpLocks/>
          </p:cNvCxnSpPr>
          <p:nvPr/>
        </p:nvCxnSpPr>
        <p:spPr>
          <a:xfrm>
            <a:off x="1191802" y="5239820"/>
            <a:ext cx="6082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CA35D4-BA14-4497-BC53-9E187271E479}"/>
              </a:ext>
            </a:extLst>
          </p:cNvPr>
          <p:cNvSpPr txBox="1"/>
          <p:nvPr/>
        </p:nvSpPr>
        <p:spPr>
          <a:xfrm>
            <a:off x="1345915" y="5337693"/>
            <a:ext cx="592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</a:t>
            </a:r>
            <a:r>
              <a:rPr lang="ru-RU" dirty="0"/>
              <a:t>1    </a:t>
            </a:r>
            <a:r>
              <a:rPr lang="en-US" dirty="0"/>
              <a:t>0.</a:t>
            </a:r>
            <a:r>
              <a:rPr lang="ru-RU" dirty="0"/>
              <a:t>2    </a:t>
            </a:r>
            <a:r>
              <a:rPr lang="en-US" dirty="0"/>
              <a:t>0.</a:t>
            </a:r>
            <a:r>
              <a:rPr lang="ru-RU" dirty="0"/>
              <a:t>3    </a:t>
            </a:r>
            <a:r>
              <a:rPr lang="en-US" dirty="0"/>
              <a:t>0.</a:t>
            </a:r>
            <a:r>
              <a:rPr lang="ru-RU" dirty="0"/>
              <a:t>4    </a:t>
            </a:r>
            <a:r>
              <a:rPr lang="en-US" dirty="0"/>
              <a:t> 0.</a:t>
            </a:r>
            <a:r>
              <a:rPr lang="ru-RU" dirty="0"/>
              <a:t>5</a:t>
            </a:r>
            <a:r>
              <a:rPr lang="en-US" dirty="0"/>
              <a:t>     0.6     0.7     0.8     0.9     1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43269D-98AE-4C3A-B8A9-9C7C00DBA35A}"/>
              </a:ext>
            </a:extLst>
          </p:cNvPr>
          <p:cNvCxnSpPr/>
          <p:nvPr/>
        </p:nvCxnSpPr>
        <p:spPr>
          <a:xfrm flipV="1">
            <a:off x="3801439" y="2856216"/>
            <a:ext cx="842480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8AF301-068A-46C9-B613-C95E116E4313}"/>
              </a:ext>
            </a:extLst>
          </p:cNvPr>
          <p:cNvCxnSpPr>
            <a:cxnSpLocks/>
          </p:cNvCxnSpPr>
          <p:nvPr/>
        </p:nvCxnSpPr>
        <p:spPr>
          <a:xfrm flipH="1" flipV="1">
            <a:off x="4643919" y="2856216"/>
            <a:ext cx="976045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AFA062-FF60-48FD-A861-F44DC05F4784}"/>
              </a:ext>
            </a:extLst>
          </p:cNvPr>
          <p:cNvCxnSpPr/>
          <p:nvPr/>
        </p:nvCxnSpPr>
        <p:spPr>
          <a:xfrm flipV="1">
            <a:off x="4981255" y="2856215"/>
            <a:ext cx="842480" cy="238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B28EAF-3D09-4DAF-9946-12B34DF74253}"/>
              </a:ext>
            </a:extLst>
          </p:cNvPr>
          <p:cNvCxnSpPr>
            <a:cxnSpLocks/>
          </p:cNvCxnSpPr>
          <p:nvPr/>
        </p:nvCxnSpPr>
        <p:spPr>
          <a:xfrm flipH="1">
            <a:off x="5804043" y="2856215"/>
            <a:ext cx="82278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85234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67699"/>
            <a:ext cx="6733426" cy="811088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ru-RU" dirty="0"/>
              <a:t>Пример нечеткой модели</a:t>
            </a:r>
            <a:endParaRPr lang="en-US" dirty="0"/>
          </a:p>
        </p:txBody>
      </p:sp>
      <p:pic>
        <p:nvPicPr>
          <p:cNvPr id="6" name="Picture 5" descr="A group of people playing a sport&#10;&#10;Description automatically generated">
            <a:extLst>
              <a:ext uri="{FF2B5EF4-FFF2-40B4-BE49-F238E27FC236}">
                <a16:creationId xmlns:a16="http://schemas.microsoft.com/office/drawing/2014/main" id="{10277456-1CC3-4B96-BCDB-5C0CB79145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4581" r="-1" b="12716"/>
          <a:stretch/>
        </p:blipFill>
        <p:spPr>
          <a:xfrm>
            <a:off x="546457" y="1589319"/>
            <a:ext cx="3886200" cy="435133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589319"/>
            <a:ext cx="4329915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Необходимо принять решение об отборе игрока в баскетбольную команду на основе данных о нем:</a:t>
            </a:r>
          </a:p>
          <a:p>
            <a:r>
              <a:rPr lang="ru-RU" dirty="0"/>
              <a:t>- Рост (Низкий, Средний, Высокий, Очень Высокий) </a:t>
            </a:r>
            <a:r>
              <a:rPr lang="en-US" dirty="0"/>
              <a:t>[160;240]</a:t>
            </a:r>
            <a:r>
              <a:rPr lang="ru-RU" dirty="0"/>
              <a:t>см</a:t>
            </a:r>
          </a:p>
          <a:p>
            <a:r>
              <a:rPr lang="ru-RU" dirty="0"/>
              <a:t>- Техника (Слабая, Уверенная, Звезда) </a:t>
            </a:r>
            <a:r>
              <a:rPr lang="en-US" dirty="0"/>
              <a:t>[</a:t>
            </a:r>
            <a:r>
              <a:rPr lang="ru-RU" dirty="0"/>
              <a:t>0</a:t>
            </a:r>
            <a:r>
              <a:rPr lang="en-US" dirty="0"/>
              <a:t>;</a:t>
            </a:r>
            <a:r>
              <a:rPr lang="ru-RU" dirty="0"/>
              <a:t>100</a:t>
            </a:r>
            <a:r>
              <a:rPr lang="en-US" dirty="0"/>
              <a:t>]</a:t>
            </a:r>
            <a:r>
              <a:rPr lang="ru-RU" dirty="0"/>
              <a:t>%</a:t>
            </a:r>
            <a:endParaRPr lang="en-US" dirty="0"/>
          </a:p>
          <a:p>
            <a:r>
              <a:rPr lang="en-US" dirty="0"/>
              <a:t>- </a:t>
            </a:r>
            <a:r>
              <a:rPr lang="ru-RU" dirty="0"/>
              <a:t>Средняя результативность за сезон (Низкая, Средняя, Высокая) </a:t>
            </a:r>
            <a:r>
              <a:rPr lang="en-US" dirty="0"/>
              <a:t>[10;50]</a:t>
            </a:r>
            <a:r>
              <a:rPr lang="ru-RU" dirty="0"/>
              <a:t> очков</a:t>
            </a:r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50607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84" y="1632857"/>
            <a:ext cx="3338002" cy="1600200"/>
          </a:xfrm>
        </p:spPr>
        <p:txBody>
          <a:bodyPr anchor="b">
            <a:normAutofit/>
          </a:bodyPr>
          <a:lstStyle/>
          <a:p>
            <a:r>
              <a:rPr lang="ru-RU" dirty="0"/>
              <a:t>Варианты построения </a:t>
            </a:r>
            <a:br>
              <a:rPr lang="ru-RU" dirty="0"/>
            </a:br>
            <a:r>
              <a:rPr lang="ru-RU" dirty="0"/>
              <a:t>μ -функций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519AFA1-E01F-4869-9A2C-AE6B64FF5724}" type="slidenum">
              <a:rPr lang="ru-RU" smtClean="0"/>
              <a:pPr>
                <a:spcAft>
                  <a:spcPts val="600"/>
                </a:spcAft>
              </a:pPr>
              <a:t>135</a:t>
            </a:fld>
            <a:endParaRPr lang="ru-RU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E94001E-FBF9-43EA-9B12-E6E9D4224B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263948"/>
              </p:ext>
            </p:extLst>
          </p:nvPr>
        </p:nvGraphicFramePr>
        <p:xfrm>
          <a:off x="2898322" y="498021"/>
          <a:ext cx="6074228" cy="5363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282766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9CBCC-7753-4B46-9ABE-693A5706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54" y="457200"/>
            <a:ext cx="7460966" cy="791936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Задача. 15мин.+15мин. </a:t>
            </a:r>
            <a:r>
              <a:rPr lang="ru-RU"/>
              <a:t>Перерыв = 16-10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F0DBB3-6B76-444F-BC15-FC570150D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2057401"/>
            <a:ext cx="8303078" cy="1265464"/>
          </a:xfrm>
        </p:spPr>
        <p:txBody>
          <a:bodyPr/>
          <a:lstStyle/>
          <a:p>
            <a:r>
              <a:rPr lang="ru-RU" dirty="0"/>
              <a:t>Построить логический вывод для 2 значений для средней и низкой уверенности в выборе игрока</a:t>
            </a:r>
            <a:r>
              <a:rPr lang="en-US" dirty="0"/>
              <a:t> </a:t>
            </a:r>
            <a:r>
              <a:rPr lang="ru-RU" dirty="0"/>
              <a:t>с принятием решения «Принять/Отказать»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256396-7C5C-4341-8C36-BD4865C7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51795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C82C0-DD40-48DE-915C-B3D0DD328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63458"/>
          </a:xfrm>
        </p:spPr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70059-8C51-4714-AFF8-56D1EC58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137</a:t>
            </a:fld>
            <a:endParaRPr lang="ru-RU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56F70D-5777-452A-8B01-10793BA64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1416" y="1446685"/>
            <a:ext cx="7164345" cy="2556904"/>
          </a:xfrm>
        </p:spPr>
        <p:txBody>
          <a:bodyPr/>
          <a:lstStyle/>
          <a:p>
            <a:r>
              <a:rPr lang="ru-RU" dirty="0"/>
              <a:t>Область применения НЛ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Естественные языки, в т.ч. в предметной области</a:t>
            </a:r>
          </a:p>
          <a:p>
            <a:pPr lvl="2"/>
            <a:r>
              <a:rPr lang="ru-RU" dirty="0"/>
              <a:t>Согласование требований</a:t>
            </a:r>
          </a:p>
          <a:p>
            <a:pPr lvl="2"/>
            <a:r>
              <a:rPr lang="ru-RU" dirty="0"/>
              <a:t>Описание явлений</a:t>
            </a:r>
          </a:p>
          <a:p>
            <a:pPr lvl="1"/>
            <a:r>
              <a:rPr lang="ru-RU" dirty="0"/>
              <a:t>Нестабильные системы</a:t>
            </a:r>
          </a:p>
          <a:p>
            <a:pPr lvl="2"/>
            <a:r>
              <a:rPr lang="ru-RU" dirty="0"/>
              <a:t>Газовые среды (в т.ч. природные, металлургические)</a:t>
            </a:r>
          </a:p>
          <a:p>
            <a:pPr lvl="2"/>
            <a:r>
              <a:rPr lang="ru-RU" dirty="0"/>
              <a:t>Описание потоков (водные, транспортные)</a:t>
            </a:r>
          </a:p>
        </p:txBody>
      </p:sp>
    </p:spTree>
    <p:extLst>
      <p:ext uri="{BB962C8B-B14F-4D97-AF65-F5344CB8AC3E}">
        <p14:creationId xmlns:p14="http://schemas.microsoft.com/office/powerpoint/2010/main" val="414718051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138</a:t>
            </a:fld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540847-619E-467C-8CB6-C6E58ED03FAF}"/>
              </a:ext>
            </a:extLst>
          </p:cNvPr>
          <p:cNvSpPr txBox="1">
            <a:spLocks noChangeArrowheads="1"/>
          </p:cNvSpPr>
          <p:nvPr/>
        </p:nvSpPr>
        <p:spPr>
          <a:xfrm>
            <a:off x="520160" y="2347812"/>
            <a:ext cx="7156102" cy="2491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600" dirty="0"/>
              <a:t>Контакты</a:t>
            </a:r>
            <a:endParaRPr lang="en-US" sz="3100" dirty="0"/>
          </a:p>
          <a:p>
            <a:pPr>
              <a:defRPr/>
            </a:pPr>
            <a:r>
              <a:rPr lang="en-US" sz="3100" dirty="0">
                <a:hlinkClick r:id="rId2"/>
              </a:rPr>
              <a:t>dinzis@specialist.ru</a:t>
            </a:r>
            <a:endParaRPr lang="en-US" sz="3100" dirty="0"/>
          </a:p>
          <a:p>
            <a:pPr>
              <a:defRPr/>
            </a:pPr>
            <a:r>
              <a:rPr lang="en-US" sz="3100" dirty="0">
                <a:hlinkClick r:id="rId3"/>
              </a:rPr>
              <a:t>consult@Dintsis.org</a:t>
            </a:r>
            <a:endParaRPr lang="ru-RU" sz="3100" dirty="0"/>
          </a:p>
          <a:p>
            <a:pPr>
              <a:defRPr/>
            </a:pPr>
            <a:r>
              <a:rPr lang="en-US" sz="3100" dirty="0">
                <a:hlinkClick r:id="rId4"/>
              </a:rPr>
              <a:t>http://www.ddintsis.com</a:t>
            </a:r>
            <a:endParaRPr lang="ru-RU" sz="3100" dirty="0"/>
          </a:p>
          <a:p>
            <a:pPr>
              <a:defRPr/>
            </a:pPr>
            <a:r>
              <a:rPr lang="en-US" sz="3100" dirty="0">
                <a:hlinkClick r:id="rId5"/>
              </a:rPr>
              <a:t>https://t.me/pmtips</a:t>
            </a:r>
            <a:r>
              <a:rPr lang="ru-RU" sz="3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67062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5478</TotalTime>
  <Words>10952</Words>
  <Application>Microsoft Office PowerPoint</Application>
  <PresentationFormat>Экран (4:3)</PresentationFormat>
  <Paragraphs>1444</Paragraphs>
  <Slides>138</Slides>
  <Notes>80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138</vt:i4>
      </vt:variant>
    </vt:vector>
  </HeadingPairs>
  <TitlesOfParts>
    <vt:vector size="148" baseType="lpstr">
      <vt:lpstr>Arial</vt:lpstr>
      <vt:lpstr>Arial</vt:lpstr>
      <vt:lpstr>Calibri</vt:lpstr>
      <vt:lpstr>inherit</vt:lpstr>
      <vt:lpstr>Myriad Pro</vt:lpstr>
      <vt:lpstr>Open Sans</vt:lpstr>
      <vt:lpstr>Open Sans</vt:lpstr>
      <vt:lpstr>Segoe UI</vt:lpstr>
      <vt:lpstr>Times New Roman</vt:lpstr>
      <vt:lpstr>Тема Office</vt:lpstr>
      <vt:lpstr>Основы графов и нечетких логик  для анализа больших данных</vt:lpstr>
      <vt:lpstr>Преподаватели по курсу</vt:lpstr>
      <vt:lpstr>О курсе</vt:lpstr>
      <vt:lpstr>Целевая аудитория курса</vt:lpstr>
      <vt:lpstr>Слушатели по окончании курса:</vt:lpstr>
      <vt:lpstr>Знакомимся</vt:lpstr>
      <vt:lpstr>Определение графа</vt:lpstr>
      <vt:lpstr>Что можно описать с помощью графа</vt:lpstr>
      <vt:lpstr>Ориентированные (орграфы) и неориентированные графы</vt:lpstr>
      <vt:lpstr>Смежные вершины</vt:lpstr>
      <vt:lpstr>Степень вершины</vt:lpstr>
      <vt:lpstr>Представление графа как матрицы</vt:lpstr>
      <vt:lpstr>Матрица смежности для неориентированного графа</vt:lpstr>
      <vt:lpstr>Мультиграфы и Псевдографы</vt:lpstr>
      <vt:lpstr>Изоморфные графы</vt:lpstr>
      <vt:lpstr>Задачи. 20 мин.+10 мин.-&gt;12-00</vt:lpstr>
      <vt:lpstr>Подграф</vt:lpstr>
      <vt:lpstr>Подграф. Примеры</vt:lpstr>
      <vt:lpstr>Понятие дерева</vt:lpstr>
      <vt:lpstr>Задача о кенигсбергских мостах</vt:lpstr>
      <vt:lpstr>Граф кенигсбергских мостов</vt:lpstr>
      <vt:lpstr>Решение Эйлера</vt:lpstr>
      <vt:lpstr>Задача</vt:lpstr>
      <vt:lpstr>12-45 </vt:lpstr>
      <vt:lpstr>Граф Интернета или веб-граф</vt:lpstr>
      <vt:lpstr>Социальный граф</vt:lpstr>
      <vt:lpstr>Социальный граф сообществ</vt:lpstr>
      <vt:lpstr>Основные параметры социального графа (2)</vt:lpstr>
      <vt:lpstr>Пример кластеризованного социального графа</vt:lpstr>
      <vt:lpstr>ПО визуализации графов</vt:lpstr>
      <vt:lpstr>Важные типы графов</vt:lpstr>
      <vt:lpstr>Маршрут в графе</vt:lpstr>
      <vt:lpstr>Связность графа</vt:lpstr>
      <vt:lpstr>Простой алгоритм определения связности графа</vt:lpstr>
      <vt:lpstr>Пример</vt:lpstr>
      <vt:lpstr>Задача. Определить связность </vt:lpstr>
      <vt:lpstr>Дополнительная задача. Определить связность орграфа – 15-20+перерыв=15-35</vt:lpstr>
      <vt:lpstr>Задача поиска  кратчайшего пути на графе</vt:lpstr>
      <vt:lpstr>Разновидности задачи поиска кратчайшего пути</vt:lpstr>
      <vt:lpstr>Общий обзор алгоритмов</vt:lpstr>
      <vt:lpstr>Алгоритм Дейкстры (Dijkstra)</vt:lpstr>
      <vt:lpstr>Алгоритм Дейкстры. Пример (1)</vt:lpstr>
      <vt:lpstr>Алгоритм Дейкстры. Пример (2)</vt:lpstr>
      <vt:lpstr>Алгоритм Дейкстры. Пример (3)</vt:lpstr>
      <vt:lpstr>Алгоритм Дейкстры. Пример (3)</vt:lpstr>
      <vt:lpstr>Алгоритм Дейкстры. Пример (4)</vt:lpstr>
      <vt:lpstr>Задача 16-25</vt:lpstr>
      <vt:lpstr>Дополнительно. А*</vt:lpstr>
      <vt:lpstr>Алгоритм Дейкстры.  Пример программной реализации</vt:lpstr>
      <vt:lpstr>Обзор частных прикладных задач</vt:lpstr>
      <vt:lpstr>Задача коммивояжера</vt:lpstr>
      <vt:lpstr>Задача о ранце</vt:lpstr>
      <vt:lpstr>Алгоритмы</vt:lpstr>
      <vt:lpstr>Метод ветвей и границ для задачи о ранце. Простой вариант</vt:lpstr>
      <vt:lpstr>Задача. Построить дерево отбора максимального по стоимости числа вещей в рюкзак методом ветвей и границ стоимостью не более 6500 ед. – 10-55</vt:lpstr>
      <vt:lpstr>Алгоритмы поиска сообществ на социальных графах</vt:lpstr>
      <vt:lpstr>Пример жадного алгоритма</vt:lpstr>
      <vt:lpstr>Пример алгоритма Betweenness</vt:lpstr>
      <vt:lpstr>Нормировка данных</vt:lpstr>
      <vt:lpstr>Нормировка весов ребер графа</vt:lpstr>
      <vt:lpstr>Задача о четырех красках</vt:lpstr>
      <vt:lpstr>Планарные и непланарные графы</vt:lpstr>
      <vt:lpstr>Пример непланарного графа</vt:lpstr>
      <vt:lpstr>Грани в планарном графе</vt:lpstr>
      <vt:lpstr>Формула Эйлера.  Практическое применение</vt:lpstr>
      <vt:lpstr>Формула Эйлера.  Практическое применение (2)</vt:lpstr>
      <vt:lpstr>Области применения  планарных графов</vt:lpstr>
      <vt:lpstr>Задача – 12-20</vt:lpstr>
      <vt:lpstr>Стохастические или  вероятностные графы</vt:lpstr>
      <vt:lpstr>Пример задачи по оценке действий пользователя. Customer journey</vt:lpstr>
      <vt:lpstr>Пример</vt:lpstr>
      <vt:lpstr>Пример IKEA</vt:lpstr>
      <vt:lpstr>Стохастический граф. Пример</vt:lpstr>
      <vt:lpstr>Пример CJ приобретения поездки  (товара) на сайте</vt:lpstr>
      <vt:lpstr>Вероятностные действия пользователя в системе после выбора маршрута</vt:lpstr>
      <vt:lpstr>Вероятностные действия пользователя в системе после выбора поездки</vt:lpstr>
      <vt:lpstr>Customer Journey как стохастический граф</vt:lpstr>
      <vt:lpstr>Задача. Предложите Ваш вариант стохастического графа покупки авиабилетов 30мин. – перерыв 50 мин. =&gt; 14-15</vt:lpstr>
      <vt:lpstr>Программные библиотеки анализа графов</vt:lpstr>
      <vt:lpstr>Часть 2</vt:lpstr>
      <vt:lpstr>Неопределенность высказываний</vt:lpstr>
      <vt:lpstr>Нечеткая логика с 1965 г.</vt:lpstr>
      <vt:lpstr>Логическая переменная</vt:lpstr>
      <vt:lpstr>Нечеткая переменная</vt:lpstr>
      <vt:lpstr>Задача. 15-15. перерыв до 15-40</vt:lpstr>
      <vt:lpstr>Нечеткая переменная Графическое представление</vt:lpstr>
      <vt:lpstr>Определение μ - функции</vt:lpstr>
      <vt:lpstr>Виды μ - функций</vt:lpstr>
      <vt:lpstr>Распространенные варианты процедуры G</vt:lpstr>
      <vt:lpstr>Примеры G-функции</vt:lpstr>
      <vt:lpstr>Задача 16-45.</vt:lpstr>
      <vt:lpstr>Лингвистическая переменная</vt:lpstr>
      <vt:lpstr>Нечеткое множество</vt:lpstr>
      <vt:lpstr>Пример</vt:lpstr>
      <vt:lpstr>Примеры записи  нечеткого множества</vt:lpstr>
      <vt:lpstr>Пример. Продолжение</vt:lpstr>
      <vt:lpstr>Задача.</vt:lpstr>
      <vt:lpstr>Нечеткие высказывания  и отношения</vt:lpstr>
      <vt:lpstr>Булевы операции</vt:lpstr>
      <vt:lpstr>Сравнение нечетких множеств</vt:lpstr>
      <vt:lpstr>Пример включения нечетких множеств</vt:lpstr>
      <vt:lpstr>Пример равенства НМ</vt:lpstr>
      <vt:lpstr>Операции над нечеткими множествами</vt:lpstr>
      <vt:lpstr>Объединение (ИЛИ)</vt:lpstr>
      <vt:lpstr>Пересечение (И)</vt:lpstr>
      <vt:lpstr>Пример области применения</vt:lpstr>
      <vt:lpstr>Разность нечетких множеств</vt:lpstr>
      <vt:lpstr>Дополнение или Отрицание к нечеткому множеству</vt:lpstr>
      <vt:lpstr>Графическое представление</vt:lpstr>
      <vt:lpstr>Пример. Продолжение 2</vt:lpstr>
      <vt:lpstr>Задача. 25 мин.+15 мин.=&gt;12-00 1. Приведите примеры включения, сравнения, объединения, пересечения и разности 2х множеств (по 5 значений в каждом множестве) – 15 мин.  2. Постройте нечеткое множество «игрок уверенной ИЛИ «звездной» техники» Постройте множество «Игрок среднего И высокого роста» (чуть выше среднего) – 10 мин.</vt:lpstr>
      <vt:lpstr>Нечеткий вывод</vt:lpstr>
      <vt:lpstr>Пример отличий логик Заде, Мамдани, Лукасевича и пр.</vt:lpstr>
      <vt:lpstr>Система нечеткого вывода</vt:lpstr>
      <vt:lpstr>Продукционное (нечеткое) правило</vt:lpstr>
      <vt:lpstr>Пример импликации</vt:lpstr>
      <vt:lpstr>Вывод правила.  Импликиция «ЕСЛИ…, ТО…»</vt:lpstr>
      <vt:lpstr>Задача. </vt:lpstr>
      <vt:lpstr>30 мин.+50мин.=&gt;14-25</vt:lpstr>
      <vt:lpstr>Основные этапы построенного механизма нечеткого вывода</vt:lpstr>
      <vt:lpstr>Основные этапы построенного механизма нечеткого вывода</vt:lpstr>
      <vt:lpstr>Формирование базы правил.</vt:lpstr>
      <vt:lpstr>Простой пример</vt:lpstr>
      <vt:lpstr>Формирование базы правил.</vt:lpstr>
      <vt:lpstr>Фаззификация</vt:lpstr>
      <vt:lpstr>Фаззификация (2)</vt:lpstr>
      <vt:lpstr>Пример</vt:lpstr>
      <vt:lpstr>Агрегирование</vt:lpstr>
      <vt:lpstr>Активизация</vt:lpstr>
      <vt:lpstr>Аккумулирование</vt:lpstr>
      <vt:lpstr>Дефаззификация</vt:lpstr>
      <vt:lpstr>Правила дефаззификации</vt:lpstr>
      <vt:lpstr>Применение нормализации</vt:lpstr>
      <vt:lpstr>Пример нечеткой модели</vt:lpstr>
      <vt:lpstr>Варианты построения  μ -функций</vt:lpstr>
      <vt:lpstr>Задача. 15мин.+15мин. Перерыв = 16-10</vt:lpstr>
      <vt:lpstr>Выводы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графов и нечетких логик  для анализа больших данных</dc:title>
  <dc:creator>Russia IAMCP</dc:creator>
  <cp:lastModifiedBy>Danil Dintsis</cp:lastModifiedBy>
  <cp:revision>50</cp:revision>
  <dcterms:created xsi:type="dcterms:W3CDTF">2020-09-04T06:30:36Z</dcterms:created>
  <dcterms:modified xsi:type="dcterms:W3CDTF">2021-12-10T13:04:59Z</dcterms:modified>
</cp:coreProperties>
</file>