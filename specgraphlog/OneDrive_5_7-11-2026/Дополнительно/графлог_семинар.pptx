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sldIdLst>
    <p:sldId id="256" r:id="rId2"/>
    <p:sldId id="263" r:id="rId3"/>
    <p:sldId id="309" r:id="rId4"/>
    <p:sldId id="265" r:id="rId5"/>
    <p:sldId id="429" r:id="rId6"/>
    <p:sldId id="430" r:id="rId7"/>
    <p:sldId id="453" r:id="rId8"/>
    <p:sldId id="431" r:id="rId9"/>
    <p:sldId id="441" r:id="rId10"/>
    <p:sldId id="444" r:id="rId11"/>
    <p:sldId id="432" r:id="rId12"/>
    <p:sldId id="433" r:id="rId13"/>
    <p:sldId id="434" r:id="rId14"/>
    <p:sldId id="435" r:id="rId15"/>
    <p:sldId id="436" r:id="rId16"/>
    <p:sldId id="437" r:id="rId17"/>
    <p:sldId id="438" r:id="rId18"/>
    <p:sldId id="304" r:id="rId19"/>
    <p:sldId id="428" r:id="rId20"/>
    <p:sldId id="318" r:id="rId21"/>
    <p:sldId id="307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E9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9" autoAdjust="0"/>
    <p:restoredTop sz="94660"/>
  </p:normalViewPr>
  <p:slideViewPr>
    <p:cSldViewPr snapToGrid="0">
      <p:cViewPr varScale="1">
        <p:scale>
          <a:sx n="80" d="100"/>
          <a:sy n="80" d="100"/>
        </p:scale>
        <p:origin x="3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C6F35-8843-4F4D-ADB7-A6E3E46B4215}" type="datetimeFigureOut">
              <a:rPr lang="ru-RU" smtClean="0"/>
              <a:t>14.01.2020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E4C15-83E2-4053-8D48-0BAD6CEC89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158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ciology_encyclopedy.academic.ru/47/%D0%90%D0%9D%D0%90%D0%9B%D0%98%D0%97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https://habr.com/ru/post/111361/</a:t>
            </a:r>
            <a:r>
              <a:rPr lang="ru-RU" dirty="0"/>
              <a:t> - с примерами кода для каждого алгоритма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879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Дополнительно: </a:t>
            </a:r>
            <a:r>
              <a:rPr lang="en-US" dirty="0">
                <a:hlinkClick r:id="rId3"/>
              </a:rPr>
              <a:t>https://sociology_encyclopedy.academic.ru/47/%D0%90%D0%9D%D0%90%D0%9B%D0%98%D0%97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855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413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59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886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2140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274677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5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592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488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91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95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78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49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541106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1057457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16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3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ru/%D0%BF%D0%B0%D0%BB%D0%B5%D1%86-%D0%B2%D0%B2%D0%B5%D1%80%D1%85-%D0%BB%D0%B0%D0%B9%D0%BA-%D1%80%D1%83%D0%BA%D0%B0-%D0%B7%D0%BD%D0%B0%D1%87%D0%BE%D0%BA-2065393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469908" y="4752473"/>
            <a:ext cx="8239874" cy="902369"/>
          </a:xfrm>
        </p:spPr>
        <p:txBody>
          <a:bodyPr>
            <a:normAutofit/>
          </a:bodyPr>
          <a:lstStyle/>
          <a:p>
            <a:r>
              <a:rPr lang="ru-RU" dirty="0"/>
              <a:t>Основы графов и нечетких логик </a:t>
            </a:r>
            <a:br>
              <a:rPr lang="en-US" dirty="0"/>
            </a:br>
            <a:r>
              <a:rPr lang="ru-RU" dirty="0"/>
              <a:t>для анализа больших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45862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2619" y="291274"/>
            <a:ext cx="7886700" cy="713661"/>
          </a:xfrm>
        </p:spPr>
        <p:txBody>
          <a:bodyPr/>
          <a:lstStyle/>
          <a:p>
            <a:r>
              <a:rPr lang="ru-RU" dirty="0"/>
              <a:t>О курсе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628650" y="4022971"/>
            <a:ext cx="7886700" cy="2073389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Цель: Освоить основы применения графов и нечетких логик для построения моделей систем обработки больших данных, машинного обучения и искусственного интеллекта.</a:t>
            </a:r>
          </a:p>
          <a:p>
            <a:r>
              <a:rPr lang="ru-RU" dirty="0">
                <a:solidFill>
                  <a:srgbClr val="002060"/>
                </a:solidFill>
              </a:rPr>
              <a:t>Слушатели познакомятся с основными понятиями </a:t>
            </a:r>
            <a:r>
              <a:rPr lang="ru-RU" dirty="0" err="1">
                <a:solidFill>
                  <a:srgbClr val="002060"/>
                </a:solidFill>
              </a:rPr>
              <a:t>графовых</a:t>
            </a:r>
            <a:r>
              <a:rPr lang="ru-RU" dirty="0">
                <a:solidFill>
                  <a:srgbClr val="002060"/>
                </a:solidFill>
              </a:rPr>
              <a:t> и </a:t>
            </a:r>
            <a:r>
              <a:rPr lang="ru-RU" dirty="0" err="1">
                <a:solidFill>
                  <a:srgbClr val="002060"/>
                </a:solidFill>
              </a:rPr>
              <a:t>нечеткологических</a:t>
            </a:r>
            <a:r>
              <a:rPr lang="ru-RU" dirty="0">
                <a:solidFill>
                  <a:srgbClr val="002060"/>
                </a:solidFill>
              </a:rPr>
              <a:t> моделей; инструментами их обработки и оптимизации; требованиями к входным данным.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5C5096-434D-46CD-A041-F2E3CE68E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213" y="282204"/>
            <a:ext cx="4520629" cy="33904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41200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6731" y="218866"/>
            <a:ext cx="7886700" cy="744483"/>
          </a:xfrm>
        </p:spPr>
        <p:txBody>
          <a:bodyPr/>
          <a:lstStyle/>
          <a:p>
            <a:r>
              <a:rPr lang="ru-RU" dirty="0"/>
              <a:t>Преподаватели по курсу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b="19712"/>
          <a:stretch/>
        </p:blipFill>
        <p:spPr>
          <a:xfrm>
            <a:off x="556731" y="3614356"/>
            <a:ext cx="1571625" cy="1888920"/>
          </a:xfrm>
          <a:prstGeom prst="rect">
            <a:avLst/>
          </a:prstGeom>
        </p:spPr>
      </p:pic>
      <p:sp>
        <p:nvSpPr>
          <p:cNvPr id="11" name="Объект 10"/>
          <p:cNvSpPr>
            <a:spLocks noGrp="1"/>
          </p:cNvSpPr>
          <p:nvPr>
            <p:ph idx="1"/>
          </p:nvPr>
        </p:nvSpPr>
        <p:spPr>
          <a:xfrm>
            <a:off x="2225842" y="1147882"/>
            <a:ext cx="6641432" cy="520846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Данил </a:t>
            </a:r>
            <a:r>
              <a:rPr lang="ru-RU"/>
              <a:t>Динцис</a:t>
            </a:r>
          </a:p>
          <a:p>
            <a:pPr lvl="0"/>
            <a:r>
              <a:rPr lang="ru-RU" dirty="0"/>
              <a:t>Доктор </a:t>
            </a:r>
            <a:r>
              <a:rPr lang="ru-RU" dirty="0" err="1"/>
              <a:t>техн</a:t>
            </a:r>
            <a:r>
              <a:rPr lang="ru-RU" dirty="0"/>
              <a:t>. наук по системному анализу информационных систем</a:t>
            </a:r>
          </a:p>
          <a:p>
            <a:pPr lvl="0"/>
            <a:r>
              <a:rPr lang="ru-RU" dirty="0"/>
              <a:t>Общий опыт в ИТ отрасли 25+ лет. Управление проектами, программами и портфелями на протяжении свыше 10 лет, включая разработку программного обеспечения</a:t>
            </a:r>
            <a:r>
              <a:rPr lang="en-US" dirty="0"/>
              <a:t> c </a:t>
            </a:r>
            <a:r>
              <a:rPr lang="ru-RU" dirty="0"/>
              <a:t>применением машинного обучения; </a:t>
            </a:r>
            <a:r>
              <a:rPr lang="en-US" dirty="0"/>
              <a:t>ITSM</a:t>
            </a:r>
            <a:r>
              <a:rPr lang="ru-RU" dirty="0"/>
              <a:t> консалтинг и стартапы, связанные в т.ч. с машинным обучением . </a:t>
            </a:r>
          </a:p>
          <a:p>
            <a:pPr lvl="0"/>
            <a:r>
              <a:rPr lang="ru-RU" dirty="0"/>
              <a:t>Профессиональные сертификации</a:t>
            </a:r>
            <a:endParaRPr lang="en-US" dirty="0"/>
          </a:p>
          <a:p>
            <a:pPr lvl="0"/>
            <a:r>
              <a:rPr lang="en-US" dirty="0" err="1"/>
              <a:t>PgMP</a:t>
            </a:r>
            <a:r>
              <a:rPr lang="en-US" dirty="0"/>
              <a:t>, PMP, ITIL® Expert, DevOps Product Owner</a:t>
            </a:r>
            <a:endParaRPr lang="ru-RU" dirty="0"/>
          </a:p>
          <a:p>
            <a:pPr lvl="0"/>
            <a:r>
              <a:rPr lang="ru-RU" dirty="0"/>
              <a:t>Участие в профессиональных российских и международных сообществах: </a:t>
            </a:r>
            <a:r>
              <a:rPr lang="en-US" dirty="0"/>
              <a:t>PMI</a:t>
            </a:r>
            <a:r>
              <a:rPr lang="ru-RU" dirty="0"/>
              <a:t>, </a:t>
            </a:r>
            <a:r>
              <a:rPr lang="en-US" dirty="0"/>
              <a:t>IEEE</a:t>
            </a:r>
            <a:r>
              <a:rPr lang="ru-RU" dirty="0"/>
              <a:t>,</a:t>
            </a:r>
            <a:r>
              <a:rPr lang="en-US" dirty="0"/>
              <a:t>IAMCP,</a:t>
            </a:r>
            <a:r>
              <a:rPr lang="ru-RU" dirty="0"/>
              <a:t> </a:t>
            </a:r>
            <a:r>
              <a:rPr lang="en-US" dirty="0" err="1"/>
              <a:t>pmi</a:t>
            </a:r>
            <a:r>
              <a:rPr lang="ru-RU" dirty="0"/>
              <a:t>.</a:t>
            </a:r>
            <a:r>
              <a:rPr lang="en-US" dirty="0" err="1"/>
              <a:t>ru</a:t>
            </a:r>
            <a:r>
              <a:rPr lang="en-US" dirty="0"/>
              <a:t>/</a:t>
            </a:r>
          </a:p>
          <a:p>
            <a:pPr lvl="0"/>
            <a:r>
              <a:rPr lang="ru-RU" dirty="0"/>
              <a:t>Св. 30 публикаций по тематике курса. Академический редактор книги «</a:t>
            </a:r>
            <a:r>
              <a:rPr lang="en-US" dirty="0"/>
              <a:t>CRM </a:t>
            </a:r>
            <a:r>
              <a:rPr lang="ru-RU" dirty="0"/>
              <a:t>и машинное обучение» (</a:t>
            </a:r>
            <a:r>
              <a:rPr lang="en-US" dirty="0"/>
              <a:t>Intech publishers</a:t>
            </a:r>
            <a:r>
              <a:rPr lang="ru-RU" dirty="0"/>
              <a:t>)</a:t>
            </a:r>
          </a:p>
          <a:p>
            <a:pPr lvl="0"/>
            <a:r>
              <a:rPr lang="ru-RU" dirty="0"/>
              <a:t>Грант </a:t>
            </a:r>
            <a:r>
              <a:rPr lang="en-US" dirty="0"/>
              <a:t>Microsoft Azure Team </a:t>
            </a:r>
            <a:r>
              <a:rPr lang="ru-RU" dirty="0"/>
              <a:t>на </a:t>
            </a:r>
            <a:r>
              <a:rPr lang="en-US" dirty="0"/>
              <a:t>AI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007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87" y="3502134"/>
            <a:ext cx="2848618" cy="260967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аудитория курса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3203574"/>
          </a:xfrm>
        </p:spPr>
        <p:txBody>
          <a:bodyPr>
            <a:normAutofit/>
          </a:bodyPr>
          <a:lstStyle/>
          <a:p>
            <a:pPr marL="342900" indent="-342900">
              <a:buBlip>
                <a:blip r:embed="rId3"/>
              </a:buBlip>
            </a:pPr>
            <a:r>
              <a:rPr lang="ru-RU" dirty="0"/>
              <a:t>Бизнес- и системные аналитики</a:t>
            </a:r>
          </a:p>
          <a:p>
            <a:pPr marL="342900" indent="-342900">
              <a:buBlip>
                <a:blip r:embed="rId3"/>
              </a:buBlip>
            </a:pPr>
            <a:r>
              <a:rPr lang="ru-RU" dirty="0"/>
              <a:t>Аналитики данных</a:t>
            </a:r>
          </a:p>
          <a:p>
            <a:pPr marL="342900" indent="-342900">
              <a:buBlip>
                <a:blip r:embed="rId3"/>
              </a:buBlip>
            </a:pPr>
            <a:r>
              <a:rPr lang="ru-RU" dirty="0"/>
              <a:t>Программисты, работающие в области машинного анализа данных</a:t>
            </a:r>
          </a:p>
          <a:p>
            <a:pPr marL="342900" indent="-342900">
              <a:buBlip>
                <a:blip r:embed="rId3"/>
              </a:buBlip>
            </a:pPr>
            <a:r>
              <a:rPr lang="ru-RU" dirty="0"/>
              <a:t>Бизнес-руководители, чья деятельность связана с постановкой задач по аналитике данных</a:t>
            </a:r>
          </a:p>
          <a:p>
            <a:pPr marL="342900" indent="-342900">
              <a:buBlip>
                <a:blip r:embed="rId3"/>
              </a:buBlip>
            </a:pPr>
            <a:r>
              <a:rPr lang="ru-RU" dirty="0"/>
              <a:t>Маркетологи, включая веб-маркетинг</a:t>
            </a:r>
          </a:p>
          <a:p>
            <a:pPr marL="342900" indent="-342900">
              <a:buBlip>
                <a:blip r:embed="rId3"/>
              </a:buBlip>
            </a:pPr>
            <a:r>
              <a:rPr lang="ru-RU" dirty="0"/>
              <a:t>Другие сотрудники, вовлеченные в аналитическую деятельность компании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71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F9224-0DD1-4098-B09E-6EF328860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3386"/>
          </a:xfrm>
        </p:spPr>
        <p:txBody>
          <a:bodyPr/>
          <a:lstStyle/>
          <a:p>
            <a:r>
              <a:rPr lang="ru-RU" dirty="0"/>
              <a:t>Что такое граф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8E2EF-FB07-43B6-85E0-C4DA1D0C2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20142"/>
            <a:ext cx="7886700" cy="1246348"/>
          </a:xfrm>
        </p:spPr>
        <p:txBody>
          <a:bodyPr/>
          <a:lstStyle/>
          <a:p>
            <a:r>
              <a:rPr lang="ru-RU" dirty="0"/>
              <a:t>Граф — абстрактный математический объект, представляющий собой множество вершин графа и набор рёбер, то есть соединений между парами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C37B7-EFD0-4BE8-8C0A-B669F617D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4A7E9-DFF0-40FE-A1DF-FCFC680A9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986" y="2866490"/>
            <a:ext cx="4095964" cy="3059173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602045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8165-7B1E-4FEF-AF28-B6413A443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Графы ориентированные и неориентированные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3B11E-CA19-4669-9487-405ABE686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116529"/>
            <a:ext cx="7886700" cy="106043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11946-3B60-4391-BA24-453FE5810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6ECE5-35EB-43BE-A905-B281F5652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84" y="2074858"/>
            <a:ext cx="2957031" cy="295703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454062-61BD-460C-8488-00AD9FA7A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621" y="2074858"/>
            <a:ext cx="2957031" cy="295703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882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30" y="347144"/>
            <a:ext cx="8289319" cy="849795"/>
          </a:xfrm>
        </p:spPr>
        <p:txBody>
          <a:bodyPr>
            <a:normAutofit/>
          </a:bodyPr>
          <a:lstStyle/>
          <a:p>
            <a:r>
              <a:rPr lang="ru-RU" dirty="0"/>
              <a:t>Общий обзор алгоритмов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97" y="1489755"/>
            <a:ext cx="8486454" cy="438706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Алгоритм </a:t>
            </a:r>
            <a:r>
              <a:rPr lang="ru-RU" b="1" dirty="0" err="1"/>
              <a:t>Дейкстры</a:t>
            </a:r>
            <a:r>
              <a:rPr lang="ru-RU" b="1" dirty="0"/>
              <a:t> </a:t>
            </a:r>
            <a:r>
              <a:rPr lang="ru-RU" dirty="0"/>
              <a:t>находит кратчайший путь от одной из вершин графа до всех остальных. Алгоритм работает только для графов без рёбер отрицательного веса.</a:t>
            </a:r>
          </a:p>
          <a:p>
            <a:r>
              <a:rPr lang="ru-RU" b="1" dirty="0"/>
              <a:t>Алгоритм Беллмана — Форда </a:t>
            </a:r>
            <a:r>
              <a:rPr lang="ru-RU" dirty="0"/>
              <a:t>находит кратчайшие пути от одной вершины графа до всех остальных во взвешенном графе. Вес рёбер может быть отрицательным.</a:t>
            </a:r>
          </a:p>
          <a:p>
            <a:r>
              <a:rPr lang="ru-RU" b="1" dirty="0"/>
              <a:t>Алгоритм поиска A* </a:t>
            </a:r>
            <a:r>
              <a:rPr lang="ru-RU" dirty="0"/>
              <a:t>находит маршрут с наименьшей стоимостью от одной вершины (начальной) к другой (целевой, конечной), используя алгоритм поиска по первому наилучшему совпадению на графе.</a:t>
            </a:r>
          </a:p>
          <a:p>
            <a:r>
              <a:rPr lang="ru-RU" b="1" dirty="0"/>
              <a:t>Алгоритм Флойда — </a:t>
            </a:r>
            <a:r>
              <a:rPr lang="ru-RU" b="1" dirty="0" err="1"/>
              <a:t>Уоршелла</a:t>
            </a:r>
            <a:r>
              <a:rPr lang="ru-RU" b="1" dirty="0"/>
              <a:t> </a:t>
            </a:r>
            <a:r>
              <a:rPr lang="ru-RU" dirty="0"/>
              <a:t>находит кратчайшие пути между всеми вершинами взвешенного ориентированного графа.</a:t>
            </a:r>
          </a:p>
          <a:p>
            <a:r>
              <a:rPr lang="ru-RU" b="1" dirty="0"/>
              <a:t>Алгоритм Джонсона </a:t>
            </a:r>
            <a:r>
              <a:rPr lang="ru-RU" dirty="0"/>
              <a:t>находит кратчайшие пути между всеми парами вершин взвешенного ориентированного графа.</a:t>
            </a:r>
          </a:p>
          <a:p>
            <a:r>
              <a:rPr lang="ru-RU" b="1" dirty="0"/>
              <a:t>Алгоритм Ли (волновой алгоритм) - н</a:t>
            </a:r>
            <a:r>
              <a:rPr lang="ru-RU" dirty="0"/>
              <a:t>аходит путь между вершинами s и t графа (s не совпадает с t), содержащий минимальное количество промежуточных вершин (рёбер). Основное применение — трассировки электрических соединений на кристаллах микросхем и на печатных платах. Также используется для поиска кратчайшего расстояния на карте в стратегических играх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745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16C16-8EA9-4896-A132-32D4A548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78047"/>
          </a:xfrm>
        </p:spPr>
        <p:txBody>
          <a:bodyPr/>
          <a:lstStyle/>
          <a:p>
            <a:r>
              <a:rPr lang="ru-RU" dirty="0"/>
              <a:t>Области применения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CDC02-23BE-4F51-A905-38FF94A45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41557"/>
          </a:xfrm>
        </p:spPr>
        <p:txBody>
          <a:bodyPr/>
          <a:lstStyle/>
          <a:p>
            <a:r>
              <a:rPr lang="ru-RU" dirty="0"/>
              <a:t>Неориентированные графы: Социальные сети; отношения в коллективе</a:t>
            </a:r>
          </a:p>
          <a:p>
            <a:r>
              <a:rPr lang="ru-RU" dirty="0"/>
              <a:t>Ориентированные графы: маршруты, логистика, </a:t>
            </a:r>
            <a:r>
              <a:rPr lang="en-US" dirty="0"/>
              <a:t>customer journey</a:t>
            </a:r>
            <a:r>
              <a:rPr lang="ru-RU" dirty="0"/>
              <a:t>; распространение информации.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3341F-94CF-4DDD-B07E-D4E59DE95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8993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611224" cy="836950"/>
          </a:xfrm>
        </p:spPr>
        <p:txBody>
          <a:bodyPr>
            <a:normAutofit/>
          </a:bodyPr>
          <a:lstStyle/>
          <a:p>
            <a:r>
              <a:rPr lang="ru-RU" dirty="0"/>
              <a:t>Социальный граф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12" y="1389145"/>
            <a:ext cx="7886700" cy="3480806"/>
          </a:xfrm>
        </p:spPr>
        <p:txBody>
          <a:bodyPr>
            <a:normAutofit lnSpcReduction="10000"/>
          </a:bodyPr>
          <a:lstStyle/>
          <a:p>
            <a:r>
              <a:rPr lang="ru-RU" b="1" dirty="0" err="1"/>
              <a:t>Социа́льный</a:t>
            </a:r>
            <a:r>
              <a:rPr lang="ru-RU" b="1" dirty="0"/>
              <a:t> граф </a:t>
            </a:r>
            <a:r>
              <a:rPr lang="ru-RU" dirty="0"/>
              <a:t>— граф, узлы которого представлены социальными объектами, такими как пользовательские профили с различными атрибутами (например: имя, день рождения, родной город), сообщества, медиаконтента и так далее, а рёбра — социальными связями между ними.</a:t>
            </a:r>
          </a:p>
          <a:p>
            <a:endParaRPr lang="ru-RU" dirty="0"/>
          </a:p>
          <a:p>
            <a:r>
              <a:rPr lang="ru-RU" b="1" dirty="0"/>
              <a:t>Неявный </a:t>
            </a:r>
            <a:r>
              <a:rPr lang="ru-RU" b="1" dirty="0" err="1"/>
              <a:t>социа́льный</a:t>
            </a:r>
            <a:r>
              <a:rPr lang="ru-RU" b="1" dirty="0"/>
              <a:t> граф </a:t>
            </a:r>
            <a:r>
              <a:rPr lang="ru-RU" dirty="0"/>
              <a:t>— это такой граф, который можно сформировать (вывести, вычислить) на основе взаимодействий пользователя со своими «друзьями» и группами «друзей» в социальной сети. В этом </a:t>
            </a:r>
            <a:r>
              <a:rPr lang="ru-RU" dirty="0" err="1"/>
              <a:t>гра́фе</a:t>
            </a:r>
            <a:r>
              <a:rPr lang="ru-RU" dirty="0"/>
              <a:t> в отличие от обычного социального графа нет явного указания «друзей», то есть нет явных социальных связей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9350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611224" cy="836950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параметры социального графа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12" y="1520574"/>
            <a:ext cx="7886700" cy="4458985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 err="1"/>
              <a:t>Гомофилия</a:t>
            </a:r>
            <a:r>
              <a:rPr lang="ru-RU" dirty="0"/>
              <a:t> — степень, в которой пользователь образует связи с подобными. Сходство может быть определено по полу, возрасту, общественному положению, образовательному уровню и т.д.</a:t>
            </a:r>
          </a:p>
          <a:p>
            <a:r>
              <a:rPr lang="ru-RU" b="1" dirty="0"/>
              <a:t>Множественность</a:t>
            </a:r>
            <a:r>
              <a:rPr lang="ru-RU" dirty="0"/>
              <a:t> (или сила связи) — число «множественных» связей, в которых находятся пользователи. Например, два пользователя, которые дружат и работают вместе, будут иметь «множественность», равную 2.</a:t>
            </a:r>
          </a:p>
          <a:p>
            <a:r>
              <a:rPr lang="ru-RU" b="1" dirty="0"/>
              <a:t>Взаимность</a:t>
            </a:r>
            <a:r>
              <a:rPr lang="ru-RU" dirty="0"/>
              <a:t> — степень, в которой пользователи взаимодействуют между собой, отвечают взаимностью на действия друг друга. </a:t>
            </a:r>
          </a:p>
          <a:p>
            <a:r>
              <a:rPr lang="ru-RU" b="1" dirty="0"/>
              <a:t>Сетевая закрытость или Кластеризация </a:t>
            </a:r>
            <a:r>
              <a:rPr lang="ru-RU" dirty="0"/>
              <a:t>— степень, в которой друзья пользователя являются друзьями друг другу (Коэффициент кластеризации показывает, насколько сильно вершины склонны образовывать группы (или сообщества), которые характеризуются тем, что вершины, входящие в одну группу, соединены между собой гораздо плотнее, чем со всем остальным графом).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9826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97EC-840B-46CC-98AE-6F682ED29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71" y="418861"/>
            <a:ext cx="7886700" cy="87804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Пример. </a:t>
            </a:r>
            <a:br>
              <a:rPr lang="ru-RU" dirty="0"/>
            </a:br>
            <a:r>
              <a:rPr lang="ru-RU" dirty="0"/>
              <a:t>Задача о </a:t>
            </a:r>
            <a:r>
              <a:rPr lang="ru-RU" dirty="0" err="1"/>
              <a:t>Кенигсбрегских</a:t>
            </a:r>
            <a:r>
              <a:rPr lang="ru-RU" dirty="0"/>
              <a:t> мостах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0CF2C-1A1A-4EFD-AC92-B91037733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38" y="1825625"/>
            <a:ext cx="7775611" cy="2088829"/>
          </a:xfrm>
        </p:spPr>
        <p:txBody>
          <a:bodyPr/>
          <a:lstStyle/>
          <a:p>
            <a:r>
              <a:rPr lang="ru-RU" dirty="0"/>
              <a:t>работа о "задаче с Кёнигсбергскими мостами" (1736 г.), автором которой является выдающийся математик 18-го века Леонард Эйлер. В задаче даны река, острова, которые омываются этой рекой, и несколько мостов. Вопрос задачи: возможно ли, выйдя из некоторого пункта, пройти каждый мост только по одному разу и вернуться в начальный пункт?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52BD0-1276-4E86-9A30-A9B8679F7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99E6D4-593F-4924-B5B6-69413ADFD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80" y="4436902"/>
            <a:ext cx="2792257" cy="22845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232424-19CE-4F94-B163-DC5E94797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821" y="4436902"/>
            <a:ext cx="2792257" cy="22845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5C70C7-8E8F-4915-BAA6-C6E46A6160A1}"/>
              </a:ext>
            </a:extLst>
          </p:cNvPr>
          <p:cNvSpPr txBox="1"/>
          <p:nvPr/>
        </p:nvSpPr>
        <p:spPr>
          <a:xfrm>
            <a:off x="3948654" y="4786691"/>
            <a:ext cx="7360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/>
              <a:t>?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040629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3CDC-D9A7-447E-B590-FB7EEB400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</a:t>
            </a:r>
            <a:br>
              <a:rPr lang="ru-RU" dirty="0"/>
            </a:br>
            <a:r>
              <a:rPr lang="ru-RU" dirty="0"/>
              <a:t>Задача о кратчайшем пути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E203A-32A7-4D29-9ECB-8C5FCE5EB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681" y="5031162"/>
            <a:ext cx="7886700" cy="1061413"/>
          </a:xfrm>
        </p:spPr>
        <p:txBody>
          <a:bodyPr/>
          <a:lstStyle/>
          <a:p>
            <a:r>
              <a:rPr lang="ru-RU" dirty="0" err="1"/>
              <a:t>Что,по</a:t>
            </a:r>
            <a:r>
              <a:rPr lang="ru-RU" dirty="0"/>
              <a:t>-вашему мнению, может отражать этот граф?</a:t>
            </a:r>
          </a:p>
          <a:p>
            <a:r>
              <a:rPr lang="ru-RU" dirty="0"/>
              <a:t>Жду Ваши варианты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AE08D-6CC2-4EE2-96C3-88271F9323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12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AD1FF-B562-43BE-964A-1AE7CFE87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948" y="1910993"/>
            <a:ext cx="5372544" cy="25947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74271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1FE4-E2F7-4C31-8251-F363A239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67773"/>
          </a:xfrm>
        </p:spPr>
        <p:txBody>
          <a:bodyPr/>
          <a:lstStyle/>
          <a:p>
            <a:r>
              <a:rPr lang="ru-RU" dirty="0"/>
              <a:t>Ответы участников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12F05-A74C-4AC4-88F9-A169C6C60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00322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E1A0D-A6EF-4315-80E4-641D2D06E9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4816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FF66-9E17-4080-9723-1402BCBF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36950"/>
          </a:xfrm>
        </p:spPr>
        <p:txBody>
          <a:bodyPr/>
          <a:lstStyle/>
          <a:p>
            <a:r>
              <a:rPr lang="ru-RU" dirty="0"/>
              <a:t>Нечеткие множества и логики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30961-D3C5-464C-B921-B95951C828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14</a:t>
            </a:fld>
            <a:endParaRPr lang="ru-RU" dirty="0"/>
          </a:p>
        </p:txBody>
      </p:sp>
      <p:pic>
        <p:nvPicPr>
          <p:cNvPr id="11" name="Content Placeholder 10" descr="A picture containing room, drawing, clock&#10;&#10;Description automatically generated">
            <a:extLst>
              <a:ext uri="{FF2B5EF4-FFF2-40B4-BE49-F238E27FC236}">
                <a16:creationId xmlns:a16="http://schemas.microsoft.com/office/drawing/2014/main" id="{090071B4-AB22-4AAA-834F-382719C23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38999" y="1449340"/>
            <a:ext cx="6501615" cy="3250808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481BFC1-5F7D-4BAA-8A60-19983535F9FB}"/>
              </a:ext>
            </a:extLst>
          </p:cNvPr>
          <p:cNvSpPr/>
          <p:nvPr/>
        </p:nvSpPr>
        <p:spPr>
          <a:xfrm>
            <a:off x="1407316" y="4944439"/>
            <a:ext cx="64937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>
                <a:ln/>
                <a:solidFill>
                  <a:schemeClr val="accent3"/>
                </a:solidFill>
                <a:effectLst/>
              </a:rPr>
              <a:t>Вам понравилось?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35621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160F-80CD-480A-BB23-122D85C08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32159"/>
          </a:xfrm>
        </p:spPr>
        <p:txBody>
          <a:bodyPr/>
          <a:lstStyle/>
          <a:p>
            <a:r>
              <a:rPr lang="ru-RU" dirty="0"/>
              <a:t>Нечеткая переменная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C2963-AD39-41CA-9EB2-79734DCFE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655" y="1589320"/>
            <a:ext cx="8340689" cy="599076"/>
          </a:xfrm>
        </p:spPr>
        <p:txBody>
          <a:bodyPr/>
          <a:lstStyle/>
          <a:p>
            <a:r>
              <a:rPr lang="ru-RU" dirty="0"/>
              <a:t>Одновременно с разной степенью входит в несколько множеств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64041-CCB8-4695-BDB0-C190377EB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D5195-40F2-4406-8413-56DB64D78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91" y="2640458"/>
            <a:ext cx="5599827" cy="308396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77805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5D2B-A4DF-43FF-9237-66690C0AD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44" y="241837"/>
            <a:ext cx="8135206" cy="1083530"/>
          </a:xfrm>
        </p:spPr>
        <p:txBody>
          <a:bodyPr>
            <a:normAutofit fontScale="90000"/>
          </a:bodyPr>
          <a:lstStyle/>
          <a:p>
            <a:r>
              <a:rPr lang="ru-RU" dirty="0"/>
              <a:t>Достоинства и </a:t>
            </a:r>
            <a:br>
              <a:rPr lang="ru-RU" dirty="0"/>
            </a:br>
            <a:r>
              <a:rPr lang="ru-RU" dirty="0"/>
              <a:t>области применения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C592A-8A09-4C31-B3AE-D3926098E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97" y="1665190"/>
            <a:ext cx="7886700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возможность оперировать входными данными, заданными нечетко: например, непрерывно изменяющиеся во времени значения (динамические задачи), значения, которые невозможно задать однозначно (результаты статистических опросов, рекламные компании и т.д.);</a:t>
            </a:r>
          </a:p>
          <a:p>
            <a:r>
              <a:rPr lang="ru-RU" dirty="0"/>
              <a:t>возможность нечеткой формализации критериев оценки и сравнения: оперирование критериями "большинство", "возможно", предпочтительно" и т.д.;</a:t>
            </a:r>
          </a:p>
          <a:p>
            <a:r>
              <a:rPr lang="ru-RU" dirty="0"/>
              <a:t>возможность проведения качественных оценок как входных данных, так и выводимых результатов: вы оперируете не только собственно значениями данных, но их степенью достоверности (не путать с вероятностью!) и ее распределением;</a:t>
            </a:r>
          </a:p>
          <a:p>
            <a:r>
              <a:rPr lang="ru-RU" dirty="0"/>
              <a:t>возможность проведения быстрого моделирования сложных динамических систем и их сравнительный анализ с заданной степенью точности: оперируя принципами поведения системы, описанными </a:t>
            </a:r>
            <a:r>
              <a:rPr lang="ru-RU" dirty="0" err="1"/>
              <a:t>fuzzy</a:t>
            </a:r>
            <a:r>
              <a:rPr lang="ru-RU" dirty="0"/>
              <a:t>-методами, вы во-первых, не тратите много времени на выяснение точных значений переменных и составление уравнений, которые их описывают, во-вторых, можете оценить разные варианты выходных значений.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28533-15E9-41F1-8C5C-03E23B15DE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4846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5BBC-8DEE-43C1-A03B-5C23D9760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60" y="253341"/>
            <a:ext cx="7886700" cy="983562"/>
          </a:xfrm>
        </p:spPr>
        <p:txBody>
          <a:bodyPr>
            <a:normAutofit fontScale="90000"/>
          </a:bodyPr>
          <a:lstStyle/>
          <a:p>
            <a:r>
              <a:rPr lang="ru-RU"/>
              <a:t>Оперирует бытовыми понятиями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A062B-1F97-44B6-A7DC-59C908740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8D517-FE23-47D8-A93C-0F57C857E2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17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53C48-D792-448E-8A8D-4194D0459D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921" t="21885" r="25393" b="36567"/>
          <a:stretch/>
        </p:blipFill>
        <p:spPr>
          <a:xfrm>
            <a:off x="789070" y="1416291"/>
            <a:ext cx="6697580" cy="49400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88789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7835" y="200740"/>
            <a:ext cx="7886700" cy="472218"/>
          </a:xfrm>
        </p:spPr>
        <p:txBody>
          <a:bodyPr>
            <a:normAutofit fontScale="90000"/>
          </a:bodyPr>
          <a:lstStyle/>
          <a:p>
            <a:r>
              <a:rPr lang="ru-RU" altLang="ru-RU" dirty="0"/>
              <a:t>Программа курса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18</a:t>
            </a:fld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4EDB8F7-6DD7-4409-BFC5-E5AC2707A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777557"/>
              </p:ext>
            </p:extLst>
          </p:nvPr>
        </p:nvGraphicFramePr>
        <p:xfrm>
          <a:off x="527835" y="950495"/>
          <a:ext cx="7521291" cy="50652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18474">
                  <a:extLst>
                    <a:ext uri="{9D8B030D-6E8A-4147-A177-3AD203B41FA5}">
                      <a16:colId xmlns:a16="http://schemas.microsoft.com/office/drawing/2014/main" val="1277948483"/>
                    </a:ext>
                  </a:extLst>
                </a:gridCol>
                <a:gridCol w="1602817">
                  <a:extLst>
                    <a:ext uri="{9D8B030D-6E8A-4147-A177-3AD203B41FA5}">
                      <a16:colId xmlns:a16="http://schemas.microsoft.com/office/drawing/2014/main" val="3432168885"/>
                    </a:ext>
                  </a:extLst>
                </a:gridCol>
              </a:tblGrid>
              <a:tr h="5962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Наименование модулей по программе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Всего </a:t>
                      </a:r>
                      <a:r>
                        <a:rPr lang="ru-RU" sz="1200" dirty="0" err="1">
                          <a:effectLst/>
                        </a:rPr>
                        <a:t>ауд.ч</a:t>
                      </a:r>
                      <a:r>
                        <a:rPr lang="ru-RU" sz="1200" dirty="0">
                          <a:effectLst/>
                        </a:rPr>
                        <a:t> –выводим на сайт.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extLst>
                  <a:ext uri="{0D108BD9-81ED-4DB2-BD59-A6C34878D82A}">
                    <a16:rowId xmlns:a16="http://schemas.microsoft.com/office/drawing/2014/main" val="2952253114"/>
                  </a:ext>
                </a:extLst>
              </a:tr>
              <a:tr h="4462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Модуль 1. Введение в теорию графов. Основные понятия и область применения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extLst>
                  <a:ext uri="{0D108BD9-81ED-4DB2-BD59-A6C34878D82A}">
                    <a16:rowId xmlns:a16="http://schemas.microsoft.com/office/drawing/2014/main" val="210213123"/>
                  </a:ext>
                </a:extLst>
              </a:tr>
              <a:tr h="891077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Модуль 2. Ориентированные, неориентированные графы.</a:t>
                      </a:r>
                    </a:p>
                    <a:p>
                      <a:r>
                        <a:rPr lang="ru-RU" sz="1200" dirty="0">
                          <a:effectLst/>
                        </a:rPr>
                        <a:t>Задача поиска в соцсетях. </a:t>
                      </a:r>
                    </a:p>
                    <a:p>
                      <a:r>
                        <a:rPr lang="ru-RU" sz="1200" dirty="0">
                          <a:effectLst/>
                        </a:rPr>
                        <a:t>Задача поиска маршрута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4</a:t>
                      </a:r>
                      <a:endParaRPr lang="ru-RU" sz="1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extLst>
                  <a:ext uri="{0D108BD9-81ED-4DB2-BD59-A6C34878D82A}">
                    <a16:rowId xmlns:a16="http://schemas.microsoft.com/office/drawing/2014/main" val="745710023"/>
                  </a:ext>
                </a:extLst>
              </a:tr>
              <a:tr h="9070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Модуль 3. Характеристики графа.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 Планарные графы. Задача о четырех красках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6</a:t>
                      </a:r>
                      <a:endParaRPr lang="ru-RU" sz="1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extLst>
                  <a:ext uri="{0D108BD9-81ED-4DB2-BD59-A6C34878D82A}">
                    <a16:rowId xmlns:a16="http://schemas.microsoft.com/office/drawing/2014/main" val="369460679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Модуль 4. Нечеткие или лингвистические переменные. Понятие нечетких множеств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</a:t>
                      </a:r>
                      <a:endParaRPr lang="ru-RU" sz="1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extLst>
                  <a:ext uri="{0D108BD9-81ED-4DB2-BD59-A6C34878D82A}">
                    <a16:rowId xmlns:a16="http://schemas.microsoft.com/office/drawing/2014/main" val="4078319659"/>
                  </a:ext>
                </a:extLst>
              </a:tr>
              <a:tr h="7523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Модуль 5. Нечеткие отношения и высказывания. Операции над нечеткими переменными и множествами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5</a:t>
                      </a:r>
                      <a:endParaRPr lang="ru-RU" sz="1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extLst>
                  <a:ext uri="{0D108BD9-81ED-4DB2-BD59-A6C34878D82A}">
                    <a16:rowId xmlns:a16="http://schemas.microsoft.com/office/drawing/2014/main" val="1906275801"/>
                  </a:ext>
                </a:extLst>
              </a:tr>
              <a:tr h="7523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Модуль 6. Логико-лингвистические описания систем. Примеры построения нечетких моделей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4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extLst>
                  <a:ext uri="{0D108BD9-81ED-4DB2-BD59-A6C34878D82A}">
                    <a16:rowId xmlns:a16="http://schemas.microsoft.com/office/drawing/2014/main" val="2260593702"/>
                  </a:ext>
                </a:extLst>
              </a:tr>
              <a:tr h="2231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ИТОГО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24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11" marR="59811" marT="0" marB="0"/>
                </a:tc>
                <a:extLst>
                  <a:ext uri="{0D108BD9-81ED-4DB2-BD59-A6C34878D82A}">
                    <a16:rowId xmlns:a16="http://schemas.microsoft.com/office/drawing/2014/main" val="1151228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89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6580" y="176553"/>
            <a:ext cx="8422883" cy="664860"/>
          </a:xfrm>
        </p:spPr>
        <p:txBody>
          <a:bodyPr/>
          <a:lstStyle/>
          <a:p>
            <a:r>
              <a:rPr lang="ru-RU" dirty="0"/>
              <a:t>Слушатели по окончании курса: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914401"/>
            <a:ext cx="7886700" cy="50365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По окончании курса Вы будете знать:</a:t>
            </a:r>
          </a:p>
          <a:p>
            <a:r>
              <a:rPr lang="ru-RU" dirty="0"/>
              <a:t>1.	Основные понятия теории графов:</a:t>
            </a:r>
          </a:p>
          <a:p>
            <a:pPr lvl="1"/>
            <a:r>
              <a:rPr lang="ru-RU" dirty="0"/>
              <a:t>a.	Вершины и ребра</a:t>
            </a:r>
          </a:p>
          <a:p>
            <a:pPr lvl="1"/>
            <a:r>
              <a:rPr lang="ru-RU" dirty="0"/>
              <a:t>b.	Ориентированные и неориентированные графы</a:t>
            </a:r>
          </a:p>
          <a:p>
            <a:pPr lvl="1"/>
            <a:r>
              <a:rPr lang="ru-RU" dirty="0"/>
              <a:t>c.	Детерминированные и стохастические графы</a:t>
            </a:r>
          </a:p>
          <a:p>
            <a:pPr lvl="1"/>
            <a:r>
              <a:rPr lang="ru-RU" dirty="0"/>
              <a:t>d.	Веса вершин и ребер</a:t>
            </a:r>
          </a:p>
          <a:p>
            <a:r>
              <a:rPr lang="ru-RU" dirty="0"/>
              <a:t>2.	Типовые задачи. Решаемые с применением анализа на графах</a:t>
            </a:r>
          </a:p>
          <a:p>
            <a:pPr lvl="1"/>
            <a:r>
              <a:rPr lang="ru-RU" dirty="0"/>
              <a:t>a.	Нахождение связности в графах социальных сетей</a:t>
            </a:r>
          </a:p>
          <a:p>
            <a:pPr lvl="1"/>
            <a:r>
              <a:rPr lang="ru-RU" dirty="0"/>
              <a:t>b.	Нахождение оптимального маршрута</a:t>
            </a:r>
          </a:p>
          <a:p>
            <a:r>
              <a:rPr lang="ru-RU" dirty="0"/>
              <a:t>3.	Основные понятия нечетких логик</a:t>
            </a:r>
          </a:p>
          <a:p>
            <a:pPr lvl="1"/>
            <a:r>
              <a:rPr lang="ru-RU" dirty="0"/>
              <a:t>a.	Лингвистическая переменная</a:t>
            </a:r>
          </a:p>
          <a:p>
            <a:pPr lvl="1"/>
            <a:r>
              <a:rPr lang="ru-RU" dirty="0"/>
              <a:t>b.	Нечеткое множество</a:t>
            </a:r>
          </a:p>
          <a:p>
            <a:pPr lvl="1"/>
            <a:r>
              <a:rPr lang="ru-RU" dirty="0"/>
              <a:t>c.	Нечеткие отношения</a:t>
            </a:r>
          </a:p>
          <a:p>
            <a:r>
              <a:rPr lang="ru-RU" dirty="0"/>
              <a:t>4.	Порядок формирования нечетких моделей и их преобразования</a:t>
            </a:r>
          </a:p>
          <a:p>
            <a:pPr lvl="1"/>
            <a:r>
              <a:rPr lang="ru-RU" dirty="0"/>
              <a:t>a.	Операции импликации и композиции над нечеткими множествами</a:t>
            </a:r>
          </a:p>
          <a:p>
            <a:pPr lvl="1"/>
            <a:r>
              <a:rPr lang="ru-RU" dirty="0"/>
              <a:t>b.	Построение логико-лингвистической модели</a:t>
            </a:r>
          </a:p>
          <a:p>
            <a:pPr lvl="1"/>
            <a:r>
              <a:rPr lang="ru-RU" dirty="0"/>
              <a:t>c.	Анализ нечеткой модели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8714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20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79" y="284252"/>
            <a:ext cx="8588542" cy="6072099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9B09270-457C-40AB-ADC9-CBE64991FF77}"/>
              </a:ext>
            </a:extLst>
          </p:cNvPr>
          <p:cNvSpPr/>
          <p:nvPr/>
        </p:nvSpPr>
        <p:spPr>
          <a:xfrm>
            <a:off x="-717383" y="2039015"/>
            <a:ext cx="1434766" cy="5959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ГРАФЛОГ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530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67062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Специалиста+слайды</Template>
  <TotalTime>1678</TotalTime>
  <Words>1109</Words>
  <Application>Microsoft Office PowerPoint</Application>
  <PresentationFormat>Экран (4:3)</PresentationFormat>
  <Paragraphs>124</Paragraphs>
  <Slides>21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Myriad Pro</vt:lpstr>
      <vt:lpstr>Times New Roman</vt:lpstr>
      <vt:lpstr>Тема Office</vt:lpstr>
      <vt:lpstr>Основы графов и нечетких логик  для анализа больших данных</vt:lpstr>
      <vt:lpstr>О курсе</vt:lpstr>
      <vt:lpstr>Преподаватели по курсу</vt:lpstr>
      <vt:lpstr>Целевая аудитория курса</vt:lpstr>
      <vt:lpstr>Что такое граф</vt:lpstr>
      <vt:lpstr>Графы ориентированные и неориентированные</vt:lpstr>
      <vt:lpstr>Общий обзор алгоритмов</vt:lpstr>
      <vt:lpstr>Области применения</vt:lpstr>
      <vt:lpstr>Социальный граф</vt:lpstr>
      <vt:lpstr>Основные параметры социального графа (2)</vt:lpstr>
      <vt:lpstr>Пример.  Задача о Кенигсбрегских мостах</vt:lpstr>
      <vt:lpstr>Пример. Задача о кратчайшем пути</vt:lpstr>
      <vt:lpstr>Ответы участников</vt:lpstr>
      <vt:lpstr>Нечеткие множества и логики</vt:lpstr>
      <vt:lpstr>Нечеткая переменная</vt:lpstr>
      <vt:lpstr>Достоинства и  области применения</vt:lpstr>
      <vt:lpstr>Оперирует бытовыми понятиями</vt:lpstr>
      <vt:lpstr>Программа курса</vt:lpstr>
      <vt:lpstr>Слушатели по окончании курса: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Учет ИТ-имущества (Управление ИТ-активами)</dc:title>
  <dc:creator>Meier</dc:creator>
  <cp:lastModifiedBy>Николай</cp:lastModifiedBy>
  <cp:revision>170</cp:revision>
  <dcterms:created xsi:type="dcterms:W3CDTF">2016-03-20T10:19:59Z</dcterms:created>
  <dcterms:modified xsi:type="dcterms:W3CDTF">2020-01-14T14:35:49Z</dcterms:modified>
</cp:coreProperties>
</file>