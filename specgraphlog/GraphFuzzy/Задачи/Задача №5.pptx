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538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109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D867-A27F-4965-8F68-771355C6385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D7BC-2850-415D-9812-FD3F71A8E9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995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D867-A27F-4965-8F68-771355C6385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D7BC-2850-415D-9812-FD3F71A8E9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421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D867-A27F-4965-8F68-771355C6385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D7BC-2850-415D-9812-FD3F71A8E9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673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D867-A27F-4965-8F68-771355C6385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D7BC-2850-415D-9812-FD3F71A8E9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33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D867-A27F-4965-8F68-771355C6385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D7BC-2850-415D-9812-FD3F71A8E9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704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D867-A27F-4965-8F68-771355C6385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D7BC-2850-415D-9812-FD3F71A8E9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7644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D867-A27F-4965-8F68-771355C6385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D7BC-2850-415D-9812-FD3F71A8E9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711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D867-A27F-4965-8F68-771355C6385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D7BC-2850-415D-9812-FD3F71A8E9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3425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D867-A27F-4965-8F68-771355C6385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D7BC-2850-415D-9812-FD3F71A8E9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3709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D867-A27F-4965-8F68-771355C6385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D7BC-2850-415D-9812-FD3F71A8E9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517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D867-A27F-4965-8F68-771355C6385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AD7BC-2850-415D-9812-FD3F71A8E9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9217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000" y="4095784"/>
            <a:ext cx="7920000" cy="810000"/>
          </a:xfrm>
        </p:spPr>
        <p:txBody>
          <a:bodyPr anchor="b">
            <a:normAutofit/>
          </a:bodyPr>
          <a:lstStyle>
            <a:lvl1pPr algn="ctr">
              <a:defRPr sz="25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000366"/>
            <a:ext cx="6858000" cy="45514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610" y="2635556"/>
            <a:ext cx="6198781" cy="1586888"/>
          </a:xfrm>
          <a:prstGeom prst="rect">
            <a:avLst/>
          </a:prstGeom>
        </p:spPr>
      </p:pic>
      <p:sp>
        <p:nvSpPr>
          <p:cNvPr id="10" name="Нижний колонтитул 3"/>
          <p:cNvSpPr>
            <a:spLocks noGrp="1"/>
          </p:cNvSpPr>
          <p:nvPr userDrawn="1"/>
        </p:nvSpPr>
        <p:spPr>
          <a:xfrm>
            <a:off x="3028950" y="6484254"/>
            <a:ext cx="308610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yriad Pro" pitchFamily="34" charset="0"/>
                <a:ea typeface="+mn-ea"/>
                <a:cs typeface="+mn-cs"/>
              </a:rPr>
              <a:t>www.specialist.ru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Myriad Pro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3442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63451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под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57657"/>
            <a:ext cx="7886700" cy="37193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>
          <a:xfrm>
            <a:off x="628650" y="1804173"/>
            <a:ext cx="7886700" cy="540000"/>
          </a:xfr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48389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936" y="222223"/>
            <a:ext cx="3882831" cy="315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0648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71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853513"/>
            <a:ext cx="3868340" cy="651561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853513"/>
            <a:ext cx="3887391" cy="6515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5821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08453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83678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18293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44907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прос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81034" y="1352550"/>
            <a:ext cx="4829393" cy="4688212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 userDrawn="1"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7837111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след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86" y="2943329"/>
            <a:ext cx="3882831" cy="3151371"/>
          </a:xfrm>
          <a:prstGeom prst="rect">
            <a:avLst/>
          </a:prstGeom>
        </p:spPr>
      </p:pic>
      <p:sp>
        <p:nvSpPr>
          <p:cNvPr id="16" name="Прямоугольник 15"/>
          <p:cNvSpPr/>
          <p:nvPr userDrawn="1"/>
        </p:nvSpPr>
        <p:spPr>
          <a:xfrm>
            <a:off x="845245" y="2946605"/>
            <a:ext cx="18144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info@specialist.ru</a:t>
            </a:r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45245" y="3288435"/>
            <a:ext cx="19014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+7 (495) 232-32-16</a:t>
            </a:r>
          </a:p>
        </p:txBody>
      </p:sp>
      <p:sp>
        <p:nvSpPr>
          <p:cNvPr id="18" name="Заголовок 1"/>
          <p:cNvSpPr txBox="1">
            <a:spLocks/>
          </p:cNvSpPr>
          <p:nvPr userDrawn="1"/>
        </p:nvSpPr>
        <p:spPr>
          <a:xfrm>
            <a:off x="628650" y="410159"/>
            <a:ext cx="7886700" cy="22201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Выбирайте Центр </a:t>
            </a:r>
            <a:b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</a:br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«Специалист» – ведущего поставщика образовательных услуг в России! </a:t>
            </a:r>
          </a:p>
        </p:txBody>
      </p:sp>
    </p:spTree>
    <p:extLst>
      <p:ext uri="{BB962C8B-B14F-4D97-AF65-F5344CB8AC3E}">
        <p14:creationId xmlns:p14="http://schemas.microsoft.com/office/powerpoint/2010/main" val="1115161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hyperlink" Target="http://www.specialist.ru/" TargetMode="Externa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8D867-A27F-4965-8F68-771355C6385C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AD7BC-2850-415D-9812-FD3F71A8E9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372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353" y="6380054"/>
            <a:ext cx="2169997" cy="292584"/>
          </a:xfrm>
          <a:prstGeom prst="rect">
            <a:avLst/>
          </a:prstGeom>
        </p:spPr>
      </p:pic>
      <p:pic>
        <p:nvPicPr>
          <p:cNvPr id="9" name="Объект 7"/>
          <p:cNvPicPr>
            <a:picLocks noGrp="1"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6189230"/>
            <a:ext cx="2029749" cy="48340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Нижний колонтитул 2">
            <a:hlinkClick r:id="rId16"/>
          </p:cNvPr>
          <p:cNvSpPr>
            <a:spLocks noGrp="1"/>
          </p:cNvSpPr>
          <p:nvPr userDrawn="1"/>
        </p:nvSpPr>
        <p:spPr>
          <a:xfrm>
            <a:off x="6612410" y="6339473"/>
            <a:ext cx="190294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chemeClr val="bg1"/>
                </a:solidFill>
                <a:latin typeface="Myriad Pro" panose="020B0503030403020204" pitchFamily="34" charset="0"/>
              </a:rPr>
              <a:t>www.specialist.ru</a:t>
            </a:r>
            <a:endParaRPr lang="ru-RU" b="1" dirty="0">
              <a:solidFill>
                <a:schemeClr val="bg1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636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2E75B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7"/>
        </a:buBlip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5E8EE-57E4-4CD5-B515-FF659B88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2287457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Задача. Построить дерево отбора максимального по стоимости числа вещей в рюкзак методом ветвей и границ стоимостью не более 6</a:t>
            </a:r>
            <a:r>
              <a:rPr lang="en-US" dirty="0"/>
              <a:t>0</a:t>
            </a:r>
            <a:r>
              <a:rPr lang="ru-RU" dirty="0"/>
              <a:t>00 ед.</a:t>
            </a:r>
            <a:r>
              <a:rPr lang="en-US"/>
              <a:t> </a:t>
            </a:r>
            <a:endParaRPr lang="ru-RU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A73652B-F2B6-43E1-9A3F-70F47694734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340060" y="2939854"/>
          <a:ext cx="3383178" cy="2413932"/>
        </p:xfrm>
        <a:graphic>
          <a:graphicData uri="http://schemas.openxmlformats.org/drawingml/2006/table">
            <a:tbl>
              <a:tblPr/>
              <a:tblGrid>
                <a:gridCol w="1691589">
                  <a:extLst>
                    <a:ext uri="{9D8B030D-6E8A-4147-A177-3AD203B41FA5}">
                      <a16:colId xmlns:a16="http://schemas.microsoft.com/office/drawing/2014/main" val="2901017972"/>
                    </a:ext>
                  </a:extLst>
                </a:gridCol>
                <a:gridCol w="1691589">
                  <a:extLst>
                    <a:ext uri="{9D8B030D-6E8A-4147-A177-3AD203B41FA5}">
                      <a16:colId xmlns:a16="http://schemas.microsoft.com/office/drawing/2014/main" val="4237515797"/>
                    </a:ext>
                  </a:extLst>
                </a:gridCol>
              </a:tblGrid>
              <a:tr h="402322">
                <a:tc>
                  <a:txBody>
                    <a:bodyPr/>
                    <a:lstStyle/>
                    <a:p>
                      <a:pPr algn="l" fontAlgn="base"/>
                      <a:r>
                        <a:rPr lang="ru-RU" b="1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Название</a:t>
                      </a:r>
                    </a:p>
                  </a:txBody>
                  <a:tcPr marL="91631" marR="91631" marT="30480" marB="30480" anchor="ctr">
                    <a:lnL>
                      <a:noFill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1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Стоимость. Ед.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508868"/>
                  </a:ext>
                </a:extLst>
              </a:tr>
              <a:tr h="402322"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Книга</a:t>
                      </a:r>
                    </a:p>
                  </a:txBody>
                  <a:tcPr marL="91631" marR="91631" marT="30480" marB="30480" anchor="ctr">
                    <a:lnL>
                      <a:noFill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600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854698"/>
                  </a:ext>
                </a:extLst>
              </a:tr>
              <a:tr h="402322"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Бинокль</a:t>
                      </a:r>
                    </a:p>
                  </a:txBody>
                  <a:tcPr marL="91631" marR="91631" marT="30480" marB="30480" anchor="ctr">
                    <a:lnL>
                      <a:noFill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5000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913757"/>
                  </a:ext>
                </a:extLst>
              </a:tr>
              <a:tr h="402322"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Аптечка</a:t>
                      </a:r>
                    </a:p>
                  </a:txBody>
                  <a:tcPr marL="91631" marR="91631" marT="30480" marB="30480" anchor="ctr">
                    <a:lnL>
                      <a:noFill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1500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897731"/>
                  </a:ext>
                </a:extLst>
              </a:tr>
              <a:tr h="402322"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Ноутбук</a:t>
                      </a:r>
                    </a:p>
                  </a:txBody>
                  <a:tcPr marL="91631" marR="91631" marT="30480" marB="30480" anchor="ctr">
                    <a:lnL>
                      <a:noFill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4000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84930"/>
                  </a:ext>
                </a:extLst>
              </a:tr>
              <a:tr h="402322"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Котелок</a:t>
                      </a:r>
                    </a:p>
                  </a:txBody>
                  <a:tcPr marL="91631" marR="91631" marT="30480" marB="30480" anchor="ctr">
                    <a:lnL>
                      <a:noFill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b="0" dirty="0">
                          <a:solidFill>
                            <a:srgbClr val="666666"/>
                          </a:solidFill>
                          <a:effectLst/>
                          <a:latin typeface="inherit"/>
                        </a:rPr>
                        <a:t> 500</a:t>
                      </a:r>
                    </a:p>
                  </a:txBody>
                  <a:tcPr marL="91631" marR="91631" marT="30480" marB="30480" anchor="ctr">
                    <a:lnL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78397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43AC9-F587-49C6-96E3-768320383D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19AFA1-E01F-4869-9A2C-AE6B64FF572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35543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пециалист">
      <a:dk1>
        <a:sysClr val="windowText" lastClr="000000"/>
      </a:dk1>
      <a:lt1>
        <a:sysClr val="window" lastClr="FFFFFF"/>
      </a:lt1>
      <a:dk2>
        <a:srgbClr val="2E75B6"/>
      </a:dk2>
      <a:lt2>
        <a:srgbClr val="F8F8F8"/>
      </a:lt2>
      <a:accent1>
        <a:srgbClr val="2E75B6"/>
      </a:accent1>
      <a:accent2>
        <a:srgbClr val="B2B2B2"/>
      </a:accent2>
      <a:accent3>
        <a:srgbClr val="ED9127"/>
      </a:accent3>
      <a:accent4>
        <a:srgbClr val="808080"/>
      </a:accent4>
      <a:accent5>
        <a:srgbClr val="5F5F5F"/>
      </a:accent5>
      <a:accent6>
        <a:srgbClr val="4D4D4D"/>
      </a:accent6>
      <a:hlink>
        <a:srgbClr val="2E75B6"/>
      </a:hlink>
      <a:folHlink>
        <a:srgbClr val="919191"/>
      </a:folHlink>
    </a:clrScheme>
    <a:fontScheme name="Новый специалист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Специалиста+слайды.potx" id="{EE134D6A-E010-4715-B6B5-F3A6055365A4}" vid="{E244C147-435B-4493-8FA1-D676FE8E60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52</Words>
  <Application>Microsoft Office PowerPoint</Application>
  <PresentationFormat>On-screen Show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inherit</vt:lpstr>
      <vt:lpstr>Myriad Pro</vt:lpstr>
      <vt:lpstr>Тема Office</vt:lpstr>
      <vt:lpstr>1_Тема Office</vt:lpstr>
      <vt:lpstr>Задача. Построить дерево отбора максимального по стоимости числа вещей в рюкзак методом ветвей и границ стоимостью не более 6000 ед.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Задача. Построить дерево отбора максимального по стоимости числа вещей в рюкзак методом ветвей и границ стоимостью не более 6000 ед. – 11-05</dc:title>
  <dc:creator>Ярослав Сафронов</dc:creator>
  <cp:lastModifiedBy>Динцис Данил Юрьевич</cp:lastModifiedBy>
  <cp:revision>2</cp:revision>
  <dcterms:created xsi:type="dcterms:W3CDTF">2023-07-20T14:12:18Z</dcterms:created>
  <dcterms:modified xsi:type="dcterms:W3CDTF">2023-07-21T07:22:52Z</dcterms:modified>
</cp:coreProperties>
</file>