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49" autoAdjust="0"/>
    <p:restoredTop sz="94687" autoAdjust="0"/>
  </p:normalViewPr>
  <p:slideViewPr>
    <p:cSldViewPr>
      <p:cViewPr varScale="1">
        <p:scale>
          <a:sx n="93" d="100"/>
          <a:sy n="93" d="100"/>
        </p:scale>
        <p:origin x="1560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&#1050;&#1085;&#1080;&#1075;&#1072;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&#1050;&#1085;&#1080;&#1075;&#1072;1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!!&#1056;&#1072;&#1073;&#1086;&#1095;&#1080;&#1077;%20&#1089;&#1090;&#1086;&#1083;&#1099;\&#1056;&#1072;&#1073;%20&#1089;&#1090;&#1086;&#1083;%20&#1086;&#1090;%20W7\Desktop\&#1050;&#1054;&#1056;&#1064;&#1059;&#1053;&#1054;&#1042;&#1040;\&#1071;%20&#1055;&#1056;&#1054;&#1043;&#1056;&#1040;&#1052;&#1052;&#1048;&#1057;&#1058;\&#1054;&#1089;&#1085;&#1086;&#1074;&#1099;%20&#1075;&#1088;&#1072;&#1092;&#1086;&#1074;%20&#1080;%20&#1085;&#1077;&#1095;&#1077;&#1090;&#1082;&#1080;&#1093;%20&#1083;&#1086;&#1075;&#1080;&#1082;\&#1087;&#1088;&#1072;&#1082;&#1090;&#1080;&#1082;&#1072;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!!&#1056;&#1072;&#1073;&#1086;&#1095;&#1080;&#1077;%20&#1089;&#1090;&#1086;&#1083;&#1099;\&#1056;&#1072;&#1073;%20&#1089;&#1090;&#1086;&#1083;%20&#1086;&#1090;%20W7\Desktop\&#1050;&#1054;&#1056;&#1064;&#1059;&#1053;&#1054;&#1042;&#1040;\&#1071;%20&#1055;&#1056;&#1054;&#1043;&#1056;&#1040;&#1052;&#1052;&#1048;&#1057;&#1058;\&#1054;&#1089;&#1085;&#1086;&#1074;&#1099;%20&#1075;&#1088;&#1072;&#1092;&#1086;&#1074;%20&#1080;%20&#1085;&#1077;&#1095;&#1077;&#1090;&#1082;&#1080;&#1093;%20&#1083;&#1086;&#1075;&#1080;&#1082;\&#1087;&#1088;&#1072;&#1082;&#1090;&#1080;&#1082;&#1072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Дешево</c:v>
                </c:pt>
              </c:strCache>
            </c:strRef>
          </c:tx>
          <c:marker>
            <c:symbol val="none"/>
          </c:marker>
          <c:cat>
            <c:numRef>
              <c:f>Лист1!$A$3:$A$27</c:f>
              <c:numCache>
                <c:formatCode>General</c:formatCode>
                <c:ptCount val="2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  <c:pt idx="10">
                  <c:v>11000</c:v>
                </c:pt>
                <c:pt idx="11">
                  <c:v>12000</c:v>
                </c:pt>
                <c:pt idx="12">
                  <c:v>13000</c:v>
                </c:pt>
                <c:pt idx="13">
                  <c:v>14000</c:v>
                </c:pt>
                <c:pt idx="14">
                  <c:v>15000</c:v>
                </c:pt>
                <c:pt idx="15">
                  <c:v>16000</c:v>
                </c:pt>
                <c:pt idx="16">
                  <c:v>17000</c:v>
                </c:pt>
                <c:pt idx="17">
                  <c:v>18000</c:v>
                </c:pt>
                <c:pt idx="18">
                  <c:v>19000</c:v>
                </c:pt>
                <c:pt idx="19">
                  <c:v>20000</c:v>
                </c:pt>
                <c:pt idx="20">
                  <c:v>21000</c:v>
                </c:pt>
                <c:pt idx="21">
                  <c:v>22000</c:v>
                </c:pt>
                <c:pt idx="22">
                  <c:v>23000</c:v>
                </c:pt>
                <c:pt idx="23">
                  <c:v>24000</c:v>
                </c:pt>
                <c:pt idx="24">
                  <c:v>25000</c:v>
                </c:pt>
              </c:numCache>
            </c:numRef>
          </c:cat>
          <c:val>
            <c:numRef>
              <c:f>Лист1!$B$3:$B$27</c:f>
              <c:numCache>
                <c:formatCode>#,##0.00;\-#,##0.00;0</c:formatCode>
                <c:ptCount val="25"/>
                <c:pt idx="0">
                  <c:v>1</c:v>
                </c:pt>
                <c:pt idx="1">
                  <c:v>0.8</c:v>
                </c:pt>
                <c:pt idx="2">
                  <c:v>0.4</c:v>
                </c:pt>
                <c:pt idx="3">
                  <c:v>0.2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BB-4D38-957C-F0C426949BF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Средне</c:v>
                </c:pt>
              </c:strCache>
            </c:strRef>
          </c:tx>
          <c:marker>
            <c:symbol val="none"/>
          </c:marker>
          <c:cat>
            <c:numRef>
              <c:f>Лист1!$A$3:$A$27</c:f>
              <c:numCache>
                <c:formatCode>General</c:formatCode>
                <c:ptCount val="2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  <c:pt idx="10">
                  <c:v>11000</c:v>
                </c:pt>
                <c:pt idx="11">
                  <c:v>12000</c:v>
                </c:pt>
                <c:pt idx="12">
                  <c:v>13000</c:v>
                </c:pt>
                <c:pt idx="13">
                  <c:v>14000</c:v>
                </c:pt>
                <c:pt idx="14">
                  <c:v>15000</c:v>
                </c:pt>
                <c:pt idx="15">
                  <c:v>16000</c:v>
                </c:pt>
                <c:pt idx="16">
                  <c:v>17000</c:v>
                </c:pt>
                <c:pt idx="17">
                  <c:v>18000</c:v>
                </c:pt>
                <c:pt idx="18">
                  <c:v>19000</c:v>
                </c:pt>
                <c:pt idx="19">
                  <c:v>20000</c:v>
                </c:pt>
                <c:pt idx="20">
                  <c:v>21000</c:v>
                </c:pt>
                <c:pt idx="21">
                  <c:v>22000</c:v>
                </c:pt>
                <c:pt idx="22">
                  <c:v>23000</c:v>
                </c:pt>
                <c:pt idx="23">
                  <c:v>24000</c:v>
                </c:pt>
                <c:pt idx="24">
                  <c:v>25000</c:v>
                </c:pt>
              </c:numCache>
            </c:numRef>
          </c:cat>
          <c:val>
            <c:numRef>
              <c:f>Лист1!$C$3:$C$27</c:f>
              <c:numCache>
                <c:formatCode>#,##0.00;\-#,##0.00;0</c:formatCode>
                <c:ptCount val="25"/>
                <c:pt idx="0">
                  <c:v>0</c:v>
                </c:pt>
                <c:pt idx="1">
                  <c:v>0.1</c:v>
                </c:pt>
                <c:pt idx="2">
                  <c:v>0.3</c:v>
                </c:pt>
                <c:pt idx="3">
                  <c:v>0.5</c:v>
                </c:pt>
                <c:pt idx="4">
                  <c:v>0.7</c:v>
                </c:pt>
                <c:pt idx="5">
                  <c:v>0.9</c:v>
                </c:pt>
                <c:pt idx="6">
                  <c:v>1</c:v>
                </c:pt>
                <c:pt idx="7">
                  <c:v>0.8</c:v>
                </c:pt>
                <c:pt idx="8">
                  <c:v>0.7</c:v>
                </c:pt>
                <c:pt idx="9">
                  <c:v>0.6</c:v>
                </c:pt>
                <c:pt idx="10">
                  <c:v>0.5</c:v>
                </c:pt>
                <c:pt idx="11">
                  <c:v>0.3</c:v>
                </c:pt>
                <c:pt idx="12">
                  <c:v>0.2</c:v>
                </c:pt>
                <c:pt idx="13">
                  <c:v>0.1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BB-4D38-957C-F0C426949BF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Дорого</c:v>
                </c:pt>
              </c:strCache>
            </c:strRef>
          </c:tx>
          <c:marker>
            <c:symbol val="none"/>
          </c:marker>
          <c:cat>
            <c:numRef>
              <c:f>Лист1!$A$3:$A$27</c:f>
              <c:numCache>
                <c:formatCode>General</c:formatCode>
                <c:ptCount val="2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  <c:pt idx="10">
                  <c:v>11000</c:v>
                </c:pt>
                <c:pt idx="11">
                  <c:v>12000</c:v>
                </c:pt>
                <c:pt idx="12">
                  <c:v>13000</c:v>
                </c:pt>
                <c:pt idx="13">
                  <c:v>14000</c:v>
                </c:pt>
                <c:pt idx="14">
                  <c:v>15000</c:v>
                </c:pt>
                <c:pt idx="15">
                  <c:v>16000</c:v>
                </c:pt>
                <c:pt idx="16">
                  <c:v>17000</c:v>
                </c:pt>
                <c:pt idx="17">
                  <c:v>18000</c:v>
                </c:pt>
                <c:pt idx="18">
                  <c:v>19000</c:v>
                </c:pt>
                <c:pt idx="19">
                  <c:v>20000</c:v>
                </c:pt>
                <c:pt idx="20">
                  <c:v>21000</c:v>
                </c:pt>
                <c:pt idx="21">
                  <c:v>22000</c:v>
                </c:pt>
                <c:pt idx="22">
                  <c:v>23000</c:v>
                </c:pt>
                <c:pt idx="23">
                  <c:v>24000</c:v>
                </c:pt>
                <c:pt idx="24">
                  <c:v>25000</c:v>
                </c:pt>
              </c:numCache>
            </c:numRef>
          </c:cat>
          <c:val>
            <c:numRef>
              <c:f>Лист1!$D$3:$D$27</c:f>
              <c:numCache>
                <c:formatCode>#,##0.00;\-#,##0.00;0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</c:v>
                </c:pt>
                <c:pt idx="5">
                  <c:v>0.2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0.98</c:v>
                </c:pt>
                <c:pt idx="21">
                  <c:v>0.98</c:v>
                </c:pt>
                <c:pt idx="22">
                  <c:v>0.98</c:v>
                </c:pt>
                <c:pt idx="23">
                  <c:v>1</c:v>
                </c:pt>
                <c:pt idx="2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BB-4D38-957C-F0C426949B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1131392"/>
        <c:axId val="81132928"/>
      </c:lineChart>
      <c:catAx>
        <c:axId val="811313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  <a:endParaRPr lang="ru-RU"/>
          </a:p>
        </c:txPr>
        <c:crossAx val="81132928"/>
        <c:crosses val="autoZero"/>
        <c:auto val="1"/>
        <c:lblAlgn val="ctr"/>
        <c:lblOffset val="100"/>
        <c:noMultiLvlLbl val="0"/>
      </c:catAx>
      <c:valAx>
        <c:axId val="81132928"/>
        <c:scaling>
          <c:orientation val="minMax"/>
          <c:max val="1"/>
        </c:scaling>
        <c:delete val="0"/>
        <c:axPos val="l"/>
        <c:majorGridlines/>
        <c:numFmt formatCode="#,##0.00;\-#,##0.00;0" sourceLinked="1"/>
        <c:majorTickMark val="out"/>
        <c:minorTickMark val="none"/>
        <c:tickLblPos val="nextTo"/>
        <c:crossAx val="81131392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5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700">
          <a:latin typeface="Century Gothic" pitchFamily="34" charset="0"/>
        </a:defRPr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Лист1!$E$1</c:f>
              <c:strCache>
                <c:ptCount val="1"/>
                <c:pt idx="0">
                  <c:v>Недорогой</c:v>
                </c:pt>
              </c:strCache>
            </c:strRef>
          </c:tx>
          <c:marker>
            <c:symbol val="none"/>
          </c:marker>
          <c:cat>
            <c:numRef>
              <c:f>Лист1!$A$3:$A$27</c:f>
              <c:numCache>
                <c:formatCode>General</c:formatCode>
                <c:ptCount val="2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  <c:pt idx="10">
                  <c:v>11000</c:v>
                </c:pt>
                <c:pt idx="11">
                  <c:v>12000</c:v>
                </c:pt>
                <c:pt idx="12">
                  <c:v>13000</c:v>
                </c:pt>
                <c:pt idx="13">
                  <c:v>14000</c:v>
                </c:pt>
                <c:pt idx="14">
                  <c:v>15000</c:v>
                </c:pt>
                <c:pt idx="15">
                  <c:v>16000</c:v>
                </c:pt>
                <c:pt idx="16">
                  <c:v>17000</c:v>
                </c:pt>
                <c:pt idx="17">
                  <c:v>18000</c:v>
                </c:pt>
                <c:pt idx="18">
                  <c:v>19000</c:v>
                </c:pt>
                <c:pt idx="19">
                  <c:v>20000</c:v>
                </c:pt>
                <c:pt idx="20">
                  <c:v>21000</c:v>
                </c:pt>
                <c:pt idx="21">
                  <c:v>22000</c:v>
                </c:pt>
                <c:pt idx="22">
                  <c:v>23000</c:v>
                </c:pt>
                <c:pt idx="23">
                  <c:v>24000</c:v>
                </c:pt>
                <c:pt idx="24">
                  <c:v>25000</c:v>
                </c:pt>
              </c:numCache>
            </c:numRef>
          </c:cat>
          <c:val>
            <c:numRef>
              <c:f>Лист1!$E$3:$E$27</c:f>
              <c:numCache>
                <c:formatCode>#,##0.00;\-#,##0.00;0</c:formatCode>
                <c:ptCount val="2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0.9</c:v>
                </c:pt>
                <c:pt idx="5">
                  <c:v>0.8</c:v>
                </c:pt>
                <c:pt idx="6">
                  <c:v>0.7</c:v>
                </c:pt>
                <c:pt idx="7">
                  <c:v>0.65</c:v>
                </c:pt>
                <c:pt idx="8">
                  <c:v>0.6</c:v>
                </c:pt>
                <c:pt idx="9">
                  <c:v>0.55000000000000004</c:v>
                </c:pt>
                <c:pt idx="10">
                  <c:v>0.5</c:v>
                </c:pt>
                <c:pt idx="11">
                  <c:v>0.44999999999999996</c:v>
                </c:pt>
                <c:pt idx="12">
                  <c:v>0.4</c:v>
                </c:pt>
                <c:pt idx="13">
                  <c:v>0.35</c:v>
                </c:pt>
                <c:pt idx="14">
                  <c:v>0.30000000000000004</c:v>
                </c:pt>
                <c:pt idx="15">
                  <c:v>0.25</c:v>
                </c:pt>
                <c:pt idx="16">
                  <c:v>0.19999999999999996</c:v>
                </c:pt>
                <c:pt idx="17">
                  <c:v>0.15000000000000002</c:v>
                </c:pt>
                <c:pt idx="18">
                  <c:v>9.9999999999999978E-2</c:v>
                </c:pt>
                <c:pt idx="19">
                  <c:v>5.0000000000000044E-2</c:v>
                </c:pt>
                <c:pt idx="20">
                  <c:v>2.0000000000000018E-2</c:v>
                </c:pt>
                <c:pt idx="21">
                  <c:v>2.0000000000000018E-2</c:v>
                </c:pt>
                <c:pt idx="22">
                  <c:v>2.0000000000000018E-2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3C-4DBB-9371-8A58702EE6C3}"/>
            </c:ext>
          </c:extLst>
        </c:ser>
        <c:ser>
          <c:idx val="1"/>
          <c:order val="1"/>
          <c:tx>
            <c:strRef>
              <c:f>Лист1!$H$1</c:f>
              <c:strCache>
                <c:ptCount val="1"/>
                <c:pt idx="0">
                  <c:v>Не очень дорогой</c:v>
                </c:pt>
              </c:strCache>
            </c:strRef>
          </c:tx>
          <c:marker>
            <c:symbol val="none"/>
          </c:marker>
          <c:cat>
            <c:numRef>
              <c:f>Лист1!$A$3:$A$27</c:f>
              <c:numCache>
                <c:formatCode>General</c:formatCode>
                <c:ptCount val="2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  <c:pt idx="10">
                  <c:v>11000</c:v>
                </c:pt>
                <c:pt idx="11">
                  <c:v>12000</c:v>
                </c:pt>
                <c:pt idx="12">
                  <c:v>13000</c:v>
                </c:pt>
                <c:pt idx="13">
                  <c:v>14000</c:v>
                </c:pt>
                <c:pt idx="14">
                  <c:v>15000</c:v>
                </c:pt>
                <c:pt idx="15">
                  <c:v>16000</c:v>
                </c:pt>
                <c:pt idx="16">
                  <c:v>17000</c:v>
                </c:pt>
                <c:pt idx="17">
                  <c:v>18000</c:v>
                </c:pt>
                <c:pt idx="18">
                  <c:v>19000</c:v>
                </c:pt>
                <c:pt idx="19">
                  <c:v>20000</c:v>
                </c:pt>
                <c:pt idx="20">
                  <c:v>21000</c:v>
                </c:pt>
                <c:pt idx="21">
                  <c:v>22000</c:v>
                </c:pt>
                <c:pt idx="22">
                  <c:v>23000</c:v>
                </c:pt>
                <c:pt idx="23">
                  <c:v>24000</c:v>
                </c:pt>
                <c:pt idx="24">
                  <c:v>25000</c:v>
                </c:pt>
              </c:numCache>
            </c:numRef>
          </c:cat>
          <c:val>
            <c:numRef>
              <c:f>Лист1!$H$3:$H$27</c:f>
              <c:numCache>
                <c:formatCode>#,##0.00;\-#,##0.00;0</c:formatCode>
                <c:ptCount val="2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0.99</c:v>
                </c:pt>
                <c:pt idx="5">
                  <c:v>0.96</c:v>
                </c:pt>
                <c:pt idx="6">
                  <c:v>0.91</c:v>
                </c:pt>
                <c:pt idx="7">
                  <c:v>0.87750000000000006</c:v>
                </c:pt>
                <c:pt idx="8">
                  <c:v>0.84</c:v>
                </c:pt>
                <c:pt idx="9">
                  <c:v>0.79749999999999999</c:v>
                </c:pt>
                <c:pt idx="10">
                  <c:v>0.75</c:v>
                </c:pt>
                <c:pt idx="11">
                  <c:v>0.69750000000000001</c:v>
                </c:pt>
                <c:pt idx="12">
                  <c:v>0.64</c:v>
                </c:pt>
                <c:pt idx="13">
                  <c:v>0.5774999999999999</c:v>
                </c:pt>
                <c:pt idx="14">
                  <c:v>0.51</c:v>
                </c:pt>
                <c:pt idx="15">
                  <c:v>0.4375</c:v>
                </c:pt>
                <c:pt idx="16">
                  <c:v>0.35999999999999988</c:v>
                </c:pt>
                <c:pt idx="17">
                  <c:v>0.27750000000000008</c:v>
                </c:pt>
                <c:pt idx="18">
                  <c:v>0.18999999999999995</c:v>
                </c:pt>
                <c:pt idx="19">
                  <c:v>9.7500000000000031E-2</c:v>
                </c:pt>
                <c:pt idx="20">
                  <c:v>3.960000000000008E-2</c:v>
                </c:pt>
                <c:pt idx="21">
                  <c:v>3.960000000000008E-2</c:v>
                </c:pt>
                <c:pt idx="22">
                  <c:v>3.960000000000008E-2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3C-4DBB-9371-8A58702EE6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6480896"/>
        <c:axId val="91750400"/>
      </c:lineChart>
      <c:catAx>
        <c:axId val="564808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  <a:endParaRPr lang="ru-RU"/>
          </a:p>
        </c:txPr>
        <c:crossAx val="91750400"/>
        <c:crosses val="autoZero"/>
        <c:auto val="1"/>
        <c:lblAlgn val="ctr"/>
        <c:lblOffset val="100"/>
        <c:noMultiLvlLbl val="0"/>
      </c:catAx>
      <c:valAx>
        <c:axId val="91750400"/>
        <c:scaling>
          <c:orientation val="minMax"/>
          <c:max val="1"/>
        </c:scaling>
        <c:delete val="0"/>
        <c:axPos val="l"/>
        <c:majorGridlines/>
        <c:numFmt formatCode="#,##0.00;\-#,##0.00;0" sourceLinked="1"/>
        <c:majorTickMark val="out"/>
        <c:minorTickMark val="none"/>
        <c:tickLblPos val="nextTo"/>
        <c:crossAx val="5648089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5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700">
          <a:latin typeface="Century Gothic" pitchFamily="34" charset="0"/>
        </a:defRPr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areaChart>
        <c:grouping val="standard"/>
        <c:varyColors val="0"/>
        <c:ser>
          <c:idx val="2"/>
          <c:order val="2"/>
          <c:tx>
            <c:strRef>
              <c:f>'Лист1 (2)'!$F$1</c:f>
              <c:strCache>
                <c:ptCount val="1"/>
                <c:pt idx="0">
                  <c:v>Сумма (дешево или средне)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cat>
            <c:numRef>
              <c:f>'Лист1 (2)'!$A$3:$A$27</c:f>
              <c:numCache>
                <c:formatCode>General</c:formatCode>
                <c:ptCount val="2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  <c:pt idx="10">
                  <c:v>11000</c:v>
                </c:pt>
                <c:pt idx="11">
                  <c:v>12000</c:v>
                </c:pt>
                <c:pt idx="12">
                  <c:v>13000</c:v>
                </c:pt>
                <c:pt idx="13">
                  <c:v>14000</c:v>
                </c:pt>
                <c:pt idx="14">
                  <c:v>15000</c:v>
                </c:pt>
                <c:pt idx="15">
                  <c:v>16000</c:v>
                </c:pt>
                <c:pt idx="16">
                  <c:v>17000</c:v>
                </c:pt>
                <c:pt idx="17">
                  <c:v>18000</c:v>
                </c:pt>
                <c:pt idx="18">
                  <c:v>19000</c:v>
                </c:pt>
                <c:pt idx="19">
                  <c:v>20000</c:v>
                </c:pt>
                <c:pt idx="20">
                  <c:v>21000</c:v>
                </c:pt>
                <c:pt idx="21">
                  <c:v>22000</c:v>
                </c:pt>
                <c:pt idx="22">
                  <c:v>23000</c:v>
                </c:pt>
                <c:pt idx="23">
                  <c:v>24000</c:v>
                </c:pt>
                <c:pt idx="24">
                  <c:v>25000</c:v>
                </c:pt>
              </c:numCache>
            </c:numRef>
          </c:cat>
          <c:val>
            <c:numRef>
              <c:f>'Лист1 (2)'!$F$3:$F$27</c:f>
              <c:numCache>
                <c:formatCode>#,##0.00;\-#,##0.00;0</c:formatCode>
                <c:ptCount val="25"/>
                <c:pt idx="0">
                  <c:v>1</c:v>
                </c:pt>
                <c:pt idx="1">
                  <c:v>0.8</c:v>
                </c:pt>
                <c:pt idx="2">
                  <c:v>0.4</c:v>
                </c:pt>
                <c:pt idx="3">
                  <c:v>0.5</c:v>
                </c:pt>
                <c:pt idx="4">
                  <c:v>0.7</c:v>
                </c:pt>
                <c:pt idx="5">
                  <c:v>0.9</c:v>
                </c:pt>
                <c:pt idx="6">
                  <c:v>1</c:v>
                </c:pt>
                <c:pt idx="7">
                  <c:v>0.8</c:v>
                </c:pt>
                <c:pt idx="8">
                  <c:v>0.7</c:v>
                </c:pt>
                <c:pt idx="9">
                  <c:v>0.6</c:v>
                </c:pt>
                <c:pt idx="10">
                  <c:v>0.5</c:v>
                </c:pt>
                <c:pt idx="11">
                  <c:v>0.3</c:v>
                </c:pt>
                <c:pt idx="12">
                  <c:v>0.2</c:v>
                </c:pt>
                <c:pt idx="13">
                  <c:v>0.1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E8-418F-853F-64D396ED01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728448"/>
        <c:axId val="70751360"/>
      </c:areaChart>
      <c:lineChart>
        <c:grouping val="standard"/>
        <c:varyColors val="0"/>
        <c:ser>
          <c:idx val="0"/>
          <c:order val="0"/>
          <c:tx>
            <c:strRef>
              <c:f>'Лист1 (2)'!$B$1</c:f>
              <c:strCache>
                <c:ptCount val="1"/>
                <c:pt idx="0">
                  <c:v>Дешево</c:v>
                </c:pt>
              </c:strCache>
            </c:strRef>
          </c:tx>
          <c:marker>
            <c:symbol val="none"/>
          </c:marker>
          <c:cat>
            <c:numRef>
              <c:f>'Лист1 (2)'!$A$3:$A$27</c:f>
              <c:numCache>
                <c:formatCode>General</c:formatCode>
                <c:ptCount val="2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  <c:pt idx="10">
                  <c:v>11000</c:v>
                </c:pt>
                <c:pt idx="11">
                  <c:v>12000</c:v>
                </c:pt>
                <c:pt idx="12">
                  <c:v>13000</c:v>
                </c:pt>
                <c:pt idx="13">
                  <c:v>14000</c:v>
                </c:pt>
                <c:pt idx="14">
                  <c:v>15000</c:v>
                </c:pt>
                <c:pt idx="15">
                  <c:v>16000</c:v>
                </c:pt>
                <c:pt idx="16">
                  <c:v>17000</c:v>
                </c:pt>
                <c:pt idx="17">
                  <c:v>18000</c:v>
                </c:pt>
                <c:pt idx="18">
                  <c:v>19000</c:v>
                </c:pt>
                <c:pt idx="19">
                  <c:v>20000</c:v>
                </c:pt>
                <c:pt idx="20">
                  <c:v>21000</c:v>
                </c:pt>
                <c:pt idx="21">
                  <c:v>22000</c:v>
                </c:pt>
                <c:pt idx="22">
                  <c:v>23000</c:v>
                </c:pt>
                <c:pt idx="23">
                  <c:v>24000</c:v>
                </c:pt>
                <c:pt idx="24">
                  <c:v>25000</c:v>
                </c:pt>
              </c:numCache>
            </c:numRef>
          </c:cat>
          <c:val>
            <c:numRef>
              <c:f>'Лист1 (2)'!$B$3:$B$27</c:f>
              <c:numCache>
                <c:formatCode>#,##0.00;\-#,##0.00;0</c:formatCode>
                <c:ptCount val="25"/>
                <c:pt idx="0">
                  <c:v>1</c:v>
                </c:pt>
                <c:pt idx="1">
                  <c:v>0.8</c:v>
                </c:pt>
                <c:pt idx="2">
                  <c:v>0.4</c:v>
                </c:pt>
                <c:pt idx="3">
                  <c:v>0.2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E8-418F-853F-64D396ED016F}"/>
            </c:ext>
          </c:extLst>
        </c:ser>
        <c:ser>
          <c:idx val="1"/>
          <c:order val="1"/>
          <c:tx>
            <c:strRef>
              <c:f>'Лист1 (2)'!$C$1</c:f>
              <c:strCache>
                <c:ptCount val="1"/>
                <c:pt idx="0">
                  <c:v>Средне</c:v>
                </c:pt>
              </c:strCache>
            </c:strRef>
          </c:tx>
          <c:marker>
            <c:symbol val="none"/>
          </c:marker>
          <c:cat>
            <c:numRef>
              <c:f>'Лист1 (2)'!$A$3:$A$27</c:f>
              <c:numCache>
                <c:formatCode>General</c:formatCode>
                <c:ptCount val="2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  <c:pt idx="10">
                  <c:v>11000</c:v>
                </c:pt>
                <c:pt idx="11">
                  <c:v>12000</c:v>
                </c:pt>
                <c:pt idx="12">
                  <c:v>13000</c:v>
                </c:pt>
                <c:pt idx="13">
                  <c:v>14000</c:v>
                </c:pt>
                <c:pt idx="14">
                  <c:v>15000</c:v>
                </c:pt>
                <c:pt idx="15">
                  <c:v>16000</c:v>
                </c:pt>
                <c:pt idx="16">
                  <c:v>17000</c:v>
                </c:pt>
                <c:pt idx="17">
                  <c:v>18000</c:v>
                </c:pt>
                <c:pt idx="18">
                  <c:v>19000</c:v>
                </c:pt>
                <c:pt idx="19">
                  <c:v>20000</c:v>
                </c:pt>
                <c:pt idx="20">
                  <c:v>21000</c:v>
                </c:pt>
                <c:pt idx="21">
                  <c:v>22000</c:v>
                </c:pt>
                <c:pt idx="22">
                  <c:v>23000</c:v>
                </c:pt>
                <c:pt idx="23">
                  <c:v>24000</c:v>
                </c:pt>
                <c:pt idx="24">
                  <c:v>25000</c:v>
                </c:pt>
              </c:numCache>
            </c:numRef>
          </c:cat>
          <c:val>
            <c:numRef>
              <c:f>'Лист1 (2)'!$C$3:$C$27</c:f>
              <c:numCache>
                <c:formatCode>#,##0.00;\-#,##0.00;0</c:formatCode>
                <c:ptCount val="25"/>
                <c:pt idx="0">
                  <c:v>0</c:v>
                </c:pt>
                <c:pt idx="1">
                  <c:v>0.1</c:v>
                </c:pt>
                <c:pt idx="2">
                  <c:v>0.3</c:v>
                </c:pt>
                <c:pt idx="3">
                  <c:v>0.5</c:v>
                </c:pt>
                <c:pt idx="4">
                  <c:v>0.7</c:v>
                </c:pt>
                <c:pt idx="5">
                  <c:v>0.9</c:v>
                </c:pt>
                <c:pt idx="6">
                  <c:v>1</c:v>
                </c:pt>
                <c:pt idx="7">
                  <c:v>0.8</c:v>
                </c:pt>
                <c:pt idx="8">
                  <c:v>0.7</c:v>
                </c:pt>
                <c:pt idx="9">
                  <c:v>0.6</c:v>
                </c:pt>
                <c:pt idx="10">
                  <c:v>0.5</c:v>
                </c:pt>
                <c:pt idx="11">
                  <c:v>0.3</c:v>
                </c:pt>
                <c:pt idx="12">
                  <c:v>0.2</c:v>
                </c:pt>
                <c:pt idx="13">
                  <c:v>0.1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9E8-418F-853F-64D396ED01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728448"/>
        <c:axId val="70751360"/>
      </c:lineChart>
      <c:catAx>
        <c:axId val="387284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  <a:endParaRPr lang="ru-RU"/>
          </a:p>
        </c:txPr>
        <c:crossAx val="70751360"/>
        <c:crosses val="autoZero"/>
        <c:auto val="1"/>
        <c:lblAlgn val="ctr"/>
        <c:lblOffset val="100"/>
        <c:noMultiLvlLbl val="0"/>
      </c:catAx>
      <c:valAx>
        <c:axId val="70751360"/>
        <c:scaling>
          <c:orientation val="minMax"/>
          <c:max val="1"/>
        </c:scaling>
        <c:delete val="0"/>
        <c:axPos val="l"/>
        <c:majorGridlines/>
        <c:numFmt formatCode="#,##0.00;\-#,##0.00;0" sourceLinked="1"/>
        <c:majorTickMark val="out"/>
        <c:minorTickMark val="none"/>
        <c:tickLblPos val="nextTo"/>
        <c:crossAx val="387284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5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700">
          <a:latin typeface="Century Gothic" pitchFamily="34" charset="0"/>
        </a:defRPr>
      </a:pPr>
      <a:endParaRPr lang="ru-RU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areaChart>
        <c:grouping val="standard"/>
        <c:varyColors val="0"/>
        <c:ser>
          <c:idx val="2"/>
          <c:order val="2"/>
          <c:tx>
            <c:strRef>
              <c:f>'Лист1 (2)'!$G$1</c:f>
              <c:strCache>
                <c:ptCount val="1"/>
                <c:pt idx="0">
                  <c:v>Пересечение (средне и дорого)</c:v>
                </c:pt>
              </c:strCache>
            </c:strRef>
          </c:tx>
          <c:spPr>
            <a:solidFill>
              <a:sysClr val="window" lastClr="FFFFFF">
                <a:lumMod val="85000"/>
              </a:sysClr>
            </a:solidFill>
          </c:spPr>
          <c:cat>
            <c:numRef>
              <c:f>'Лист1 (2)'!$A$3:$A$27</c:f>
              <c:numCache>
                <c:formatCode>General</c:formatCode>
                <c:ptCount val="2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  <c:pt idx="10">
                  <c:v>11000</c:v>
                </c:pt>
                <c:pt idx="11">
                  <c:v>12000</c:v>
                </c:pt>
                <c:pt idx="12">
                  <c:v>13000</c:v>
                </c:pt>
                <c:pt idx="13">
                  <c:v>14000</c:v>
                </c:pt>
                <c:pt idx="14">
                  <c:v>15000</c:v>
                </c:pt>
                <c:pt idx="15">
                  <c:v>16000</c:v>
                </c:pt>
                <c:pt idx="16">
                  <c:v>17000</c:v>
                </c:pt>
                <c:pt idx="17">
                  <c:v>18000</c:v>
                </c:pt>
                <c:pt idx="18">
                  <c:v>19000</c:v>
                </c:pt>
                <c:pt idx="19">
                  <c:v>20000</c:v>
                </c:pt>
                <c:pt idx="20">
                  <c:v>21000</c:v>
                </c:pt>
                <c:pt idx="21">
                  <c:v>22000</c:v>
                </c:pt>
                <c:pt idx="22">
                  <c:v>23000</c:v>
                </c:pt>
                <c:pt idx="23">
                  <c:v>24000</c:v>
                </c:pt>
                <c:pt idx="24">
                  <c:v>25000</c:v>
                </c:pt>
              </c:numCache>
            </c:numRef>
          </c:cat>
          <c:val>
            <c:numRef>
              <c:f>'Лист1 (2)'!$G$3:$G$27</c:f>
              <c:numCache>
                <c:formatCode>#,##0.00;\-#,##0.00;0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</c:v>
                </c:pt>
                <c:pt idx="5">
                  <c:v>0.2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0.3</c:v>
                </c:pt>
                <c:pt idx="12">
                  <c:v>0.2</c:v>
                </c:pt>
                <c:pt idx="13">
                  <c:v>0.1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A3-4570-AE6E-DC7208D8F9AB}"/>
            </c:ext>
          </c:extLst>
        </c:ser>
        <c:ser>
          <c:idx val="3"/>
          <c:order val="3"/>
          <c:tx>
            <c:strRef>
              <c:f>'Лист1 (2)'!$H$1</c:f>
              <c:strCache>
                <c:ptCount val="1"/>
                <c:pt idx="0">
                  <c:v>Разность (средне и дорого)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</c:spPr>
          <c:cat>
            <c:numRef>
              <c:f>'Лист1 (2)'!$A$3:$A$27</c:f>
              <c:numCache>
                <c:formatCode>General</c:formatCode>
                <c:ptCount val="2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  <c:pt idx="10">
                  <c:v>11000</c:v>
                </c:pt>
                <c:pt idx="11">
                  <c:v>12000</c:v>
                </c:pt>
                <c:pt idx="12">
                  <c:v>13000</c:v>
                </c:pt>
                <c:pt idx="13">
                  <c:v>14000</c:v>
                </c:pt>
                <c:pt idx="14">
                  <c:v>15000</c:v>
                </c:pt>
                <c:pt idx="15">
                  <c:v>16000</c:v>
                </c:pt>
                <c:pt idx="16">
                  <c:v>17000</c:v>
                </c:pt>
                <c:pt idx="17">
                  <c:v>18000</c:v>
                </c:pt>
                <c:pt idx="18">
                  <c:v>19000</c:v>
                </c:pt>
                <c:pt idx="19">
                  <c:v>20000</c:v>
                </c:pt>
                <c:pt idx="20">
                  <c:v>21000</c:v>
                </c:pt>
                <c:pt idx="21">
                  <c:v>22000</c:v>
                </c:pt>
                <c:pt idx="22">
                  <c:v>23000</c:v>
                </c:pt>
                <c:pt idx="23">
                  <c:v>24000</c:v>
                </c:pt>
                <c:pt idx="24">
                  <c:v>25000</c:v>
                </c:pt>
              </c:numCache>
            </c:numRef>
          </c:cat>
          <c:val>
            <c:numRef>
              <c:f>'Лист1 (2)'!$H$3:$H$27</c:f>
              <c:numCache>
                <c:formatCode>#,##0.00;\-#,##0.00;0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0.5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A3-4570-AE6E-DC7208D8F9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759360"/>
        <c:axId val="117494144"/>
      </c:areaChart>
      <c:lineChart>
        <c:grouping val="standard"/>
        <c:varyColors val="0"/>
        <c:ser>
          <c:idx val="0"/>
          <c:order val="0"/>
          <c:tx>
            <c:strRef>
              <c:f>'Лист1 (2)'!$C$1</c:f>
              <c:strCache>
                <c:ptCount val="1"/>
                <c:pt idx="0">
                  <c:v>Средне</c:v>
                </c:pt>
              </c:strCache>
            </c:strRef>
          </c:tx>
          <c:marker>
            <c:symbol val="none"/>
          </c:marker>
          <c:cat>
            <c:numRef>
              <c:f>'Лист1 (2)'!$A$3:$A$27</c:f>
              <c:numCache>
                <c:formatCode>General</c:formatCode>
                <c:ptCount val="2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  <c:pt idx="10">
                  <c:v>11000</c:v>
                </c:pt>
                <c:pt idx="11">
                  <c:v>12000</c:v>
                </c:pt>
                <c:pt idx="12">
                  <c:v>13000</c:v>
                </c:pt>
                <c:pt idx="13">
                  <c:v>14000</c:v>
                </c:pt>
                <c:pt idx="14">
                  <c:v>15000</c:v>
                </c:pt>
                <c:pt idx="15">
                  <c:v>16000</c:v>
                </c:pt>
                <c:pt idx="16">
                  <c:v>17000</c:v>
                </c:pt>
                <c:pt idx="17">
                  <c:v>18000</c:v>
                </c:pt>
                <c:pt idx="18">
                  <c:v>19000</c:v>
                </c:pt>
                <c:pt idx="19">
                  <c:v>20000</c:v>
                </c:pt>
                <c:pt idx="20">
                  <c:v>21000</c:v>
                </c:pt>
                <c:pt idx="21">
                  <c:v>22000</c:v>
                </c:pt>
                <c:pt idx="22">
                  <c:v>23000</c:v>
                </c:pt>
                <c:pt idx="23">
                  <c:v>24000</c:v>
                </c:pt>
                <c:pt idx="24">
                  <c:v>25000</c:v>
                </c:pt>
              </c:numCache>
            </c:numRef>
          </c:cat>
          <c:val>
            <c:numRef>
              <c:f>'Лист1 (2)'!$C$3:$C$27</c:f>
              <c:numCache>
                <c:formatCode>#,##0.00;\-#,##0.00;0</c:formatCode>
                <c:ptCount val="25"/>
                <c:pt idx="0">
                  <c:v>0</c:v>
                </c:pt>
                <c:pt idx="1">
                  <c:v>0.1</c:v>
                </c:pt>
                <c:pt idx="2">
                  <c:v>0.3</c:v>
                </c:pt>
                <c:pt idx="3">
                  <c:v>0.5</c:v>
                </c:pt>
                <c:pt idx="4">
                  <c:v>0.7</c:v>
                </c:pt>
                <c:pt idx="5">
                  <c:v>0.9</c:v>
                </c:pt>
                <c:pt idx="6">
                  <c:v>1</c:v>
                </c:pt>
                <c:pt idx="7">
                  <c:v>0.8</c:v>
                </c:pt>
                <c:pt idx="8">
                  <c:v>0.7</c:v>
                </c:pt>
                <c:pt idx="9">
                  <c:v>0.6</c:v>
                </c:pt>
                <c:pt idx="10">
                  <c:v>0.5</c:v>
                </c:pt>
                <c:pt idx="11">
                  <c:v>0.3</c:v>
                </c:pt>
                <c:pt idx="12">
                  <c:v>0.2</c:v>
                </c:pt>
                <c:pt idx="13">
                  <c:v>0.1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6A3-4570-AE6E-DC7208D8F9AB}"/>
            </c:ext>
          </c:extLst>
        </c:ser>
        <c:ser>
          <c:idx val="1"/>
          <c:order val="1"/>
          <c:tx>
            <c:strRef>
              <c:f>'Лист1 (2)'!$D$1</c:f>
              <c:strCache>
                <c:ptCount val="1"/>
                <c:pt idx="0">
                  <c:v>Дорого</c:v>
                </c:pt>
              </c:strCache>
            </c:strRef>
          </c:tx>
          <c:marker>
            <c:symbol val="none"/>
          </c:marker>
          <c:cat>
            <c:numRef>
              <c:f>'Лист1 (2)'!$A$3:$A$27</c:f>
              <c:numCache>
                <c:formatCode>General</c:formatCode>
                <c:ptCount val="2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  <c:pt idx="10">
                  <c:v>11000</c:v>
                </c:pt>
                <c:pt idx="11">
                  <c:v>12000</c:v>
                </c:pt>
                <c:pt idx="12">
                  <c:v>13000</c:v>
                </c:pt>
                <c:pt idx="13">
                  <c:v>14000</c:v>
                </c:pt>
                <c:pt idx="14">
                  <c:v>15000</c:v>
                </c:pt>
                <c:pt idx="15">
                  <c:v>16000</c:v>
                </c:pt>
                <c:pt idx="16">
                  <c:v>17000</c:v>
                </c:pt>
                <c:pt idx="17">
                  <c:v>18000</c:v>
                </c:pt>
                <c:pt idx="18">
                  <c:v>19000</c:v>
                </c:pt>
                <c:pt idx="19">
                  <c:v>20000</c:v>
                </c:pt>
                <c:pt idx="20">
                  <c:v>21000</c:v>
                </c:pt>
                <c:pt idx="21">
                  <c:v>22000</c:v>
                </c:pt>
                <c:pt idx="22">
                  <c:v>23000</c:v>
                </c:pt>
                <c:pt idx="23">
                  <c:v>24000</c:v>
                </c:pt>
                <c:pt idx="24">
                  <c:v>25000</c:v>
                </c:pt>
              </c:numCache>
            </c:numRef>
          </c:cat>
          <c:val>
            <c:numRef>
              <c:f>'Лист1 (2)'!$D$3:$D$27</c:f>
              <c:numCache>
                <c:formatCode>#,##0.00;\-#,##0.00;0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</c:v>
                </c:pt>
                <c:pt idx="5">
                  <c:v>0.2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0.98</c:v>
                </c:pt>
                <c:pt idx="21">
                  <c:v>0.98</c:v>
                </c:pt>
                <c:pt idx="22">
                  <c:v>0.98</c:v>
                </c:pt>
                <c:pt idx="23">
                  <c:v>1</c:v>
                </c:pt>
                <c:pt idx="2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6A3-4570-AE6E-DC7208D8F9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5759360"/>
        <c:axId val="117494144"/>
      </c:lineChart>
      <c:catAx>
        <c:axId val="1157593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  <a:endParaRPr lang="ru-RU"/>
          </a:p>
        </c:txPr>
        <c:crossAx val="117494144"/>
        <c:crosses val="autoZero"/>
        <c:auto val="1"/>
        <c:lblAlgn val="ctr"/>
        <c:lblOffset val="100"/>
        <c:noMultiLvlLbl val="0"/>
      </c:catAx>
      <c:valAx>
        <c:axId val="117494144"/>
        <c:scaling>
          <c:orientation val="minMax"/>
          <c:max val="1"/>
        </c:scaling>
        <c:delete val="0"/>
        <c:axPos val="l"/>
        <c:majorGridlines/>
        <c:numFmt formatCode="#,##0.00;\-#,##0.00;0" sourceLinked="1"/>
        <c:majorTickMark val="out"/>
        <c:minorTickMark val="none"/>
        <c:tickLblPos val="nextTo"/>
        <c:crossAx val="115759360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5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700">
          <a:latin typeface="Century Gothic" pitchFamily="34" charset="0"/>
        </a:defRPr>
      </a:pPr>
      <a:endParaRPr lang="ru-RU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94098-A178-43CC-8160-7200E85ABEC8}" type="datetimeFigureOut">
              <a:rPr lang="ru-RU" smtClean="0"/>
              <a:pPr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818E-5329-4061-A973-C7425F2484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94098-A178-43CC-8160-7200E85ABEC8}" type="datetimeFigureOut">
              <a:rPr lang="ru-RU" smtClean="0"/>
              <a:pPr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818E-5329-4061-A973-C7425F2484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94098-A178-43CC-8160-7200E85ABEC8}" type="datetimeFigureOut">
              <a:rPr lang="ru-RU" smtClean="0"/>
              <a:pPr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818E-5329-4061-A973-C7425F2484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94098-A178-43CC-8160-7200E85ABEC8}" type="datetimeFigureOut">
              <a:rPr lang="ru-RU" smtClean="0"/>
              <a:pPr/>
              <a:t>13.11.2020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818E-5329-4061-A973-C7425F2484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94098-A178-43CC-8160-7200E85ABEC8}" type="datetimeFigureOut">
              <a:rPr lang="ru-RU" smtClean="0"/>
              <a:pPr/>
              <a:t>13.11.2020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818E-5329-4061-A973-C7425F2484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94098-A178-43CC-8160-7200E85ABEC8}" type="datetimeFigureOut">
              <a:rPr lang="ru-RU" smtClean="0"/>
              <a:pPr/>
              <a:t>13.11.2020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818E-5329-4061-A973-C7425F2484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94098-A178-43CC-8160-7200E85ABEC8}" type="datetimeFigureOut">
              <a:rPr lang="ru-RU" smtClean="0"/>
              <a:pPr/>
              <a:t>13.11.2020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818E-5329-4061-A973-C7425F2484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94098-A178-43CC-8160-7200E85ABEC8}" type="datetimeFigureOut">
              <a:rPr lang="ru-RU" smtClean="0"/>
              <a:pPr/>
              <a:t>13.11.2020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818E-5329-4061-A973-C7425F2484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94098-A178-43CC-8160-7200E85ABEC8}" type="datetimeFigureOut">
              <a:rPr lang="ru-RU" smtClean="0"/>
              <a:pPr/>
              <a:t>13.11.2020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818E-5329-4061-A973-C7425F2484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94098-A178-43CC-8160-7200E85ABEC8}" type="datetimeFigureOut">
              <a:rPr lang="ru-RU" smtClean="0"/>
              <a:pPr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818E-5329-4061-A973-C7425F2484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94098-A178-43CC-8160-7200E85ABEC8}" type="datetimeFigureOut">
              <a:rPr lang="ru-RU" smtClean="0"/>
              <a:pPr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818E-5329-4061-A973-C7425F2484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94098-A178-43CC-8160-7200E85ABEC8}" type="datetimeFigureOut">
              <a:rPr lang="ru-RU" smtClean="0"/>
              <a:pPr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A818E-5329-4061-A973-C7425F2484FD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260648"/>
            <a:ext cx="43588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entury Gothic" pitchFamily="34" charset="0"/>
              </a:rPr>
              <a:t>Задача 1. Представить граф в виде матрицы</a:t>
            </a:r>
          </a:p>
        </p:txBody>
      </p:sp>
      <p:sp>
        <p:nvSpPr>
          <p:cNvPr id="5" name="Овал 4"/>
          <p:cNvSpPr/>
          <p:nvPr/>
        </p:nvSpPr>
        <p:spPr>
          <a:xfrm>
            <a:off x="827584" y="1052736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827584" y="1052736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V1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1331640" y="692696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331640" y="692696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V2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1331640" y="1556792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331640" y="1556792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V5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2051720" y="692696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2051720" y="692696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V3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2699792" y="692696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2699792" y="692696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V4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2051720" y="1556792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051720" y="1556792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V6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2699792" y="1556792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2699792" y="1556792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V7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3131840" y="1124744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3131840" y="1124744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V8</a:t>
            </a:r>
            <a:endParaRPr lang="ru-RU" sz="1050" b="1" dirty="0">
              <a:latin typeface="Century Gothic" pitchFamily="34" charset="0"/>
            </a:endParaRPr>
          </a:p>
        </p:txBody>
      </p:sp>
      <p:cxnSp>
        <p:nvCxnSpPr>
          <p:cNvPr id="23" name="Прямая соединительная линия 22"/>
          <p:cNvCxnSpPr>
            <a:stCxn id="6" idx="0"/>
            <a:endCxn id="9" idx="1"/>
          </p:cNvCxnSpPr>
          <p:nvPr/>
        </p:nvCxnSpPr>
        <p:spPr>
          <a:xfrm flipV="1">
            <a:off x="1007604" y="823501"/>
            <a:ext cx="324036" cy="22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endCxn id="12" idx="2"/>
          </p:cNvCxnSpPr>
          <p:nvPr/>
        </p:nvCxnSpPr>
        <p:spPr>
          <a:xfrm>
            <a:off x="1619672" y="836712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2339752" y="836713"/>
            <a:ext cx="432048" cy="7200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flipV="1">
            <a:off x="1115616" y="908720"/>
            <a:ext cx="936104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endCxn id="10" idx="1"/>
          </p:cNvCxnSpPr>
          <p:nvPr/>
        </p:nvCxnSpPr>
        <p:spPr>
          <a:xfrm>
            <a:off x="1043608" y="1340768"/>
            <a:ext cx="330213" cy="2582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endCxn id="18" idx="2"/>
          </p:cNvCxnSpPr>
          <p:nvPr/>
        </p:nvCxnSpPr>
        <p:spPr>
          <a:xfrm>
            <a:off x="2339752" y="1700808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>
            <a:off x="2987824" y="908720"/>
            <a:ext cx="216024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>
            <a:stCxn id="18" idx="0"/>
            <a:endCxn id="14" idx="4"/>
          </p:cNvCxnSpPr>
          <p:nvPr/>
        </p:nvCxnSpPr>
        <p:spPr>
          <a:xfrm flipV="1">
            <a:off x="2843808" y="980728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endCxn id="20" idx="3"/>
          </p:cNvCxnSpPr>
          <p:nvPr/>
        </p:nvCxnSpPr>
        <p:spPr>
          <a:xfrm flipV="1">
            <a:off x="2915816" y="1370595"/>
            <a:ext cx="258205" cy="1861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Таблица 41"/>
          <p:cNvGraphicFramePr>
            <a:graphicFrameLocks noGrp="1"/>
          </p:cNvGraphicFramePr>
          <p:nvPr/>
        </p:nvGraphicFramePr>
        <p:xfrm>
          <a:off x="4139952" y="620688"/>
          <a:ext cx="3312369" cy="29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0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0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0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80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80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80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V1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V2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V3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V4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V5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V6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V7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V8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800" b="1" dirty="0"/>
                        <a:t>V1</a:t>
                      </a:r>
                      <a:endParaRPr lang="ru-RU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1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1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1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800" b="1" dirty="0"/>
                        <a:t>V2</a:t>
                      </a:r>
                      <a:endParaRPr lang="ru-RU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1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1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800" b="1" dirty="0"/>
                        <a:t>V3</a:t>
                      </a:r>
                      <a:endParaRPr lang="ru-RU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1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800" b="1" dirty="0"/>
                        <a:t>V4</a:t>
                      </a:r>
                      <a:endParaRPr lang="ru-RU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1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1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800" b="1" dirty="0"/>
                        <a:t>V5</a:t>
                      </a:r>
                      <a:endParaRPr lang="ru-RU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800" b="1" dirty="0"/>
                        <a:t>V6</a:t>
                      </a:r>
                      <a:endParaRPr lang="ru-RU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1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800" b="1" dirty="0"/>
                        <a:t>V7</a:t>
                      </a:r>
                      <a:endParaRPr lang="ru-RU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1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800" b="1" dirty="0"/>
                        <a:t>V8</a:t>
                      </a:r>
                      <a:endParaRPr lang="ru-RU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latin typeface="Century Gothic" pitchFamily="34" charset="0"/>
                        </a:rPr>
                        <a:t>0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683568" y="3861048"/>
            <a:ext cx="4443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entury Gothic" pitchFamily="34" charset="0"/>
              </a:rPr>
              <a:t>Задача </a:t>
            </a:r>
            <a:r>
              <a:rPr lang="en-US" sz="1400" b="1" dirty="0">
                <a:latin typeface="Century Gothic" pitchFamily="34" charset="0"/>
              </a:rPr>
              <a:t>2</a:t>
            </a:r>
            <a:r>
              <a:rPr lang="ru-RU" sz="1400" b="1" dirty="0">
                <a:latin typeface="Century Gothic" pitchFamily="34" charset="0"/>
              </a:rPr>
              <a:t>. Представить матрицу в виде графа</a:t>
            </a:r>
          </a:p>
        </p:txBody>
      </p:sp>
      <p:graphicFrame>
        <p:nvGraphicFramePr>
          <p:cNvPr id="44" name="Таблица 43"/>
          <p:cNvGraphicFramePr>
            <a:graphicFrameLocks noGrp="1"/>
          </p:cNvGraphicFramePr>
          <p:nvPr/>
        </p:nvGraphicFramePr>
        <p:xfrm>
          <a:off x="899592" y="4293096"/>
          <a:ext cx="2208246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0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0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0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V1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V2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V3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V4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Century Gothic" pitchFamily="34" charset="0"/>
                        </a:rPr>
                        <a:t>V5</a:t>
                      </a:r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800" b="1" dirty="0"/>
                        <a:t>V1</a:t>
                      </a:r>
                      <a:endParaRPr lang="ru-RU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Century Gothic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Century Gothic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800" b="1" dirty="0"/>
                        <a:t>V2</a:t>
                      </a:r>
                      <a:endParaRPr lang="ru-RU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Century Gothic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Century Gothic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800" b="1" dirty="0"/>
                        <a:t>V3</a:t>
                      </a:r>
                      <a:endParaRPr lang="ru-RU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Century Gothic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Century Gothic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800" b="1" dirty="0"/>
                        <a:t>V4</a:t>
                      </a:r>
                      <a:endParaRPr lang="ru-RU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Century Gothic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Century Gothic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800" b="1" dirty="0"/>
                        <a:t>V5</a:t>
                      </a:r>
                      <a:endParaRPr lang="ru-RU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Century Gothic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>
                        <a:latin typeface="Century Gothic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Century Gothic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5" name="Овал 44"/>
          <p:cNvSpPr/>
          <p:nvPr/>
        </p:nvSpPr>
        <p:spPr>
          <a:xfrm>
            <a:off x="5796136" y="4365104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5796136" y="4365104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V1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47" name="Овал 46"/>
          <p:cNvSpPr/>
          <p:nvPr/>
        </p:nvSpPr>
        <p:spPr>
          <a:xfrm>
            <a:off x="6732240" y="4869160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6732240" y="4869160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V</a:t>
            </a:r>
            <a:r>
              <a:rPr lang="ru-RU" sz="1050" b="1" dirty="0">
                <a:latin typeface="Century Gothic" pitchFamily="34" charset="0"/>
              </a:rPr>
              <a:t>2</a:t>
            </a:r>
          </a:p>
        </p:txBody>
      </p:sp>
      <p:sp>
        <p:nvSpPr>
          <p:cNvPr id="49" name="Овал 48"/>
          <p:cNvSpPr/>
          <p:nvPr/>
        </p:nvSpPr>
        <p:spPr>
          <a:xfrm>
            <a:off x="6300192" y="5733256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/>
          <p:cNvSpPr txBox="1"/>
          <p:nvPr/>
        </p:nvSpPr>
        <p:spPr>
          <a:xfrm>
            <a:off x="6300192" y="5733256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V</a:t>
            </a:r>
            <a:r>
              <a:rPr lang="ru-RU" sz="1050" b="1" dirty="0">
                <a:latin typeface="Century Gothic" pitchFamily="34" charset="0"/>
              </a:rPr>
              <a:t>3</a:t>
            </a:r>
          </a:p>
        </p:txBody>
      </p:sp>
      <p:sp>
        <p:nvSpPr>
          <p:cNvPr id="51" name="Овал 50"/>
          <p:cNvSpPr/>
          <p:nvPr/>
        </p:nvSpPr>
        <p:spPr>
          <a:xfrm>
            <a:off x="5436096" y="5733256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5436096" y="5733256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V</a:t>
            </a:r>
            <a:r>
              <a:rPr lang="ru-RU" sz="1050" b="1" dirty="0">
                <a:latin typeface="Century Gothic" pitchFamily="34" charset="0"/>
              </a:rPr>
              <a:t>4</a:t>
            </a:r>
          </a:p>
        </p:txBody>
      </p:sp>
      <p:sp>
        <p:nvSpPr>
          <p:cNvPr id="53" name="Овал 52"/>
          <p:cNvSpPr/>
          <p:nvPr/>
        </p:nvSpPr>
        <p:spPr>
          <a:xfrm>
            <a:off x="5004048" y="4869160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/>
          <p:cNvSpPr txBox="1"/>
          <p:nvPr/>
        </p:nvSpPr>
        <p:spPr>
          <a:xfrm>
            <a:off x="5004048" y="4869160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V</a:t>
            </a:r>
            <a:r>
              <a:rPr lang="ru-RU" sz="1050" b="1" dirty="0">
                <a:latin typeface="Century Gothic" pitchFamily="34" charset="0"/>
              </a:rPr>
              <a:t>5</a:t>
            </a:r>
          </a:p>
        </p:txBody>
      </p:sp>
      <p:cxnSp>
        <p:nvCxnSpPr>
          <p:cNvPr id="56" name="Прямая со стрелкой 55"/>
          <p:cNvCxnSpPr>
            <a:stCxn id="54" idx="0"/>
            <a:endCxn id="46" idx="1"/>
          </p:cNvCxnSpPr>
          <p:nvPr/>
        </p:nvCxnSpPr>
        <p:spPr>
          <a:xfrm flipV="1">
            <a:off x="5184068" y="4495909"/>
            <a:ext cx="612068" cy="3732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>
            <a:stCxn id="51" idx="1"/>
            <a:endCxn id="53" idx="4"/>
          </p:cNvCxnSpPr>
          <p:nvPr/>
        </p:nvCxnSpPr>
        <p:spPr>
          <a:xfrm flipH="1" flipV="1">
            <a:off x="5148064" y="5157192"/>
            <a:ext cx="330213" cy="6182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>
            <a:stCxn id="50" idx="1"/>
          </p:cNvCxnSpPr>
          <p:nvPr/>
        </p:nvCxnSpPr>
        <p:spPr>
          <a:xfrm flipH="1">
            <a:off x="5724128" y="5864061"/>
            <a:ext cx="576064" cy="132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>
            <a:stCxn id="47" idx="3"/>
            <a:endCxn id="50" idx="0"/>
          </p:cNvCxnSpPr>
          <p:nvPr/>
        </p:nvCxnSpPr>
        <p:spPr>
          <a:xfrm flipH="1">
            <a:off x="6480212" y="5115011"/>
            <a:ext cx="294209" cy="6182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 стрелкой 63"/>
          <p:cNvCxnSpPr>
            <a:stCxn id="52" idx="0"/>
            <a:endCxn id="48" idx="1"/>
          </p:cNvCxnSpPr>
          <p:nvPr/>
        </p:nvCxnSpPr>
        <p:spPr>
          <a:xfrm flipV="1">
            <a:off x="5616116" y="4999965"/>
            <a:ext cx="1116124" cy="7332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/>
          <p:cNvCxnSpPr>
            <a:endCxn id="46" idx="2"/>
          </p:cNvCxnSpPr>
          <p:nvPr/>
        </p:nvCxnSpPr>
        <p:spPr>
          <a:xfrm flipH="1" flipV="1">
            <a:off x="5976156" y="4626714"/>
            <a:ext cx="396045" cy="11065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 стрелкой 68"/>
          <p:cNvCxnSpPr>
            <a:stCxn id="45" idx="5"/>
            <a:endCxn id="47" idx="1"/>
          </p:cNvCxnSpPr>
          <p:nvPr/>
        </p:nvCxnSpPr>
        <p:spPr>
          <a:xfrm>
            <a:off x="6041987" y="4610955"/>
            <a:ext cx="732434" cy="3003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hape 71"/>
          <p:cNvCxnSpPr>
            <a:stCxn id="48" idx="0"/>
            <a:endCxn id="45" idx="6"/>
          </p:cNvCxnSpPr>
          <p:nvPr/>
        </p:nvCxnSpPr>
        <p:spPr>
          <a:xfrm rot="16200000" flipV="1">
            <a:off x="6318194" y="4275094"/>
            <a:ext cx="360040" cy="828092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292080" y="4509120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1</a:t>
            </a:r>
          </a:p>
        </p:txBody>
      </p:sp>
      <p:cxnSp>
        <p:nvCxnSpPr>
          <p:cNvPr id="77" name="Shape 76"/>
          <p:cNvCxnSpPr>
            <a:stCxn id="46" idx="1"/>
            <a:endCxn id="46" idx="3"/>
          </p:cNvCxnSpPr>
          <p:nvPr/>
        </p:nvCxnSpPr>
        <p:spPr>
          <a:xfrm rot="10800000" flipH="1">
            <a:off x="5796136" y="4495909"/>
            <a:ext cx="360040" cy="12700"/>
          </a:xfrm>
          <a:prstGeom prst="curvedConnector5">
            <a:avLst>
              <a:gd name="adj1" fmla="val -63493"/>
              <a:gd name="adj2" fmla="val 2829961"/>
              <a:gd name="adj3" fmla="val 16349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868144" y="4005064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28184" y="4653136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16216" y="4437112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8224" y="5229200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0192" y="5013176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40152" y="4869160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20072" y="5301208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40152" y="5733256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3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 cstate="print"/>
          <a:srcRect l="75830" t="15357" r="3701" b="50000"/>
          <a:stretch>
            <a:fillRect/>
          </a:stretch>
        </p:blipFill>
        <p:spPr bwMode="auto">
          <a:xfrm>
            <a:off x="1907704" y="908720"/>
            <a:ext cx="4767636" cy="302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2051720" y="4149080"/>
            <a:ext cx="109196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ru-RU" sz="1000" dirty="0">
                <a:latin typeface="Century Gothic" pitchFamily="34" charset="0"/>
              </a:rPr>
              <a:t>Все = 1</a:t>
            </a:r>
          </a:p>
          <a:p>
            <a:pPr marL="342900" indent="-342900">
              <a:buAutoNum type="arabicPeriod"/>
            </a:pPr>
            <a:r>
              <a:rPr lang="en-US" sz="1000" dirty="0">
                <a:latin typeface="Century Gothic" pitchFamily="34" charset="0"/>
              </a:rPr>
              <a:t>B = 2 = 3</a:t>
            </a:r>
          </a:p>
          <a:p>
            <a:pPr marL="342900" indent="-342900">
              <a:buAutoNum type="arabicPeriod"/>
            </a:pPr>
            <a:r>
              <a:rPr lang="en-US" sz="1000" dirty="0">
                <a:latin typeface="Century Gothic" pitchFamily="34" charset="0"/>
              </a:rPr>
              <a:t>C = 2 = 3</a:t>
            </a:r>
          </a:p>
          <a:p>
            <a:pPr marL="342900" indent="-342900">
              <a:buAutoNum type="arabicPeriod"/>
            </a:pPr>
            <a:r>
              <a:rPr lang="en-US" sz="1000" dirty="0">
                <a:latin typeface="Century Gothic" pitchFamily="34" charset="0"/>
              </a:rPr>
              <a:t>A = 2 = 3</a:t>
            </a:r>
          </a:p>
          <a:p>
            <a:pPr marL="342900" indent="-342900">
              <a:buAutoNum type="arabicPeriod"/>
            </a:pPr>
            <a:r>
              <a:rPr lang="en-US" sz="1000" dirty="0">
                <a:latin typeface="Century Gothic" pitchFamily="34" charset="0"/>
              </a:rPr>
              <a:t>D = 2 = 3</a:t>
            </a:r>
          </a:p>
          <a:p>
            <a:pPr marL="342900" indent="-342900">
              <a:buAutoNum type="arabicPeriod"/>
            </a:pPr>
            <a:r>
              <a:rPr lang="en-US" sz="1000" dirty="0">
                <a:latin typeface="Century Gothic" pitchFamily="34" charset="0"/>
              </a:rPr>
              <a:t>E = 2 = 3</a:t>
            </a:r>
          </a:p>
          <a:p>
            <a:pPr marL="342900" indent="-342900">
              <a:buAutoNum type="arabicPeriod"/>
            </a:pPr>
            <a:r>
              <a:rPr lang="en-US" sz="1000" dirty="0">
                <a:latin typeface="Century Gothic" pitchFamily="34" charset="0"/>
              </a:rPr>
              <a:t>F = 2 = 3</a:t>
            </a:r>
          </a:p>
          <a:p>
            <a:pPr marL="342900" indent="-342900">
              <a:buAutoNum type="arabicPeriod"/>
            </a:pPr>
            <a:r>
              <a:rPr lang="en-US" sz="1000" dirty="0">
                <a:latin typeface="Century Gothic" pitchFamily="34" charset="0"/>
              </a:rPr>
              <a:t>G = 2 = 3</a:t>
            </a:r>
          </a:p>
          <a:p>
            <a:pPr marL="342900" indent="-342900"/>
            <a:r>
              <a:rPr lang="ru-RU" sz="1000" dirty="0">
                <a:latin typeface="Century Gothic" pitchFamily="34" charset="0"/>
              </a:rPr>
              <a:t>Все = 3</a:t>
            </a:r>
          </a:p>
          <a:p>
            <a:pPr marL="342900" indent="-342900"/>
            <a:r>
              <a:rPr lang="ru-RU" sz="1000" dirty="0">
                <a:latin typeface="Century Gothic" pitchFamily="34" charset="0"/>
              </a:rPr>
              <a:t>Граф связный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8024" y="4149080"/>
            <a:ext cx="132760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ru-RU" sz="1000" dirty="0">
                <a:latin typeface="Century Gothic" pitchFamily="34" charset="0"/>
              </a:rPr>
              <a:t>Все = 1</a:t>
            </a:r>
          </a:p>
          <a:p>
            <a:pPr marL="342900" indent="-342900">
              <a:buAutoNum type="arabicPeriod"/>
            </a:pPr>
            <a:r>
              <a:rPr lang="en-US" sz="1000" dirty="0">
                <a:latin typeface="Century Gothic" pitchFamily="34" charset="0"/>
              </a:rPr>
              <a:t>5 = 2 = 3</a:t>
            </a:r>
          </a:p>
          <a:p>
            <a:pPr marL="342900" indent="-342900">
              <a:buAutoNum type="arabicPeriod"/>
            </a:pPr>
            <a:r>
              <a:rPr lang="en-US" sz="1000" dirty="0">
                <a:latin typeface="Century Gothic" pitchFamily="34" charset="0"/>
              </a:rPr>
              <a:t>4 = 2 = 3</a:t>
            </a:r>
          </a:p>
          <a:p>
            <a:pPr marL="342900" indent="-342900">
              <a:buAutoNum type="arabicPeriod"/>
            </a:pPr>
            <a:r>
              <a:rPr lang="en-US" sz="1000" dirty="0">
                <a:latin typeface="Century Gothic" pitchFamily="34" charset="0"/>
              </a:rPr>
              <a:t>3 = 2</a:t>
            </a:r>
          </a:p>
          <a:p>
            <a:pPr marL="342900" indent="-342900">
              <a:buAutoNum type="arabicPeriod"/>
            </a:pPr>
            <a:r>
              <a:rPr lang="en-US" sz="1000" dirty="0">
                <a:latin typeface="Century Gothic" pitchFamily="34" charset="0"/>
              </a:rPr>
              <a:t>1 = 2 = 3</a:t>
            </a:r>
          </a:p>
          <a:p>
            <a:pPr marL="342900" indent="-342900">
              <a:buAutoNum type="arabicPeriod"/>
            </a:pPr>
            <a:r>
              <a:rPr lang="en-US" sz="1000" dirty="0">
                <a:latin typeface="Century Gothic" pitchFamily="34" charset="0"/>
              </a:rPr>
              <a:t>2 = 2</a:t>
            </a:r>
          </a:p>
          <a:p>
            <a:pPr marL="342900" indent="-342900">
              <a:buAutoNum type="arabicPeriod"/>
            </a:pPr>
            <a:r>
              <a:rPr lang="en-US" sz="1000" dirty="0">
                <a:latin typeface="Century Gothic" pitchFamily="34" charset="0"/>
              </a:rPr>
              <a:t>4 = 2 = 3</a:t>
            </a:r>
          </a:p>
          <a:p>
            <a:pPr marL="342900" indent="-342900"/>
            <a:r>
              <a:rPr lang="en-US" sz="1000" dirty="0">
                <a:latin typeface="Century Gothic" pitchFamily="34" charset="0"/>
              </a:rPr>
              <a:t>2 </a:t>
            </a:r>
            <a:r>
              <a:rPr lang="ru-RU" sz="1000" dirty="0">
                <a:latin typeface="Century Gothic" pitchFamily="34" charset="0"/>
              </a:rPr>
              <a:t>и 3 = 2</a:t>
            </a:r>
          </a:p>
          <a:p>
            <a:pPr marL="342900" indent="-342900"/>
            <a:r>
              <a:rPr lang="ru-RU" sz="1000" dirty="0">
                <a:latin typeface="Century Gothic" pitchFamily="34" charset="0"/>
              </a:rPr>
              <a:t>Граф несвязный?</a:t>
            </a:r>
            <a:endParaRPr lang="en-US" sz="1000" dirty="0">
              <a:latin typeface="Century Gothic" pitchFamily="34" charset="0"/>
            </a:endParaRPr>
          </a:p>
          <a:p>
            <a:pPr marL="342900" indent="-342900">
              <a:buAutoNum type="arabicPeriod"/>
            </a:pPr>
            <a:endParaRPr lang="ru-RU" sz="1000" dirty="0">
              <a:latin typeface="Century Gothic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4008" y="3356992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5976" y="2564904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8144" y="3284984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6176" y="2276872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4088" y="1628800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3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3528" y="116632"/>
            <a:ext cx="6275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Задача 3. Найти кратчайший путь из вершины 1 в вершину 4</a:t>
            </a:r>
          </a:p>
        </p:txBody>
      </p:sp>
      <p:sp>
        <p:nvSpPr>
          <p:cNvPr id="4" name="Овал 3"/>
          <p:cNvSpPr/>
          <p:nvPr/>
        </p:nvSpPr>
        <p:spPr>
          <a:xfrm>
            <a:off x="1475656" y="692695"/>
            <a:ext cx="288032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475656" y="692696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Century Gothic" pitchFamily="34" charset="0"/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2339752" y="1340767"/>
            <a:ext cx="288032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2339752" y="1340768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Century Gothic" pitchFamily="34" charset="0"/>
              </a:rPr>
              <a:t>5</a:t>
            </a:r>
          </a:p>
        </p:txBody>
      </p:sp>
      <p:sp>
        <p:nvSpPr>
          <p:cNvPr id="9" name="Овал 8"/>
          <p:cNvSpPr/>
          <p:nvPr/>
        </p:nvSpPr>
        <p:spPr>
          <a:xfrm>
            <a:off x="1907704" y="2204863"/>
            <a:ext cx="288032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1907704" y="2204864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Century Gothic" pitchFamily="34" charset="0"/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971600" y="2204864"/>
            <a:ext cx="288032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971600" y="2204865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Century Gothic" pitchFamily="34" charset="0"/>
              </a:rPr>
              <a:t>3</a:t>
            </a:r>
          </a:p>
        </p:txBody>
      </p:sp>
      <p:sp>
        <p:nvSpPr>
          <p:cNvPr id="13" name="Овал 12"/>
          <p:cNvSpPr/>
          <p:nvPr/>
        </p:nvSpPr>
        <p:spPr>
          <a:xfrm>
            <a:off x="611560" y="1340767"/>
            <a:ext cx="288032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611560" y="1340768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Century Gothic" pitchFamily="34" charset="0"/>
              </a:rPr>
              <a:t>2</a:t>
            </a:r>
          </a:p>
        </p:txBody>
      </p:sp>
      <p:cxnSp>
        <p:nvCxnSpPr>
          <p:cNvPr id="18" name="Прямая со стрелкой 17"/>
          <p:cNvCxnSpPr>
            <a:stCxn id="6" idx="1"/>
          </p:cNvCxnSpPr>
          <p:nvPr/>
        </p:nvCxnSpPr>
        <p:spPr>
          <a:xfrm flipH="1">
            <a:off x="899592" y="831196"/>
            <a:ext cx="576064" cy="5095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4" idx="3"/>
            <a:endCxn id="12" idx="0"/>
          </p:cNvCxnSpPr>
          <p:nvPr/>
        </p:nvCxnSpPr>
        <p:spPr>
          <a:xfrm flipH="1">
            <a:off x="1115616" y="938546"/>
            <a:ext cx="402221" cy="12663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6" idx="2"/>
            <a:endCxn id="10" idx="0"/>
          </p:cNvCxnSpPr>
          <p:nvPr/>
        </p:nvCxnSpPr>
        <p:spPr>
          <a:xfrm>
            <a:off x="1619672" y="969695"/>
            <a:ext cx="432048" cy="12351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stCxn id="10" idx="1"/>
            <a:endCxn id="11" idx="6"/>
          </p:cNvCxnSpPr>
          <p:nvPr/>
        </p:nvCxnSpPr>
        <p:spPr>
          <a:xfrm flipH="1">
            <a:off x="1259632" y="2343364"/>
            <a:ext cx="648072" cy="55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stCxn id="8" idx="2"/>
          </p:cNvCxnSpPr>
          <p:nvPr/>
        </p:nvCxnSpPr>
        <p:spPr>
          <a:xfrm flipH="1">
            <a:off x="2195736" y="1617767"/>
            <a:ext cx="288032" cy="5870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 flipH="1" flipV="1">
            <a:off x="899592" y="1628800"/>
            <a:ext cx="1008112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6" idx="3"/>
            <a:endCxn id="8" idx="0"/>
          </p:cNvCxnSpPr>
          <p:nvPr/>
        </p:nvCxnSpPr>
        <p:spPr>
          <a:xfrm>
            <a:off x="1763688" y="831196"/>
            <a:ext cx="720080" cy="50957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stCxn id="8" idx="1"/>
          </p:cNvCxnSpPr>
          <p:nvPr/>
        </p:nvCxnSpPr>
        <p:spPr>
          <a:xfrm flipH="1">
            <a:off x="1259632" y="1479268"/>
            <a:ext cx="1080120" cy="72559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71600" y="908720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1720" y="908720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7624" y="1268760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1720" y="1484784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19672" y="1268760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67744" y="1772816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600" y="1628800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40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75656" y="2276872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47664" y="476672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solidFill>
                  <a:srgbClr val="FF0000"/>
                </a:solidFill>
                <a:latin typeface="Century Gothic" pitchFamily="34" charset="0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27784" y="1340768"/>
            <a:ext cx="357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solidFill>
                  <a:srgbClr val="FF0000"/>
                </a:solidFill>
                <a:latin typeface="Century Gothic" pitchFamily="34" charset="0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1720" y="2492896"/>
            <a:ext cx="357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solidFill>
                  <a:srgbClr val="FF0000"/>
                </a:solidFill>
                <a:latin typeface="Century Gothic" pitchFamily="34" charset="0"/>
              </a:rPr>
              <a:t>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84" y="2492896"/>
            <a:ext cx="357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solidFill>
                  <a:srgbClr val="FF0000"/>
                </a:solidFill>
                <a:latin typeface="Century Gothic" pitchFamily="34" charset="0"/>
              </a:rPr>
              <a:t>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1520" y="1340768"/>
            <a:ext cx="357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solidFill>
                  <a:srgbClr val="FF0000"/>
                </a:solidFill>
                <a:latin typeface="Century Gothic" pitchFamily="34" charset="0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87824" y="764704"/>
            <a:ext cx="556434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ru-RU" sz="1000" dirty="0">
                <a:latin typeface="Century Gothic" pitchFamily="34" charset="0"/>
              </a:rPr>
              <a:t>1 = 0, остальные = 1000</a:t>
            </a:r>
          </a:p>
          <a:p>
            <a:pPr marL="342900" indent="-342900">
              <a:buAutoNum type="arabicPeriod"/>
            </a:pPr>
            <a:r>
              <a:rPr lang="ru-RU" sz="1000" dirty="0">
                <a:latin typeface="Century Gothic" pitchFamily="34" charset="0"/>
              </a:rPr>
              <a:t>2 = 10, 3 = 30, 4 = 50, 5 = 10. Запомнили вариант пути 1 – 4 = 50</a:t>
            </a:r>
          </a:p>
          <a:p>
            <a:pPr marL="342900" indent="-342900">
              <a:buAutoNum type="arabicPeriod"/>
            </a:pPr>
            <a:r>
              <a:rPr lang="ru-RU" sz="1000" dirty="0">
                <a:latin typeface="Century Gothic" pitchFamily="34" charset="0"/>
              </a:rPr>
              <a:t>Начинаем с самых дешевых маршрутов:</a:t>
            </a:r>
          </a:p>
          <a:p>
            <a:pPr marL="342900" indent="-342900">
              <a:buAutoNum type="arabicPeriod"/>
            </a:pPr>
            <a:r>
              <a:rPr lang="ru-RU" sz="1000" dirty="0">
                <a:latin typeface="Century Gothic" pitchFamily="34" charset="0"/>
              </a:rPr>
              <a:t>2 = 10 – тупик</a:t>
            </a:r>
          </a:p>
          <a:p>
            <a:pPr marL="342900" indent="-342900">
              <a:buAutoNum type="arabicPeriod"/>
            </a:pPr>
            <a:r>
              <a:rPr lang="ru-RU" sz="1000" dirty="0">
                <a:latin typeface="Century Gothic" pitchFamily="34" charset="0"/>
              </a:rPr>
              <a:t>5 = 10: 4 = 40, 3 = 20. Запомнили вариант пути 1 – 5 – 4 = 40</a:t>
            </a:r>
          </a:p>
          <a:p>
            <a:pPr marL="342900" indent="-342900">
              <a:buAutoNum type="arabicPeriod"/>
            </a:pPr>
            <a:r>
              <a:rPr lang="ru-RU" sz="1000" dirty="0">
                <a:latin typeface="Century Gothic" pitchFamily="34" charset="0"/>
              </a:rPr>
              <a:t>3 = 20: 5 = 30 – неподходящий вариант, т.к. текущий = 10 и он меньше</a:t>
            </a:r>
          </a:p>
          <a:p>
            <a:pPr marL="342900" indent="-342900">
              <a:buAutoNum type="arabicPeriod"/>
            </a:pPr>
            <a:r>
              <a:rPr lang="ru-RU" sz="1000" dirty="0">
                <a:latin typeface="Century Gothic" pitchFamily="34" charset="0"/>
              </a:rPr>
              <a:t>Не осталось необработанных вариантов, кратчайший маршрут: </a:t>
            </a:r>
            <a:r>
              <a:rPr lang="ru-RU" sz="1000" b="1" dirty="0">
                <a:latin typeface="Century Gothic" pitchFamily="34" charset="0"/>
              </a:rPr>
              <a:t>1 – 5 – 4 = 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59832" y="548680"/>
            <a:ext cx="15103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Алгоритм </a:t>
            </a:r>
            <a:r>
              <a:rPr lang="ru-RU" sz="1000" b="1" dirty="0" err="1">
                <a:latin typeface="Century Gothic" pitchFamily="34" charset="0"/>
              </a:rPr>
              <a:t>Дейкстры</a:t>
            </a:r>
            <a:endParaRPr lang="ru-RU" sz="1000" b="1" dirty="0">
              <a:latin typeface="Century Gothic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644008" y="4725144"/>
            <a:ext cx="10005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Алгоритм А*</a:t>
            </a:r>
          </a:p>
        </p:txBody>
      </p:sp>
      <p:sp>
        <p:nvSpPr>
          <p:cNvPr id="52" name="Овал 51"/>
          <p:cNvSpPr/>
          <p:nvPr/>
        </p:nvSpPr>
        <p:spPr>
          <a:xfrm>
            <a:off x="395536" y="3717032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/>
          <p:cNvSpPr txBox="1"/>
          <p:nvPr/>
        </p:nvSpPr>
        <p:spPr>
          <a:xfrm>
            <a:off x="395536" y="3717032"/>
            <a:ext cx="360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A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54" name="Овал 53"/>
          <p:cNvSpPr/>
          <p:nvPr/>
        </p:nvSpPr>
        <p:spPr>
          <a:xfrm>
            <a:off x="1043608" y="3356992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TextBox 54"/>
          <p:cNvSpPr txBox="1"/>
          <p:nvPr/>
        </p:nvSpPr>
        <p:spPr>
          <a:xfrm>
            <a:off x="1043608" y="3356992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B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56" name="Овал 55"/>
          <p:cNvSpPr/>
          <p:nvPr/>
        </p:nvSpPr>
        <p:spPr>
          <a:xfrm>
            <a:off x="1043608" y="4221088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/>
          <p:cNvSpPr txBox="1"/>
          <p:nvPr/>
        </p:nvSpPr>
        <p:spPr>
          <a:xfrm>
            <a:off x="1043608" y="4221088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D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58" name="Овал 57"/>
          <p:cNvSpPr/>
          <p:nvPr/>
        </p:nvSpPr>
        <p:spPr>
          <a:xfrm>
            <a:off x="1907704" y="3356992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Box 58"/>
          <p:cNvSpPr txBox="1"/>
          <p:nvPr/>
        </p:nvSpPr>
        <p:spPr>
          <a:xfrm>
            <a:off x="1907704" y="3356992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C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62" name="Овал 61"/>
          <p:cNvSpPr/>
          <p:nvPr/>
        </p:nvSpPr>
        <p:spPr>
          <a:xfrm>
            <a:off x="1907704" y="4221088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Box 62"/>
          <p:cNvSpPr txBox="1"/>
          <p:nvPr/>
        </p:nvSpPr>
        <p:spPr>
          <a:xfrm>
            <a:off x="1907704" y="4221088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E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66" name="Овал 65"/>
          <p:cNvSpPr/>
          <p:nvPr/>
        </p:nvSpPr>
        <p:spPr>
          <a:xfrm>
            <a:off x="2699792" y="3789040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2699792" y="3789040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F</a:t>
            </a:r>
            <a:endParaRPr lang="ru-RU" sz="1050" b="1" dirty="0">
              <a:latin typeface="Century Gothic" pitchFamily="34" charset="0"/>
            </a:endParaRPr>
          </a:p>
        </p:txBody>
      </p:sp>
      <p:cxnSp>
        <p:nvCxnSpPr>
          <p:cNvPr id="78" name="Прямая со стрелкой 77"/>
          <p:cNvCxnSpPr>
            <a:stCxn id="52" idx="7"/>
            <a:endCxn id="55" idx="1"/>
          </p:cNvCxnSpPr>
          <p:nvPr/>
        </p:nvCxnSpPr>
        <p:spPr>
          <a:xfrm flipV="1">
            <a:off x="641387" y="3487797"/>
            <a:ext cx="402221" cy="2714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 стрелкой 79"/>
          <p:cNvCxnSpPr>
            <a:stCxn id="54" idx="6"/>
            <a:endCxn id="58" idx="2"/>
          </p:cNvCxnSpPr>
          <p:nvPr/>
        </p:nvCxnSpPr>
        <p:spPr>
          <a:xfrm>
            <a:off x="1331640" y="3501008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 стрелкой 81"/>
          <p:cNvCxnSpPr>
            <a:stCxn id="52" idx="5"/>
            <a:endCxn id="57" idx="1"/>
          </p:cNvCxnSpPr>
          <p:nvPr/>
        </p:nvCxnSpPr>
        <p:spPr>
          <a:xfrm>
            <a:off x="641387" y="3962883"/>
            <a:ext cx="402221" cy="3890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>
            <a:stCxn id="58" idx="4"/>
          </p:cNvCxnSpPr>
          <p:nvPr/>
        </p:nvCxnSpPr>
        <p:spPr>
          <a:xfrm flipH="1">
            <a:off x="1331641" y="3645024"/>
            <a:ext cx="720079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>
            <a:stCxn id="58" idx="3"/>
            <a:endCxn id="52" idx="6"/>
          </p:cNvCxnSpPr>
          <p:nvPr/>
        </p:nvCxnSpPr>
        <p:spPr>
          <a:xfrm flipH="1">
            <a:off x="683568" y="3602843"/>
            <a:ext cx="1266317" cy="2582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 стрелкой 89"/>
          <p:cNvCxnSpPr>
            <a:stCxn id="56" idx="6"/>
            <a:endCxn id="63" idx="1"/>
          </p:cNvCxnSpPr>
          <p:nvPr/>
        </p:nvCxnSpPr>
        <p:spPr>
          <a:xfrm flipV="1">
            <a:off x="1331640" y="4351893"/>
            <a:ext cx="576064" cy="132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Прямая со стрелкой 91"/>
          <p:cNvCxnSpPr>
            <a:stCxn id="63" idx="0"/>
            <a:endCxn id="58" idx="5"/>
          </p:cNvCxnSpPr>
          <p:nvPr/>
        </p:nvCxnSpPr>
        <p:spPr>
          <a:xfrm flipV="1">
            <a:off x="2087724" y="3602843"/>
            <a:ext cx="65831" cy="6182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/>
          <p:cNvCxnSpPr>
            <a:stCxn id="62" idx="7"/>
          </p:cNvCxnSpPr>
          <p:nvPr/>
        </p:nvCxnSpPr>
        <p:spPr>
          <a:xfrm flipV="1">
            <a:off x="2153555" y="4005064"/>
            <a:ext cx="546237" cy="2582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/>
          <p:cNvCxnSpPr>
            <a:stCxn id="66" idx="1"/>
            <a:endCxn id="58" idx="6"/>
          </p:cNvCxnSpPr>
          <p:nvPr/>
        </p:nvCxnSpPr>
        <p:spPr>
          <a:xfrm flipH="1" flipV="1">
            <a:off x="2195736" y="3501008"/>
            <a:ext cx="546237" cy="3302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467544" y="2708920"/>
            <a:ext cx="6275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Задача </a:t>
            </a:r>
            <a:r>
              <a:rPr lang="en-US" b="1" dirty="0"/>
              <a:t>4</a:t>
            </a:r>
            <a:r>
              <a:rPr lang="ru-RU" b="1" dirty="0"/>
              <a:t>. Найти кратчайший путь из вершины </a:t>
            </a:r>
            <a:r>
              <a:rPr lang="en-US" b="1" dirty="0"/>
              <a:t>C</a:t>
            </a:r>
            <a:r>
              <a:rPr lang="ru-RU" b="1" dirty="0"/>
              <a:t> в вершину </a:t>
            </a:r>
            <a:r>
              <a:rPr lang="en-US" b="1" dirty="0"/>
              <a:t>F</a:t>
            </a:r>
            <a:endParaRPr lang="ru-RU" b="1" dirty="0"/>
          </a:p>
        </p:txBody>
      </p:sp>
      <p:sp>
        <p:nvSpPr>
          <p:cNvPr id="99" name="TextBox 98"/>
          <p:cNvSpPr txBox="1"/>
          <p:nvPr/>
        </p:nvSpPr>
        <p:spPr>
          <a:xfrm>
            <a:off x="251520" y="4725144"/>
            <a:ext cx="15103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Алгоритм </a:t>
            </a:r>
            <a:r>
              <a:rPr lang="ru-RU" sz="1000" b="1" dirty="0" err="1">
                <a:latin typeface="Century Gothic" pitchFamily="34" charset="0"/>
              </a:rPr>
              <a:t>Дейкстры</a:t>
            </a:r>
            <a:endParaRPr lang="ru-RU" sz="1000" b="1" dirty="0">
              <a:latin typeface="Century Gothic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051720" y="3140968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solidFill>
                  <a:srgbClr val="FF0000"/>
                </a:solidFill>
                <a:latin typeface="Century Gothic" pitchFamily="34" charset="0"/>
              </a:rP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1560" y="3429000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2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475656" y="3356992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4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187624" y="3645024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2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411760" y="3573016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2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683568" y="4077072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7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475656" y="4293096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1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475656" y="3861048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13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2411760" y="4077072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5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2123728" y="3861048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12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2627784" y="3573016"/>
            <a:ext cx="357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Century Gothic" pitchFamily="34" charset="0"/>
              </a:rPr>
              <a:t>15</a:t>
            </a:r>
            <a:endParaRPr lang="ru-RU" sz="1200" b="1" dirty="0">
              <a:solidFill>
                <a:srgbClr val="FF0000"/>
              </a:solidFill>
              <a:latin typeface="Century Gothic" pitchFamily="34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2051720" y="4509120"/>
            <a:ext cx="357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Century Gothic" pitchFamily="34" charset="0"/>
              </a:rPr>
              <a:t>10</a:t>
            </a:r>
            <a:endParaRPr lang="ru-RU" sz="1200" b="1" dirty="0">
              <a:solidFill>
                <a:srgbClr val="FF0000"/>
              </a:solidFill>
              <a:latin typeface="Century Gothic" pitchFamily="34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971600" y="4509120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Century Gothic" pitchFamily="34" charset="0"/>
              </a:rPr>
              <a:t>9</a:t>
            </a:r>
            <a:endParaRPr lang="ru-RU" sz="1200" b="1" dirty="0">
              <a:solidFill>
                <a:srgbClr val="FF0000"/>
              </a:solidFill>
              <a:latin typeface="Century Gothic" pitchFamily="34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79512" y="3717032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Century Gothic" pitchFamily="34" charset="0"/>
              </a:rPr>
              <a:t>2</a:t>
            </a:r>
            <a:endParaRPr lang="ru-RU" sz="1200" b="1" dirty="0">
              <a:solidFill>
                <a:srgbClr val="FF0000"/>
              </a:solidFill>
              <a:latin typeface="Century Gothic" pitchFamily="34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899592" y="3140968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Century Gothic" pitchFamily="34" charset="0"/>
              </a:rPr>
              <a:t>4</a:t>
            </a:r>
            <a:endParaRPr lang="ru-RU" sz="1200" b="1" dirty="0">
              <a:solidFill>
                <a:srgbClr val="FF0000"/>
              </a:solidFill>
              <a:latin typeface="Century Gothic" pitchFamily="34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79512" y="4919008"/>
            <a:ext cx="45464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800" dirty="0">
                <a:latin typeface="Century Gothic" pitchFamily="34" charset="0"/>
              </a:rPr>
              <a:t>C = 0</a:t>
            </a:r>
            <a:r>
              <a:rPr lang="ru-RU" sz="800" dirty="0">
                <a:latin typeface="Century Gothic" pitchFamily="34" charset="0"/>
              </a:rPr>
              <a:t>, остальные = 1000</a:t>
            </a:r>
          </a:p>
          <a:p>
            <a:pPr marL="342900" indent="-342900">
              <a:buAutoNum type="arabicPeriod"/>
            </a:pPr>
            <a:r>
              <a:rPr lang="en-US" sz="800" dirty="0">
                <a:latin typeface="Century Gothic" pitchFamily="34" charset="0"/>
              </a:rPr>
              <a:t>A = 2, D = 13</a:t>
            </a:r>
          </a:p>
          <a:p>
            <a:pPr marL="342900" indent="-342900">
              <a:buAutoNum type="arabicPeriod"/>
            </a:pPr>
            <a:r>
              <a:rPr lang="ru-RU" sz="800" dirty="0">
                <a:latin typeface="Century Gothic" pitchFamily="34" charset="0"/>
              </a:rPr>
              <a:t>Начинаем с кратчайших:</a:t>
            </a:r>
          </a:p>
          <a:p>
            <a:pPr marL="342900" indent="-342900"/>
            <a:r>
              <a:rPr lang="en-US" sz="800" dirty="0">
                <a:latin typeface="Century Gothic" pitchFamily="34" charset="0"/>
              </a:rPr>
              <a:t>	A = 2: B = 4, D = 9</a:t>
            </a:r>
          </a:p>
          <a:p>
            <a:pPr marL="342900" indent="-342900"/>
            <a:r>
              <a:rPr lang="en-US" sz="800" dirty="0">
                <a:latin typeface="Century Gothic" pitchFamily="34" charset="0"/>
              </a:rPr>
              <a:t>	D = 9: E = 10</a:t>
            </a:r>
          </a:p>
          <a:p>
            <a:pPr marL="342900" indent="-342900"/>
            <a:r>
              <a:rPr lang="en-US" sz="800" dirty="0">
                <a:latin typeface="Century Gothic" pitchFamily="34" charset="0"/>
              </a:rPr>
              <a:t>4. </a:t>
            </a:r>
            <a:r>
              <a:rPr lang="ru-RU" sz="800" dirty="0">
                <a:latin typeface="Century Gothic" pitchFamily="34" charset="0"/>
              </a:rPr>
              <a:t>Начинаем с кратчайших от </a:t>
            </a:r>
            <a:r>
              <a:rPr lang="en-US" sz="800" dirty="0">
                <a:latin typeface="Century Gothic" pitchFamily="34" charset="0"/>
              </a:rPr>
              <a:t>A:</a:t>
            </a:r>
          </a:p>
          <a:p>
            <a:pPr marL="342900" indent="-342900"/>
            <a:r>
              <a:rPr lang="en-US" sz="800" dirty="0">
                <a:latin typeface="Century Gothic" pitchFamily="34" charset="0"/>
              </a:rPr>
              <a:t>	B = 4: C – </a:t>
            </a:r>
            <a:r>
              <a:rPr lang="ru-RU" sz="800" dirty="0">
                <a:latin typeface="Century Gothic" pitchFamily="34" charset="0"/>
              </a:rPr>
              <a:t>старт, других путей нет</a:t>
            </a:r>
          </a:p>
          <a:p>
            <a:pPr marL="342900" indent="-342900"/>
            <a:r>
              <a:rPr lang="ru-RU" sz="800" dirty="0">
                <a:latin typeface="Century Gothic" pitchFamily="34" charset="0"/>
              </a:rPr>
              <a:t>	</a:t>
            </a:r>
            <a:r>
              <a:rPr lang="en-US" sz="800" dirty="0">
                <a:latin typeface="Century Gothic" pitchFamily="34" charset="0"/>
              </a:rPr>
              <a:t>D = 9: E = 10</a:t>
            </a:r>
            <a:r>
              <a:rPr lang="ru-RU" sz="800" dirty="0">
                <a:latin typeface="Century Gothic" pitchFamily="34" charset="0"/>
              </a:rPr>
              <a:t> (дубль </a:t>
            </a:r>
            <a:r>
              <a:rPr lang="ru-RU" sz="800" dirty="0" err="1">
                <a:latin typeface="Century Gothic" pitchFamily="34" charset="0"/>
              </a:rPr>
              <a:t>пред.шага</a:t>
            </a:r>
            <a:r>
              <a:rPr lang="ru-RU" sz="800" dirty="0">
                <a:latin typeface="Century Gothic" pitchFamily="34" charset="0"/>
              </a:rPr>
              <a:t>)</a:t>
            </a:r>
          </a:p>
          <a:p>
            <a:pPr marL="342900" indent="-342900"/>
            <a:r>
              <a:rPr lang="ru-RU" sz="800" dirty="0">
                <a:latin typeface="Century Gothic" pitchFamily="34" charset="0"/>
              </a:rPr>
              <a:t>5. Начинаем с кратчайших от </a:t>
            </a:r>
            <a:r>
              <a:rPr lang="en-US" sz="800" dirty="0">
                <a:latin typeface="Century Gothic" pitchFamily="34" charset="0"/>
              </a:rPr>
              <a:t>D:</a:t>
            </a:r>
          </a:p>
          <a:p>
            <a:pPr marL="342900" indent="-342900"/>
            <a:r>
              <a:rPr lang="en-US" sz="800" dirty="0">
                <a:latin typeface="Century Gothic" pitchFamily="34" charset="0"/>
              </a:rPr>
              <a:t>	D = 9: E = 10 (</a:t>
            </a:r>
            <a:r>
              <a:rPr lang="ru-RU" sz="800" dirty="0">
                <a:latin typeface="Century Gothic" pitchFamily="34" charset="0"/>
              </a:rPr>
              <a:t>снова дубль шага)</a:t>
            </a:r>
          </a:p>
          <a:p>
            <a:pPr marL="342900" indent="-342900"/>
            <a:r>
              <a:rPr lang="ru-RU" sz="800" dirty="0">
                <a:latin typeface="Century Gothic" pitchFamily="34" charset="0"/>
              </a:rPr>
              <a:t>6. Идем от </a:t>
            </a:r>
            <a:r>
              <a:rPr lang="en-US" sz="800" dirty="0">
                <a:latin typeface="Century Gothic" pitchFamily="34" charset="0"/>
              </a:rPr>
              <a:t>E</a:t>
            </a:r>
            <a:r>
              <a:rPr lang="ru-RU" sz="800" dirty="0">
                <a:latin typeface="Century Gothic" pitchFamily="34" charset="0"/>
              </a:rPr>
              <a:t>:</a:t>
            </a:r>
          </a:p>
          <a:p>
            <a:pPr marL="342900" indent="-342900"/>
            <a:r>
              <a:rPr lang="ru-RU" sz="800" dirty="0">
                <a:latin typeface="Century Gothic" pitchFamily="34" charset="0"/>
              </a:rPr>
              <a:t>	</a:t>
            </a:r>
            <a:r>
              <a:rPr lang="en-US" sz="800" dirty="0">
                <a:latin typeface="Century Gothic" pitchFamily="34" charset="0"/>
              </a:rPr>
              <a:t>E = 10: F = 15</a:t>
            </a:r>
            <a:r>
              <a:rPr lang="ru-RU" sz="800" dirty="0">
                <a:latin typeface="Century Gothic" pitchFamily="34" charset="0"/>
              </a:rPr>
              <a:t> </a:t>
            </a:r>
            <a:r>
              <a:rPr lang="en-US" sz="800" dirty="0">
                <a:latin typeface="Century Gothic" pitchFamily="34" charset="0"/>
              </a:rPr>
              <a:t>(</a:t>
            </a:r>
            <a:r>
              <a:rPr lang="ru-RU" sz="800" dirty="0">
                <a:latin typeface="Century Gothic" pitchFamily="34" charset="0"/>
              </a:rPr>
              <a:t>запомнить путь </a:t>
            </a:r>
            <a:r>
              <a:rPr lang="en-US" sz="800" dirty="0">
                <a:latin typeface="Century Gothic" pitchFamily="34" charset="0"/>
              </a:rPr>
              <a:t>C – A – D – E – F = 15</a:t>
            </a:r>
            <a:r>
              <a:rPr lang="ru-RU" sz="800" dirty="0">
                <a:latin typeface="Century Gothic" pitchFamily="34" charset="0"/>
              </a:rPr>
              <a:t>)</a:t>
            </a:r>
          </a:p>
          <a:p>
            <a:pPr marL="342900" indent="-342900"/>
            <a:r>
              <a:rPr lang="ru-RU" sz="800" dirty="0">
                <a:latin typeface="Century Gothic" pitchFamily="34" charset="0"/>
              </a:rPr>
              <a:t>	             С – старт, туда не идем</a:t>
            </a:r>
          </a:p>
          <a:p>
            <a:pPr marL="342900" indent="-342900"/>
            <a:r>
              <a:rPr lang="ru-RU" sz="800" dirty="0">
                <a:latin typeface="Century Gothic" pitchFamily="34" charset="0"/>
              </a:rPr>
              <a:t>7. Не осталось необработанных вариантов, кратчайший маршрут:</a:t>
            </a:r>
          </a:p>
          <a:p>
            <a:pPr marL="342900" indent="-342900"/>
            <a:r>
              <a:rPr lang="ru-RU" sz="800" dirty="0">
                <a:latin typeface="Century Gothic" pitchFamily="34" charset="0"/>
              </a:rPr>
              <a:t>	</a:t>
            </a:r>
            <a:r>
              <a:rPr lang="en-US" sz="800" dirty="0">
                <a:latin typeface="Century Gothic" pitchFamily="34" charset="0"/>
              </a:rPr>
              <a:t> </a:t>
            </a:r>
            <a:r>
              <a:rPr lang="en-US" sz="800" b="1" dirty="0">
                <a:latin typeface="Century Gothic" pitchFamily="34" charset="0"/>
              </a:rPr>
              <a:t>C – A – D – E – F = 15</a:t>
            </a:r>
            <a:endParaRPr lang="ru-RU" sz="800" b="1" dirty="0">
              <a:latin typeface="Century Gothic" pitchFamily="34" charset="0"/>
            </a:endParaRPr>
          </a:p>
        </p:txBody>
      </p:sp>
      <p:sp>
        <p:nvSpPr>
          <p:cNvPr id="116" name="Овал 115"/>
          <p:cNvSpPr/>
          <p:nvPr/>
        </p:nvSpPr>
        <p:spPr>
          <a:xfrm>
            <a:off x="4932040" y="3717032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7" name="TextBox 116"/>
          <p:cNvSpPr txBox="1"/>
          <p:nvPr/>
        </p:nvSpPr>
        <p:spPr>
          <a:xfrm>
            <a:off x="4932040" y="3717032"/>
            <a:ext cx="360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A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118" name="Овал 117"/>
          <p:cNvSpPr/>
          <p:nvPr/>
        </p:nvSpPr>
        <p:spPr>
          <a:xfrm>
            <a:off x="5580112" y="3356992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9" name="TextBox 118"/>
          <p:cNvSpPr txBox="1"/>
          <p:nvPr/>
        </p:nvSpPr>
        <p:spPr>
          <a:xfrm>
            <a:off x="5580112" y="3356992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B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120" name="Овал 119"/>
          <p:cNvSpPr/>
          <p:nvPr/>
        </p:nvSpPr>
        <p:spPr>
          <a:xfrm>
            <a:off x="5580112" y="4221088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1" name="TextBox 120"/>
          <p:cNvSpPr txBox="1"/>
          <p:nvPr/>
        </p:nvSpPr>
        <p:spPr>
          <a:xfrm>
            <a:off x="5580112" y="4221088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D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122" name="Овал 121"/>
          <p:cNvSpPr/>
          <p:nvPr/>
        </p:nvSpPr>
        <p:spPr>
          <a:xfrm>
            <a:off x="6444208" y="3356992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3" name="TextBox 122"/>
          <p:cNvSpPr txBox="1"/>
          <p:nvPr/>
        </p:nvSpPr>
        <p:spPr>
          <a:xfrm>
            <a:off x="6444208" y="3356992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C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124" name="Овал 123"/>
          <p:cNvSpPr/>
          <p:nvPr/>
        </p:nvSpPr>
        <p:spPr>
          <a:xfrm>
            <a:off x="6444208" y="4221088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5" name="TextBox 124"/>
          <p:cNvSpPr txBox="1"/>
          <p:nvPr/>
        </p:nvSpPr>
        <p:spPr>
          <a:xfrm>
            <a:off x="6444208" y="4221088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E</a:t>
            </a:r>
            <a:endParaRPr lang="ru-RU" sz="1050" b="1" dirty="0">
              <a:latin typeface="Century Gothic" pitchFamily="34" charset="0"/>
            </a:endParaRPr>
          </a:p>
        </p:txBody>
      </p:sp>
      <p:sp>
        <p:nvSpPr>
          <p:cNvPr id="126" name="Овал 125"/>
          <p:cNvSpPr/>
          <p:nvPr/>
        </p:nvSpPr>
        <p:spPr>
          <a:xfrm>
            <a:off x="7236296" y="3789040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7" name="TextBox 126"/>
          <p:cNvSpPr txBox="1"/>
          <p:nvPr/>
        </p:nvSpPr>
        <p:spPr>
          <a:xfrm>
            <a:off x="7236296" y="3789040"/>
            <a:ext cx="360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entury Gothic" pitchFamily="34" charset="0"/>
              </a:rPr>
              <a:t>F</a:t>
            </a:r>
            <a:endParaRPr lang="ru-RU" sz="1050" b="1" dirty="0">
              <a:latin typeface="Century Gothic" pitchFamily="34" charset="0"/>
            </a:endParaRPr>
          </a:p>
        </p:txBody>
      </p:sp>
      <p:cxnSp>
        <p:nvCxnSpPr>
          <p:cNvPr id="128" name="Прямая со стрелкой 127"/>
          <p:cNvCxnSpPr>
            <a:stCxn id="116" idx="7"/>
            <a:endCxn id="119" idx="1"/>
          </p:cNvCxnSpPr>
          <p:nvPr/>
        </p:nvCxnSpPr>
        <p:spPr>
          <a:xfrm flipV="1">
            <a:off x="5177891" y="3487797"/>
            <a:ext cx="402221" cy="2714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>
            <a:stCxn id="118" idx="6"/>
            <a:endCxn id="122" idx="2"/>
          </p:cNvCxnSpPr>
          <p:nvPr/>
        </p:nvCxnSpPr>
        <p:spPr>
          <a:xfrm>
            <a:off x="5868144" y="3501008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Прямая со стрелкой 129"/>
          <p:cNvCxnSpPr>
            <a:stCxn id="116" idx="5"/>
            <a:endCxn id="121" idx="1"/>
          </p:cNvCxnSpPr>
          <p:nvPr/>
        </p:nvCxnSpPr>
        <p:spPr>
          <a:xfrm>
            <a:off x="5177891" y="3962883"/>
            <a:ext cx="402221" cy="3890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/>
          <p:cNvCxnSpPr>
            <a:stCxn id="122" idx="4"/>
          </p:cNvCxnSpPr>
          <p:nvPr/>
        </p:nvCxnSpPr>
        <p:spPr>
          <a:xfrm flipH="1">
            <a:off x="5868145" y="3645024"/>
            <a:ext cx="720079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Прямая со стрелкой 131"/>
          <p:cNvCxnSpPr>
            <a:stCxn id="122" idx="3"/>
            <a:endCxn id="116" idx="6"/>
          </p:cNvCxnSpPr>
          <p:nvPr/>
        </p:nvCxnSpPr>
        <p:spPr>
          <a:xfrm flipH="1">
            <a:off x="5220072" y="3602843"/>
            <a:ext cx="1266317" cy="2582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Прямая со стрелкой 132"/>
          <p:cNvCxnSpPr>
            <a:stCxn id="120" idx="6"/>
            <a:endCxn id="125" idx="1"/>
          </p:cNvCxnSpPr>
          <p:nvPr/>
        </p:nvCxnSpPr>
        <p:spPr>
          <a:xfrm flipV="1">
            <a:off x="5868144" y="4351893"/>
            <a:ext cx="576064" cy="132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Прямая со стрелкой 133"/>
          <p:cNvCxnSpPr>
            <a:stCxn id="125" idx="0"/>
            <a:endCxn id="122" idx="5"/>
          </p:cNvCxnSpPr>
          <p:nvPr/>
        </p:nvCxnSpPr>
        <p:spPr>
          <a:xfrm flipV="1">
            <a:off x="6624228" y="3602843"/>
            <a:ext cx="65831" cy="6182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34"/>
          <p:cNvCxnSpPr>
            <a:stCxn id="124" idx="7"/>
          </p:cNvCxnSpPr>
          <p:nvPr/>
        </p:nvCxnSpPr>
        <p:spPr>
          <a:xfrm flipV="1">
            <a:off x="6690059" y="4005064"/>
            <a:ext cx="546237" cy="2582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35"/>
          <p:cNvCxnSpPr>
            <a:stCxn id="126" idx="1"/>
            <a:endCxn id="122" idx="6"/>
          </p:cNvCxnSpPr>
          <p:nvPr/>
        </p:nvCxnSpPr>
        <p:spPr>
          <a:xfrm flipH="1" flipV="1">
            <a:off x="6732240" y="3501008"/>
            <a:ext cx="546237" cy="3302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6588224" y="3140968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solidFill>
                  <a:srgbClr val="FF0000"/>
                </a:solidFill>
                <a:latin typeface="Century Gothic" pitchFamily="34" charset="0"/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148064" y="3429000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2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6012160" y="3356992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4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5724128" y="3645024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2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6948264" y="3573016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2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5220072" y="4077072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7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6012160" y="4293096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1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6012160" y="3861048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13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6948264" y="4077072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5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6660232" y="3861048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12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7164288" y="3573016"/>
            <a:ext cx="357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Century Gothic" pitchFamily="34" charset="0"/>
              </a:rPr>
              <a:t>15</a:t>
            </a:r>
            <a:endParaRPr lang="ru-RU" sz="1200" b="1" dirty="0">
              <a:solidFill>
                <a:srgbClr val="FF0000"/>
              </a:solidFill>
              <a:latin typeface="Century Gothic" pitchFamily="34" charset="0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6588224" y="4509120"/>
            <a:ext cx="357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Century Gothic" pitchFamily="34" charset="0"/>
              </a:rPr>
              <a:t>10</a:t>
            </a:r>
            <a:endParaRPr lang="ru-RU" sz="1200" b="1" dirty="0">
              <a:solidFill>
                <a:srgbClr val="FF0000"/>
              </a:solidFill>
              <a:latin typeface="Century Gothic" pitchFamily="34" charset="0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5508104" y="4509120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solidFill>
                  <a:srgbClr val="FF0000"/>
                </a:solidFill>
                <a:latin typeface="Century Gothic" pitchFamily="34" charset="0"/>
              </a:rPr>
              <a:t>9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716016" y="3717032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solidFill>
                  <a:srgbClr val="FF0000"/>
                </a:solidFill>
                <a:latin typeface="Century Gothic" pitchFamily="34" charset="0"/>
              </a:rPr>
              <a:t>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436096" y="3140968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solidFill>
                  <a:srgbClr val="FF0000"/>
                </a:solidFill>
                <a:latin typeface="Century Gothic" pitchFamily="34" charset="0"/>
              </a:rPr>
              <a:t>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923928" y="4941168"/>
            <a:ext cx="5040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800" dirty="0">
                <a:latin typeface="Century Gothic" pitchFamily="34" charset="0"/>
              </a:rPr>
              <a:t>C = 0</a:t>
            </a:r>
            <a:r>
              <a:rPr lang="ru-RU" sz="800" dirty="0">
                <a:latin typeface="Century Gothic" pitchFamily="34" charset="0"/>
              </a:rPr>
              <a:t>, остальные = 1000</a:t>
            </a:r>
          </a:p>
          <a:p>
            <a:pPr marL="342900" indent="-342900">
              <a:buAutoNum type="arabicPeriod"/>
            </a:pPr>
            <a:r>
              <a:rPr lang="en-US" sz="800" dirty="0">
                <a:latin typeface="Century Gothic" pitchFamily="34" charset="0"/>
              </a:rPr>
              <a:t>A = 2, D = 13</a:t>
            </a:r>
          </a:p>
          <a:p>
            <a:pPr marL="342900" indent="-342900">
              <a:buAutoNum type="arabicPeriod"/>
            </a:pPr>
            <a:r>
              <a:rPr lang="ru-RU" sz="800" dirty="0">
                <a:latin typeface="Century Gothic" pitchFamily="34" charset="0"/>
              </a:rPr>
              <a:t>Идем по кратчайшему: </a:t>
            </a:r>
            <a:r>
              <a:rPr lang="en-US" sz="800" dirty="0">
                <a:latin typeface="Century Gothic" pitchFamily="34" charset="0"/>
              </a:rPr>
              <a:t>A = 2: B = 4, D = 9</a:t>
            </a:r>
            <a:endParaRPr lang="ru-RU" sz="800" dirty="0">
              <a:latin typeface="Century Gothic" pitchFamily="34" charset="0"/>
            </a:endParaRPr>
          </a:p>
          <a:p>
            <a:pPr marL="342900" indent="-342900">
              <a:buAutoNum type="arabicPeriod"/>
            </a:pPr>
            <a:r>
              <a:rPr lang="ru-RU" sz="800" dirty="0">
                <a:latin typeface="Century Gothic" pitchFamily="34" charset="0"/>
              </a:rPr>
              <a:t>Идем по кратчайшему: </a:t>
            </a:r>
            <a:r>
              <a:rPr lang="en-US" sz="800" dirty="0">
                <a:latin typeface="Century Gothic" pitchFamily="34" charset="0"/>
              </a:rPr>
              <a:t>B = 4: C </a:t>
            </a:r>
            <a:r>
              <a:rPr lang="ru-RU" sz="800" dirty="0">
                <a:latin typeface="Century Gothic" pitchFamily="34" charset="0"/>
              </a:rPr>
              <a:t>– старт, получаем цикл, возвращаемся на шаг назад</a:t>
            </a:r>
            <a:endParaRPr lang="en-US" sz="800" dirty="0">
              <a:latin typeface="Century Gothic" pitchFamily="34" charset="0"/>
            </a:endParaRPr>
          </a:p>
          <a:p>
            <a:pPr marL="342900" indent="-342900"/>
            <a:r>
              <a:rPr lang="en-US" sz="800" dirty="0">
                <a:latin typeface="Century Gothic" pitchFamily="34" charset="0"/>
              </a:rPr>
              <a:t>		                         D = 9: E = 10</a:t>
            </a:r>
          </a:p>
          <a:p>
            <a:pPr marL="342900" indent="-342900"/>
            <a:r>
              <a:rPr lang="en-US" sz="800" dirty="0">
                <a:latin typeface="Century Gothic" pitchFamily="34" charset="0"/>
              </a:rPr>
              <a:t>5</a:t>
            </a:r>
            <a:r>
              <a:rPr lang="ru-RU" sz="800" dirty="0">
                <a:latin typeface="Century Gothic" pitchFamily="34" charset="0"/>
              </a:rPr>
              <a:t>. Идём по кратчайшему и единственному:</a:t>
            </a:r>
            <a:r>
              <a:rPr lang="en-US" sz="800" dirty="0">
                <a:latin typeface="Century Gothic" pitchFamily="34" charset="0"/>
              </a:rPr>
              <a:t> E = 10: F = 15; C – </a:t>
            </a:r>
            <a:r>
              <a:rPr lang="ru-RU" sz="800" dirty="0">
                <a:latin typeface="Century Gothic" pitchFamily="34" charset="0"/>
              </a:rPr>
              <a:t>старт</a:t>
            </a:r>
          </a:p>
          <a:p>
            <a:pPr marL="342900" indent="-342900"/>
            <a:r>
              <a:rPr lang="ru-RU" sz="800" dirty="0">
                <a:latin typeface="Century Gothic" pitchFamily="34" charset="0"/>
              </a:rPr>
              <a:t>6. Финиш достигнут </a:t>
            </a:r>
            <a:r>
              <a:rPr lang="en-US" sz="800" b="1" dirty="0">
                <a:latin typeface="Century Gothic" pitchFamily="34" charset="0"/>
              </a:rPr>
              <a:t>C – A – D – E – F = 15</a:t>
            </a:r>
            <a:endParaRPr lang="ru-RU" sz="800" dirty="0">
              <a:latin typeface="Century Gothic" pitchFamily="34" charset="0"/>
            </a:endParaRPr>
          </a:p>
          <a:p>
            <a:pPr marL="342900" indent="-342900"/>
            <a:endParaRPr lang="ru-RU" sz="800" dirty="0">
              <a:latin typeface="Century Gothic" pitchFamily="34" charset="0"/>
            </a:endParaRPr>
          </a:p>
          <a:p>
            <a:pPr marL="342900" indent="-342900"/>
            <a:r>
              <a:rPr lang="ru-RU" sz="800" dirty="0">
                <a:latin typeface="Century Gothic" pitchFamily="34" charset="0"/>
              </a:rPr>
              <a:t>Вывод: результат одинаковый, но меньше шагов (в т.ч. исключаются повторы), нужно исключать вероятность  замкнутых циклов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332656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Задача 5. Построить дерево отбора </a:t>
            </a:r>
            <a:r>
              <a:rPr lang="en-US" b="1" dirty="0"/>
              <a:t>max </a:t>
            </a:r>
            <a:r>
              <a:rPr lang="ru-RU" b="1" dirty="0"/>
              <a:t>по стоимости числа вещей в рюкзак методом ветвей и границ стоимостью не более 6500 УЕ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539552" y="1108329"/>
          <a:ext cx="2615952" cy="1528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7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Century Gothic" pitchFamily="34" charset="0"/>
                        </a:rPr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Century Gothic" pitchFamily="34" charset="0"/>
                        </a:rPr>
                        <a:t>Стоимость,</a:t>
                      </a:r>
                      <a:r>
                        <a:rPr lang="ru-RU" sz="1000" baseline="0" dirty="0">
                          <a:latin typeface="Century Gothic" pitchFamily="34" charset="0"/>
                        </a:rPr>
                        <a:t> УЕ</a:t>
                      </a:r>
                      <a:endParaRPr lang="ru-RU" sz="1000" dirty="0">
                        <a:latin typeface="Century Gothic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000"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Century Gothic" pitchFamily="34" charset="0"/>
                        </a:rPr>
                        <a:t>Книга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Century Gothic" pitchFamily="34" charset="0"/>
                        </a:rPr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92"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Century Gothic" pitchFamily="34" charset="0"/>
                        </a:rPr>
                        <a:t>Бинокль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Century Gothic" pitchFamily="34" charset="0"/>
                        </a:rPr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Century Gothic" pitchFamily="34" charset="0"/>
                        </a:rPr>
                        <a:t>Аптечка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Century Gothic" pitchFamily="34" charset="0"/>
                        </a:rPr>
                        <a:t>1500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208"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Century Gothic" pitchFamily="34" charset="0"/>
                        </a:rPr>
                        <a:t>Ноутбук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Century Gothic" pitchFamily="34" charset="0"/>
                        </a:rPr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424"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Century Gothic" pitchFamily="34" charset="0"/>
                        </a:rPr>
                        <a:t>Котелок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Century Gothic" pitchFamily="34" charset="0"/>
                        </a:rPr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3635896" y="1340768"/>
          <a:ext cx="4947717" cy="4067214"/>
        </p:xfrm>
        <a:graphic>
          <a:graphicData uri="http://schemas.openxmlformats.org/drawingml/2006/table">
            <a:tbl>
              <a:tblPr/>
              <a:tblGrid>
                <a:gridCol w="367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18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6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6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8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66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18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4774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шаг 1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шаг 2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шаг 2 итог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шаг 3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шаг 3 итог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шаг 4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шаг 4 итог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достигнут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7100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6100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10100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6100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10100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6100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11100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6100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11100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5100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10100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5100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10100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превышен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достигнут максимум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02085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1100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104" marR="5104" marT="51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3888" y="1052736"/>
            <a:ext cx="53799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Приведена часть дерева, т.к. дальше будет дублирование, но с другой стороны: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5896" y="5445224"/>
            <a:ext cx="26484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Берем бинокль (5000) и аптечку (1500)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332656"/>
            <a:ext cx="7848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Задача 6. Между 4 объектами необходимо проложить 6 дорог так, чтобы существовал хотя бы один путь между любыми двумя объектами.</a:t>
            </a:r>
          </a:p>
          <a:p>
            <a:r>
              <a:rPr lang="ru-RU" b="1" dirty="0"/>
              <a:t>Построить планарный граф.</a:t>
            </a:r>
          </a:p>
        </p:txBody>
      </p:sp>
      <p:sp>
        <p:nvSpPr>
          <p:cNvPr id="5" name="Овал 4"/>
          <p:cNvSpPr/>
          <p:nvPr/>
        </p:nvSpPr>
        <p:spPr>
          <a:xfrm>
            <a:off x="1115616" y="1556792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ru-RU" dirty="0"/>
          </a:p>
        </p:txBody>
      </p:sp>
      <p:sp>
        <p:nvSpPr>
          <p:cNvPr id="6" name="Овал 5"/>
          <p:cNvSpPr/>
          <p:nvPr/>
        </p:nvSpPr>
        <p:spPr>
          <a:xfrm>
            <a:off x="2699792" y="1556792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ru-RU" dirty="0"/>
          </a:p>
        </p:txBody>
      </p:sp>
      <p:sp>
        <p:nvSpPr>
          <p:cNvPr id="7" name="Овал 6"/>
          <p:cNvSpPr/>
          <p:nvPr/>
        </p:nvSpPr>
        <p:spPr>
          <a:xfrm>
            <a:off x="1115616" y="2636912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2699792" y="2636912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ru-RU" dirty="0"/>
          </a:p>
        </p:txBody>
      </p:sp>
      <p:cxnSp>
        <p:nvCxnSpPr>
          <p:cNvPr id="26" name="Shape 25"/>
          <p:cNvCxnSpPr>
            <a:stCxn id="5" idx="2"/>
            <a:endCxn id="8" idx="4"/>
          </p:cNvCxnSpPr>
          <p:nvPr/>
        </p:nvCxnSpPr>
        <p:spPr>
          <a:xfrm rot="10800000" flipH="1" flipV="1">
            <a:off x="1115616" y="1700808"/>
            <a:ext cx="1728192" cy="1224136"/>
          </a:xfrm>
          <a:prstGeom prst="curvedConnector4">
            <a:avLst>
              <a:gd name="adj1" fmla="val -12527"/>
              <a:gd name="adj2" fmla="val 12510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5" idx="6"/>
            <a:endCxn id="6" idx="2"/>
          </p:cNvCxnSpPr>
          <p:nvPr/>
        </p:nvCxnSpPr>
        <p:spPr>
          <a:xfrm>
            <a:off x="1403648" y="1700808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5" idx="4"/>
            <a:endCxn id="7" idx="0"/>
          </p:cNvCxnSpPr>
          <p:nvPr/>
        </p:nvCxnSpPr>
        <p:spPr>
          <a:xfrm>
            <a:off x="1259632" y="1844824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6" idx="4"/>
            <a:endCxn id="8" idx="0"/>
          </p:cNvCxnSpPr>
          <p:nvPr/>
        </p:nvCxnSpPr>
        <p:spPr>
          <a:xfrm>
            <a:off x="2843808" y="1844824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>
            <a:stCxn id="7" idx="6"/>
            <a:endCxn id="8" idx="2"/>
          </p:cNvCxnSpPr>
          <p:nvPr/>
        </p:nvCxnSpPr>
        <p:spPr>
          <a:xfrm>
            <a:off x="1403648" y="2780928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6" idx="3"/>
          </p:cNvCxnSpPr>
          <p:nvPr/>
        </p:nvCxnSpPr>
        <p:spPr>
          <a:xfrm flipH="1">
            <a:off x="1403648" y="1802643"/>
            <a:ext cx="1338325" cy="906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331640" y="1268760"/>
            <a:ext cx="1540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Century Gothic" pitchFamily="34" charset="0"/>
              </a:rPr>
              <a:t>неориентированный</a:t>
            </a:r>
          </a:p>
        </p:txBody>
      </p:sp>
      <p:sp>
        <p:nvSpPr>
          <p:cNvPr id="45" name="Овал 44"/>
          <p:cNvSpPr/>
          <p:nvPr/>
        </p:nvSpPr>
        <p:spPr>
          <a:xfrm>
            <a:off x="5004048" y="1556792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ru-RU" dirty="0"/>
          </a:p>
        </p:txBody>
      </p:sp>
      <p:sp>
        <p:nvSpPr>
          <p:cNvPr id="46" name="Овал 45"/>
          <p:cNvSpPr/>
          <p:nvPr/>
        </p:nvSpPr>
        <p:spPr>
          <a:xfrm>
            <a:off x="6588224" y="1556792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5004048" y="2636912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ru-RU" dirty="0"/>
          </a:p>
        </p:txBody>
      </p:sp>
      <p:sp>
        <p:nvSpPr>
          <p:cNvPr id="48" name="Овал 47"/>
          <p:cNvSpPr/>
          <p:nvPr/>
        </p:nvSpPr>
        <p:spPr>
          <a:xfrm>
            <a:off x="6588224" y="2636912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ru-RU" dirty="0"/>
          </a:p>
        </p:txBody>
      </p:sp>
      <p:sp>
        <p:nvSpPr>
          <p:cNvPr id="55" name="TextBox 54"/>
          <p:cNvSpPr txBox="1"/>
          <p:nvPr/>
        </p:nvSpPr>
        <p:spPr>
          <a:xfrm>
            <a:off x="4644008" y="1124744"/>
            <a:ext cx="2634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00" b="1" dirty="0">
                <a:latin typeface="Century Gothic" pitchFamily="34" charset="0"/>
              </a:rPr>
              <a:t>ориентированный</a:t>
            </a:r>
          </a:p>
          <a:p>
            <a:pPr algn="ctr"/>
            <a:r>
              <a:rPr lang="ru-RU" sz="1000" b="1" dirty="0">
                <a:latin typeface="Century Gothic" pitchFamily="34" charset="0"/>
              </a:rPr>
              <a:t>(либо так, либо нужно больше дорог)</a:t>
            </a:r>
          </a:p>
        </p:txBody>
      </p:sp>
      <p:cxnSp>
        <p:nvCxnSpPr>
          <p:cNvPr id="65" name="Прямая со стрелкой 64"/>
          <p:cNvCxnSpPr>
            <a:stCxn id="45" idx="6"/>
            <a:endCxn id="46" idx="2"/>
          </p:cNvCxnSpPr>
          <p:nvPr/>
        </p:nvCxnSpPr>
        <p:spPr>
          <a:xfrm>
            <a:off x="5292080" y="1700808"/>
            <a:ext cx="1296144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/>
          <p:cNvCxnSpPr>
            <a:stCxn id="46" idx="4"/>
            <a:endCxn id="48" idx="0"/>
          </p:cNvCxnSpPr>
          <p:nvPr/>
        </p:nvCxnSpPr>
        <p:spPr>
          <a:xfrm>
            <a:off x="6732240" y="1844824"/>
            <a:ext cx="0" cy="7920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 стрелкой 68"/>
          <p:cNvCxnSpPr>
            <a:stCxn id="48" idx="2"/>
            <a:endCxn id="47" idx="6"/>
          </p:cNvCxnSpPr>
          <p:nvPr/>
        </p:nvCxnSpPr>
        <p:spPr>
          <a:xfrm flipH="1">
            <a:off x="5292080" y="2780928"/>
            <a:ext cx="1296144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/>
          <p:cNvCxnSpPr>
            <a:stCxn id="45" idx="4"/>
            <a:endCxn id="47" idx="0"/>
          </p:cNvCxnSpPr>
          <p:nvPr/>
        </p:nvCxnSpPr>
        <p:spPr>
          <a:xfrm>
            <a:off x="5148064" y="1844824"/>
            <a:ext cx="0" cy="7920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/>
          <p:cNvCxnSpPr>
            <a:stCxn id="46" idx="3"/>
            <a:endCxn id="47" idx="7"/>
          </p:cNvCxnSpPr>
          <p:nvPr/>
        </p:nvCxnSpPr>
        <p:spPr>
          <a:xfrm flipH="1">
            <a:off x="5249899" y="1802643"/>
            <a:ext cx="1380506" cy="8764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Скругленная соединительная линия 74"/>
          <p:cNvCxnSpPr>
            <a:stCxn id="45" idx="2"/>
            <a:endCxn id="48" idx="4"/>
          </p:cNvCxnSpPr>
          <p:nvPr/>
        </p:nvCxnSpPr>
        <p:spPr>
          <a:xfrm rot="10800000" flipH="1" flipV="1">
            <a:off x="5004048" y="1700808"/>
            <a:ext cx="1728192" cy="1224136"/>
          </a:xfrm>
          <a:prstGeom prst="curvedConnector4">
            <a:avLst>
              <a:gd name="adj1" fmla="val -15681"/>
              <a:gd name="adj2" fmla="val 134504"/>
            </a:avLst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8749" y="576200"/>
            <a:ext cx="82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Задача </a:t>
            </a:r>
            <a:r>
              <a:rPr lang="en-US" b="1" dirty="0"/>
              <a:t>7</a:t>
            </a:r>
            <a:r>
              <a:rPr lang="ru-RU" b="1" dirty="0"/>
              <a:t>. Предложите Ваш вариант стохастического графа покупки авиабилетов.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2765" y="1080256"/>
            <a:ext cx="23358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Ключевые шаги пользователя:</a:t>
            </a:r>
          </a:p>
          <a:p>
            <a:pPr>
              <a:buFontTx/>
              <a:buChar char="-"/>
            </a:pPr>
            <a:r>
              <a:rPr lang="ru-RU" sz="1000" dirty="0">
                <a:latin typeface="Century Gothic" pitchFamily="34" charset="0"/>
              </a:rPr>
              <a:t>Регистрация в системе</a:t>
            </a:r>
          </a:p>
          <a:p>
            <a:pPr>
              <a:buFontTx/>
              <a:buChar char="-"/>
            </a:pPr>
            <a:r>
              <a:rPr lang="ru-RU" sz="1000" dirty="0">
                <a:latin typeface="Century Gothic" pitchFamily="34" charset="0"/>
              </a:rPr>
              <a:t>Выбор маршрута</a:t>
            </a:r>
          </a:p>
          <a:p>
            <a:pPr>
              <a:buFontTx/>
              <a:buChar char="-"/>
            </a:pPr>
            <a:r>
              <a:rPr lang="ru-RU" sz="1000" dirty="0">
                <a:latin typeface="Century Gothic" pitchFamily="34" charset="0"/>
              </a:rPr>
              <a:t>Выбор даты/времени</a:t>
            </a:r>
          </a:p>
          <a:p>
            <a:pPr>
              <a:buFontTx/>
              <a:buChar char="-"/>
            </a:pPr>
            <a:r>
              <a:rPr lang="ru-RU" sz="1000" dirty="0">
                <a:latin typeface="Century Gothic" pitchFamily="34" charset="0"/>
              </a:rPr>
              <a:t>Выбор авиакомпании</a:t>
            </a:r>
          </a:p>
          <a:p>
            <a:pPr>
              <a:buFontTx/>
              <a:buChar char="-"/>
            </a:pPr>
            <a:r>
              <a:rPr lang="ru-RU" sz="1000" dirty="0">
                <a:latin typeface="Century Gothic" pitchFamily="34" charset="0"/>
              </a:rPr>
              <a:t>Выбор способа оплаты</a:t>
            </a:r>
          </a:p>
          <a:p>
            <a:pPr>
              <a:buFontTx/>
              <a:buChar char="-"/>
            </a:pPr>
            <a:r>
              <a:rPr lang="ru-RU" sz="1000" dirty="0">
                <a:latin typeface="Century Gothic" pitchFamily="34" charset="0"/>
              </a:rPr>
              <a:t>Оплата</a:t>
            </a:r>
          </a:p>
          <a:p>
            <a:pPr>
              <a:buFontTx/>
              <a:buChar char="-"/>
            </a:pPr>
            <a:r>
              <a:rPr lang="ru-RU" sz="1000" dirty="0">
                <a:latin typeface="Century Gothic" pitchFamily="34" charset="0"/>
              </a:rPr>
              <a:t>Получение электронного билета</a:t>
            </a:r>
          </a:p>
        </p:txBody>
      </p:sp>
      <p:sp>
        <p:nvSpPr>
          <p:cNvPr id="6" name="Овал 5"/>
          <p:cNvSpPr/>
          <p:nvPr/>
        </p:nvSpPr>
        <p:spPr>
          <a:xfrm>
            <a:off x="5279309" y="1152264"/>
            <a:ext cx="1080000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00" b="1" dirty="0" err="1">
                <a:latin typeface="Century Gothic" pitchFamily="34" charset="0"/>
              </a:rPr>
              <a:t>Реги-страция</a:t>
            </a:r>
            <a:endParaRPr lang="ru-RU" sz="700" b="1" dirty="0">
              <a:latin typeface="Century Gothic" pitchFamily="34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3263085" y="2376400"/>
            <a:ext cx="1080120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00" b="1" dirty="0">
                <a:latin typeface="Century Gothic" pitchFamily="34" charset="0"/>
              </a:rPr>
              <a:t>Маршрут</a:t>
            </a:r>
          </a:p>
        </p:txBody>
      </p:sp>
      <p:sp>
        <p:nvSpPr>
          <p:cNvPr id="9" name="Овал 8"/>
          <p:cNvSpPr/>
          <p:nvPr/>
        </p:nvSpPr>
        <p:spPr>
          <a:xfrm>
            <a:off x="7367541" y="2376400"/>
            <a:ext cx="1080000" cy="50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00" b="1" dirty="0">
                <a:latin typeface="Century Gothic" pitchFamily="34" charset="0"/>
              </a:rPr>
              <a:t>Дата/время</a:t>
            </a:r>
          </a:p>
        </p:txBody>
      </p:sp>
      <p:sp>
        <p:nvSpPr>
          <p:cNvPr id="10" name="Овал 9"/>
          <p:cNvSpPr/>
          <p:nvPr/>
        </p:nvSpPr>
        <p:spPr>
          <a:xfrm>
            <a:off x="5279309" y="2088368"/>
            <a:ext cx="1080000" cy="50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00" b="1" dirty="0">
                <a:latin typeface="Century Gothic" pitchFamily="34" charset="0"/>
              </a:rPr>
              <a:t>Авиакомпания</a:t>
            </a:r>
          </a:p>
        </p:txBody>
      </p:sp>
      <p:sp>
        <p:nvSpPr>
          <p:cNvPr id="11" name="Овал 10"/>
          <p:cNvSpPr/>
          <p:nvPr/>
        </p:nvSpPr>
        <p:spPr>
          <a:xfrm>
            <a:off x="5279309" y="3384512"/>
            <a:ext cx="1080000" cy="50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00" b="1" dirty="0">
                <a:latin typeface="Century Gothic" pitchFamily="34" charset="0"/>
              </a:rPr>
              <a:t>Способ оплаты</a:t>
            </a:r>
          </a:p>
        </p:txBody>
      </p:sp>
      <p:sp>
        <p:nvSpPr>
          <p:cNvPr id="12" name="Овал 11"/>
          <p:cNvSpPr/>
          <p:nvPr/>
        </p:nvSpPr>
        <p:spPr>
          <a:xfrm>
            <a:off x="4211960" y="4149080"/>
            <a:ext cx="1080000" cy="50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00" b="1" dirty="0">
                <a:latin typeface="Century Gothic" pitchFamily="34" charset="0"/>
              </a:rPr>
              <a:t>Оплата</a:t>
            </a:r>
          </a:p>
        </p:txBody>
      </p:sp>
      <p:sp>
        <p:nvSpPr>
          <p:cNvPr id="13" name="Овал 12"/>
          <p:cNvSpPr/>
          <p:nvPr/>
        </p:nvSpPr>
        <p:spPr>
          <a:xfrm>
            <a:off x="6575453" y="4104592"/>
            <a:ext cx="1080000" cy="50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00" b="1" dirty="0">
                <a:latin typeface="Century Gothic" pitchFamily="34" charset="0"/>
              </a:rPr>
              <a:t>Билет</a:t>
            </a:r>
          </a:p>
        </p:txBody>
      </p:sp>
      <p:cxnSp>
        <p:nvCxnSpPr>
          <p:cNvPr id="15" name="Прямая со стрелкой 14"/>
          <p:cNvCxnSpPr>
            <a:stCxn id="6" idx="3"/>
          </p:cNvCxnSpPr>
          <p:nvPr/>
        </p:nvCxnSpPr>
        <p:spPr>
          <a:xfrm flipH="1">
            <a:off x="3983165" y="1582503"/>
            <a:ext cx="1454306" cy="7938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>
            <a:stCxn id="6" idx="4"/>
            <a:endCxn id="10" idx="0"/>
          </p:cNvCxnSpPr>
          <p:nvPr/>
        </p:nvCxnSpPr>
        <p:spPr>
          <a:xfrm>
            <a:off x="5819309" y="1656320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stCxn id="6" idx="5"/>
          </p:cNvCxnSpPr>
          <p:nvPr/>
        </p:nvCxnSpPr>
        <p:spPr>
          <a:xfrm>
            <a:off x="6201147" y="1582503"/>
            <a:ext cx="1454426" cy="7938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stCxn id="8" idx="7"/>
            <a:endCxn id="10" idx="2"/>
          </p:cNvCxnSpPr>
          <p:nvPr/>
        </p:nvCxnSpPr>
        <p:spPr>
          <a:xfrm flipV="1">
            <a:off x="4185025" y="2340368"/>
            <a:ext cx="1094284" cy="10984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8" idx="6"/>
            <a:endCxn id="9" idx="2"/>
          </p:cNvCxnSpPr>
          <p:nvPr/>
        </p:nvCxnSpPr>
        <p:spPr>
          <a:xfrm flipV="1">
            <a:off x="4343205" y="2628400"/>
            <a:ext cx="3024336" cy="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stCxn id="10" idx="6"/>
            <a:endCxn id="9" idx="1"/>
          </p:cNvCxnSpPr>
          <p:nvPr/>
        </p:nvCxnSpPr>
        <p:spPr>
          <a:xfrm>
            <a:off x="6359309" y="2340368"/>
            <a:ext cx="1166394" cy="10984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8" idx="4"/>
            <a:endCxn id="11" idx="1"/>
          </p:cNvCxnSpPr>
          <p:nvPr/>
        </p:nvCxnSpPr>
        <p:spPr>
          <a:xfrm>
            <a:off x="3803145" y="2880456"/>
            <a:ext cx="1634326" cy="57786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stCxn id="10" idx="4"/>
            <a:endCxn id="11" idx="0"/>
          </p:cNvCxnSpPr>
          <p:nvPr/>
        </p:nvCxnSpPr>
        <p:spPr>
          <a:xfrm>
            <a:off x="5819309" y="2592368"/>
            <a:ext cx="0" cy="79214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9" idx="4"/>
            <a:endCxn id="11" idx="7"/>
          </p:cNvCxnSpPr>
          <p:nvPr/>
        </p:nvCxnSpPr>
        <p:spPr>
          <a:xfrm flipH="1">
            <a:off x="6201147" y="2880400"/>
            <a:ext cx="1706394" cy="57792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stCxn id="11" idx="3"/>
            <a:endCxn id="12" idx="7"/>
          </p:cNvCxnSpPr>
          <p:nvPr/>
        </p:nvCxnSpPr>
        <p:spPr>
          <a:xfrm flipH="1">
            <a:off x="5133798" y="3814703"/>
            <a:ext cx="303673" cy="40818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>
            <a:stCxn id="12" idx="6"/>
            <a:endCxn id="13" idx="2"/>
          </p:cNvCxnSpPr>
          <p:nvPr/>
        </p:nvCxnSpPr>
        <p:spPr>
          <a:xfrm flipV="1">
            <a:off x="5291960" y="4356592"/>
            <a:ext cx="1283493" cy="444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59229" y="1728328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0,</a:t>
            </a:r>
            <a:r>
              <a:rPr lang="en-US" sz="1000" dirty="0">
                <a:latin typeface="Century Gothic" pitchFamily="34" charset="0"/>
              </a:rPr>
              <a:t>4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91477" y="1728328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0,</a:t>
            </a:r>
            <a:r>
              <a:rPr lang="en-US" sz="1000" dirty="0">
                <a:latin typeface="Century Gothic" pitchFamily="34" charset="0"/>
              </a:rPr>
              <a:t>3</a:t>
            </a:r>
            <a:endParaRPr lang="ru-RU" sz="1000" dirty="0">
              <a:latin typeface="Century Gothic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495333" y="1800336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0,1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7221" y="2952464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0,4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07301" y="2592424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0,8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3245" y="2160376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0,2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19469" y="2160376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0,8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35493" y="2952464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0,2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11357" y="2880456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0,8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63285" y="3816560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0,8</a:t>
            </a:r>
          </a:p>
        </p:txBody>
      </p:sp>
      <p:cxnSp>
        <p:nvCxnSpPr>
          <p:cNvPr id="60" name="Shape 59"/>
          <p:cNvCxnSpPr>
            <a:stCxn id="6" idx="0"/>
            <a:endCxn id="6" idx="2"/>
          </p:cNvCxnSpPr>
          <p:nvPr/>
        </p:nvCxnSpPr>
        <p:spPr>
          <a:xfrm rot="16200000" flipH="1" flipV="1">
            <a:off x="5423295" y="1008278"/>
            <a:ext cx="252028" cy="540000"/>
          </a:xfrm>
          <a:prstGeom prst="curvedConnector4">
            <a:avLst>
              <a:gd name="adj1" fmla="val -90704"/>
              <a:gd name="adj2" fmla="val 14233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991277" y="1008248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0,2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11357" y="4176600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entury Gothic" pitchFamily="34" charset="0"/>
              </a:rPr>
              <a:t>1</a:t>
            </a:r>
            <a:endParaRPr lang="ru-RU" sz="1000" dirty="0">
              <a:latin typeface="Century Gothic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116632"/>
            <a:ext cx="83529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Задача </a:t>
            </a:r>
            <a:r>
              <a:rPr lang="en-US" sz="1600" b="1" dirty="0"/>
              <a:t>8</a:t>
            </a:r>
            <a:r>
              <a:rPr lang="ru-RU" sz="1600" b="1" dirty="0"/>
              <a:t>. Описание нечеткой переменной.</a:t>
            </a:r>
          </a:p>
          <a:p>
            <a:r>
              <a:rPr lang="ru-RU" sz="1600" b="1" dirty="0"/>
              <a:t>Привести пример расчета для </a:t>
            </a:r>
            <a:r>
              <a:rPr lang="en-US" sz="1600" b="1" dirty="0"/>
              <a:t>G-</a:t>
            </a:r>
            <a:r>
              <a:rPr lang="ru-RU" sz="1600" b="1" dirty="0"/>
              <a:t>функций «НЕ», «ОЧЕНЬ», «Более-менее», «Не очень»</a:t>
            </a:r>
          </a:p>
          <a:p>
            <a:r>
              <a:rPr lang="ru-RU" sz="1600" b="1" dirty="0"/>
              <a:t>Построить графическое представление нечетких множеств</a:t>
            </a:r>
          </a:p>
          <a:p>
            <a:endParaRPr lang="ru-RU" sz="1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1340768"/>
            <a:ext cx="338437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Century Gothic" pitchFamily="34" charset="0"/>
              </a:rPr>
              <a:t>Нечеткая переменная </a:t>
            </a:r>
            <a:r>
              <a:rPr lang="el-GR" sz="1000" dirty="0">
                <a:latin typeface="Century Gothic" pitchFamily="34" charset="0"/>
              </a:rPr>
              <a:t>α </a:t>
            </a:r>
            <a:r>
              <a:rPr lang="ru-RU" sz="1000" dirty="0">
                <a:latin typeface="Century Gothic" pitchFamily="34" charset="0"/>
              </a:rPr>
              <a:t>= цена одной пары туфель</a:t>
            </a:r>
            <a:r>
              <a:rPr lang="en-US" sz="1000" dirty="0">
                <a:latin typeface="Century Gothic" pitchFamily="34" charset="0"/>
              </a:rPr>
              <a:t> </a:t>
            </a:r>
            <a:r>
              <a:rPr lang="ru-RU" sz="1000" dirty="0">
                <a:latin typeface="Century Gothic" pitchFamily="34" charset="0"/>
              </a:rPr>
              <a:t>в рублях</a:t>
            </a:r>
          </a:p>
          <a:p>
            <a:r>
              <a:rPr lang="en-US" sz="1000" dirty="0">
                <a:latin typeface="Century Gothic" pitchFamily="34" charset="0"/>
              </a:rPr>
              <a:t>X = {0; 1 000 000}</a:t>
            </a:r>
            <a:endParaRPr lang="ru-RU" sz="1000" dirty="0">
              <a:latin typeface="Century Gothic" pitchFamily="34" charset="0"/>
            </a:endParaRPr>
          </a:p>
          <a:p>
            <a:endParaRPr lang="ru-RU" sz="1000" dirty="0">
              <a:latin typeface="Century Gothic" pitchFamily="34" charset="0"/>
            </a:endParaRPr>
          </a:p>
          <a:p>
            <a:r>
              <a:rPr lang="ru-RU" sz="1000" dirty="0" err="1">
                <a:latin typeface="Century Gothic" pitchFamily="34" charset="0"/>
              </a:rPr>
              <a:t>х</a:t>
            </a:r>
            <a:r>
              <a:rPr lang="ru-RU" sz="1000" dirty="0">
                <a:latin typeface="Century Gothic" pitchFamily="34" charset="0"/>
              </a:rPr>
              <a:t> (даром) = </a:t>
            </a:r>
            <a:r>
              <a:rPr lang="en-US" sz="1000" dirty="0">
                <a:latin typeface="Century Gothic" pitchFamily="34" charset="0"/>
              </a:rPr>
              <a:t>{0; 500}</a:t>
            </a:r>
          </a:p>
          <a:p>
            <a:r>
              <a:rPr lang="en-US" sz="1000" dirty="0">
                <a:latin typeface="Century Gothic" pitchFamily="34" charset="0"/>
              </a:rPr>
              <a:t>x </a:t>
            </a:r>
            <a:r>
              <a:rPr lang="ru-RU" sz="1000" dirty="0">
                <a:latin typeface="Century Gothic" pitchFamily="34" charset="0"/>
              </a:rPr>
              <a:t>(дешёво) = </a:t>
            </a:r>
            <a:r>
              <a:rPr lang="en-US" sz="1000" dirty="0">
                <a:latin typeface="Century Gothic" pitchFamily="34" charset="0"/>
              </a:rPr>
              <a:t>{1; 4 000}</a:t>
            </a:r>
          </a:p>
          <a:p>
            <a:r>
              <a:rPr lang="en-US" sz="1000" dirty="0">
                <a:latin typeface="Century Gothic" pitchFamily="34" charset="0"/>
              </a:rPr>
              <a:t>x </a:t>
            </a:r>
            <a:r>
              <a:rPr lang="ru-RU" sz="1000" dirty="0">
                <a:latin typeface="Century Gothic" pitchFamily="34" charset="0"/>
              </a:rPr>
              <a:t>(средне) = </a:t>
            </a:r>
            <a:r>
              <a:rPr lang="en-US" sz="1000" dirty="0">
                <a:latin typeface="Century Gothic" pitchFamily="34" charset="0"/>
              </a:rPr>
              <a:t>{</a:t>
            </a:r>
            <a:r>
              <a:rPr lang="ru-RU" sz="1000" dirty="0">
                <a:latin typeface="Century Gothic" pitchFamily="34" charset="0"/>
              </a:rPr>
              <a:t>2 000</a:t>
            </a:r>
            <a:r>
              <a:rPr lang="en-US" sz="1000" dirty="0">
                <a:latin typeface="Century Gothic" pitchFamily="34" charset="0"/>
              </a:rPr>
              <a:t>; 15 000}</a:t>
            </a:r>
          </a:p>
          <a:p>
            <a:r>
              <a:rPr lang="en-US" sz="1000" dirty="0">
                <a:latin typeface="Century Gothic" pitchFamily="34" charset="0"/>
              </a:rPr>
              <a:t>x </a:t>
            </a:r>
            <a:r>
              <a:rPr lang="ru-RU" sz="1000" dirty="0">
                <a:latin typeface="Century Gothic" pitchFamily="34" charset="0"/>
              </a:rPr>
              <a:t>(дорого) = </a:t>
            </a:r>
            <a:r>
              <a:rPr lang="en-US" sz="1000" dirty="0">
                <a:latin typeface="Century Gothic" pitchFamily="34" charset="0"/>
              </a:rPr>
              <a:t>{</a:t>
            </a:r>
            <a:r>
              <a:rPr lang="ru-RU" sz="1000" dirty="0">
                <a:latin typeface="Century Gothic" pitchFamily="34" charset="0"/>
              </a:rPr>
              <a:t>8 000</a:t>
            </a:r>
            <a:r>
              <a:rPr lang="en-US" sz="1000" dirty="0">
                <a:latin typeface="Century Gothic" pitchFamily="34" charset="0"/>
              </a:rPr>
              <a:t>; 150 000}</a:t>
            </a:r>
          </a:p>
          <a:p>
            <a:r>
              <a:rPr lang="en-US" sz="1000" dirty="0">
                <a:latin typeface="Century Gothic" pitchFamily="34" charset="0"/>
              </a:rPr>
              <a:t>x </a:t>
            </a:r>
            <a:r>
              <a:rPr lang="ru-RU" sz="1000" dirty="0">
                <a:latin typeface="Century Gothic" pitchFamily="34" charset="0"/>
              </a:rPr>
              <a:t>(очень дорого) = </a:t>
            </a:r>
            <a:r>
              <a:rPr lang="en-US" sz="1000" dirty="0">
                <a:latin typeface="Century Gothic" pitchFamily="34" charset="0"/>
              </a:rPr>
              <a:t>{</a:t>
            </a:r>
            <a:r>
              <a:rPr lang="ru-RU" sz="1000" dirty="0">
                <a:latin typeface="Century Gothic" pitchFamily="34" charset="0"/>
              </a:rPr>
              <a:t>80 000</a:t>
            </a:r>
            <a:r>
              <a:rPr lang="en-US" sz="1000" dirty="0">
                <a:latin typeface="Century Gothic" pitchFamily="34" charset="0"/>
              </a:rPr>
              <a:t>; 500 000}</a:t>
            </a:r>
            <a:endParaRPr lang="ru-RU" sz="1000" dirty="0">
              <a:latin typeface="Century Gothic" pitchFamily="34" charset="0"/>
            </a:endParaRPr>
          </a:p>
          <a:p>
            <a:endParaRPr lang="en-US" sz="1000" dirty="0">
              <a:latin typeface="Century Gothic" pitchFamily="34" charset="0"/>
            </a:endParaRPr>
          </a:p>
          <a:p>
            <a:r>
              <a:rPr lang="en-US" sz="1000" dirty="0">
                <a:latin typeface="Century Gothic" pitchFamily="34" charset="0"/>
              </a:rPr>
              <a:t>x(</a:t>
            </a:r>
            <a:r>
              <a:rPr lang="ru-RU" sz="1000" dirty="0">
                <a:latin typeface="Century Gothic" pitchFamily="34" charset="0"/>
              </a:rPr>
              <a:t>даром) = 200 000, µ</a:t>
            </a:r>
            <a:r>
              <a:rPr lang="en-US" sz="1000" dirty="0">
                <a:latin typeface="Century Gothic" pitchFamily="34" charset="0"/>
              </a:rPr>
              <a:t>A(x</a:t>
            </a:r>
            <a:r>
              <a:rPr lang="ru-RU" sz="1000" dirty="0">
                <a:latin typeface="Century Gothic" pitchFamily="34" charset="0"/>
              </a:rPr>
              <a:t>) = 0</a:t>
            </a:r>
          </a:p>
          <a:p>
            <a:r>
              <a:rPr lang="en-US" sz="1000" dirty="0">
                <a:latin typeface="Century Gothic" pitchFamily="34" charset="0"/>
              </a:rPr>
              <a:t>x(</a:t>
            </a:r>
            <a:r>
              <a:rPr lang="ru-RU" sz="1000" dirty="0">
                <a:latin typeface="Century Gothic" pitchFamily="34" charset="0"/>
              </a:rPr>
              <a:t>даром) = 500, µ</a:t>
            </a:r>
            <a:r>
              <a:rPr lang="en-US" sz="1000" dirty="0">
                <a:latin typeface="Century Gothic" pitchFamily="34" charset="0"/>
              </a:rPr>
              <a:t>A(x</a:t>
            </a:r>
            <a:r>
              <a:rPr lang="ru-RU" sz="1000" dirty="0">
                <a:latin typeface="Century Gothic" pitchFamily="34" charset="0"/>
              </a:rPr>
              <a:t>) = 0,3</a:t>
            </a:r>
          </a:p>
          <a:p>
            <a:r>
              <a:rPr lang="en-US" sz="1000" dirty="0">
                <a:latin typeface="Century Gothic" pitchFamily="34" charset="0"/>
              </a:rPr>
              <a:t>x(</a:t>
            </a:r>
            <a:r>
              <a:rPr lang="ru-RU" sz="1000" dirty="0">
                <a:latin typeface="Century Gothic" pitchFamily="34" charset="0"/>
              </a:rPr>
              <a:t>дорого) = 10 000, µ</a:t>
            </a:r>
            <a:r>
              <a:rPr lang="en-US" sz="1000" dirty="0">
                <a:latin typeface="Century Gothic" pitchFamily="34" charset="0"/>
              </a:rPr>
              <a:t>A(x</a:t>
            </a:r>
            <a:r>
              <a:rPr lang="ru-RU" sz="1000" dirty="0">
                <a:latin typeface="Century Gothic" pitchFamily="34" charset="0"/>
              </a:rPr>
              <a:t>) = 0,4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3707904" y="1340768"/>
          <a:ext cx="4900275" cy="4065766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4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52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16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41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Цена</a:t>
                      </a:r>
                    </a:p>
                  </a:txBody>
                  <a:tcPr marL="7336" marR="7336" marT="7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Дешево</a:t>
                      </a:r>
                    </a:p>
                  </a:txBody>
                  <a:tcPr marL="7336" marR="7336" marT="7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Средне</a:t>
                      </a:r>
                    </a:p>
                  </a:txBody>
                  <a:tcPr marL="7336" marR="7336" marT="7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Дорого</a:t>
                      </a:r>
                    </a:p>
                  </a:txBody>
                  <a:tcPr marL="7336" marR="7336" marT="7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Недорогой</a:t>
                      </a:r>
                    </a:p>
                  </a:txBody>
                  <a:tcPr marL="7336" marR="7336" marT="7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Очень дорогой</a:t>
                      </a:r>
                    </a:p>
                  </a:txBody>
                  <a:tcPr marL="7336" marR="7336" marT="7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Более-менее дорогой</a:t>
                      </a:r>
                    </a:p>
                  </a:txBody>
                  <a:tcPr marL="7336" marR="7336" marT="7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Не очень дорогой</a:t>
                      </a:r>
                    </a:p>
                  </a:txBody>
                  <a:tcPr marL="7336" marR="7336" marT="7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руб.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µ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µ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µ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1 - </a:t>
                      </a:r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µ</a:t>
                      </a:r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(дорого)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(µ(дорого))</a:t>
                      </a:r>
                      <a:r>
                        <a:rPr lang="ru-RU" sz="600" b="1" i="0" u="none" strike="noStrike" baseline="30000">
                          <a:solidFill>
                            <a:srgbClr val="000000"/>
                          </a:solidFill>
                          <a:latin typeface="Century Gothic"/>
                        </a:rPr>
                        <a:t>2</a:t>
                      </a:r>
                      <a:endParaRPr lang="ru-RU" sz="600" b="1" i="0" u="none" strike="noStrike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√ µ(дорого)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√ ((µ(дорого))</a:t>
                      </a:r>
                      <a:r>
                        <a:rPr lang="ru-RU" sz="600" b="1" i="0" u="none" strike="noStrike" baseline="30000">
                          <a:solidFill>
                            <a:srgbClr val="000000"/>
                          </a:solidFill>
                          <a:latin typeface="Century Gothic"/>
                        </a:rPr>
                        <a:t>2</a:t>
                      </a:r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)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0,80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3000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0,40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0,30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4000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0,50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5000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0,70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0,01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0,32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0,99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6000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0,90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0,04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0,96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7000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0,70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0,09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0,91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8000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0,80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0,12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0,59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0,88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9000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0,70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0,16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0,63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0,84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10000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0,60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0,67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11000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0,50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0,71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0,75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12000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0,30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0,55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0,74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0,70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13000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0,60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0,36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0,77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0,64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14000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0,65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0,42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0,81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0,58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15000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0,70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0,49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0,84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0,51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16000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0,75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0,56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0,87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0,44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17000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0,80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0,64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0,89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0,36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18000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0,85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0,72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0,92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0,28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19000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0,90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0,81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0,19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20000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0,95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0,05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0,97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21000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0,98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0,02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0,96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0,99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0,04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22000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0,98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0,02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0,96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0,99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0,04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23000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0,98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0,02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0,96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0,99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0,04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24000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46715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25000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7336" marR="7336" marT="733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graphicFrame>
        <p:nvGraphicFramePr>
          <p:cNvPr id="11" name="Диаграмма 10"/>
          <p:cNvGraphicFramePr/>
          <p:nvPr/>
        </p:nvGraphicFramePr>
        <p:xfrm>
          <a:off x="251521" y="3356993"/>
          <a:ext cx="3384376" cy="18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Диаграмма 11"/>
          <p:cNvGraphicFramePr/>
          <p:nvPr/>
        </p:nvGraphicFramePr>
        <p:xfrm>
          <a:off x="251520" y="5058000"/>
          <a:ext cx="3384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16633"/>
            <a:ext cx="8352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Привести примеры сравнения, объединения, пересечения и разности множеств</a:t>
            </a:r>
          </a:p>
          <a:p>
            <a:endParaRPr lang="ru-RU" sz="1600" b="1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323528" y="620688"/>
          <a:ext cx="4752526" cy="4064006"/>
        </p:xfrm>
        <a:graphic>
          <a:graphicData uri="http://schemas.openxmlformats.org/drawingml/2006/table">
            <a:tbl>
              <a:tblPr/>
              <a:tblGrid>
                <a:gridCol w="432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20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298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Цена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Дешево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Средне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Дорого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Очень дорого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Сумма (дешево или средне)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Пересечение (средне и дорого)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Разность (средне и дорого)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Сравнение (очень дорого и дорого)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руб.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µ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µ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µ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(µ(дорого))</a:t>
                      </a:r>
                      <a:r>
                        <a:rPr lang="ru-RU" sz="600" b="1" i="0" u="none" strike="noStrike" baseline="30000">
                          <a:solidFill>
                            <a:srgbClr val="000000"/>
                          </a:solidFill>
                          <a:latin typeface="Century Gothic"/>
                        </a:rPr>
                        <a:t>2</a:t>
                      </a:r>
                      <a:endParaRPr lang="ru-RU" sz="600" b="1" i="0" u="none" strike="noStrike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3000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4000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5000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6000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7000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8000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9000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10000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11000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12000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13000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14000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15000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16000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17000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18000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0,72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19000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20000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21000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22000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23000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24000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42347"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25000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7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graphicFrame>
        <p:nvGraphicFramePr>
          <p:cNvPr id="7" name="Диаграмма 6"/>
          <p:cNvGraphicFramePr/>
          <p:nvPr/>
        </p:nvGraphicFramePr>
        <p:xfrm>
          <a:off x="5436096" y="980728"/>
          <a:ext cx="3456384" cy="216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Диаграмма 7"/>
          <p:cNvGraphicFramePr/>
          <p:nvPr/>
        </p:nvGraphicFramePr>
        <p:xfrm>
          <a:off x="5436096" y="3789040"/>
          <a:ext cx="3442518" cy="19804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580112" y="692696"/>
            <a:ext cx="2952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1" dirty="0"/>
              <a:t>Графическое представление суммы множеств</a:t>
            </a:r>
          </a:p>
          <a:p>
            <a:endParaRPr lang="ru-RU" sz="1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580112" y="3501008"/>
            <a:ext cx="29523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1" dirty="0"/>
              <a:t>Графическое представление пересечения и разности множеств</a:t>
            </a:r>
          </a:p>
          <a:p>
            <a:endParaRPr lang="ru-RU" sz="1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260648"/>
            <a:ext cx="8352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Задача 9. Построить нечеткое множество «игрок уверенной ИЛИ звездной техники»</a:t>
            </a:r>
          </a:p>
          <a:p>
            <a:r>
              <a:rPr lang="ru-RU" sz="1600" b="1" dirty="0"/>
              <a:t>Построить множество «Игрок среднего и высокого роста»</a:t>
            </a:r>
          </a:p>
          <a:p>
            <a:endParaRPr lang="ru-RU" sz="1600" b="1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67544" y="1124744"/>
          <a:ext cx="3384375" cy="2332193"/>
        </p:xfrm>
        <a:graphic>
          <a:graphicData uri="http://schemas.openxmlformats.org/drawingml/2006/table">
            <a:tbl>
              <a:tblPr/>
              <a:tblGrid>
                <a:gridCol w="494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1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78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21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Техника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Слабая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Уверенная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Звезда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Уверенная или звезда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419"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max ( 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µ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(</a:t>
                      </a:r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увер.); µ(звезда) 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419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419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419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419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419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419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419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3419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3419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3419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3419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4283968" y="1124744"/>
          <a:ext cx="3960439" cy="3613573"/>
        </p:xfrm>
        <a:graphic>
          <a:graphicData uri="http://schemas.openxmlformats.org/drawingml/2006/table">
            <a:tbl>
              <a:tblPr/>
              <a:tblGrid>
                <a:gridCol w="54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33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39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Рост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Низкий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Средний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Высокий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Очень высокий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Игрок среднего и высокого роста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min ( 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µ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(</a:t>
                      </a:r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сред.); µ(выс.) 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195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5843"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240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0,96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2202</Words>
  <Application>Microsoft Office PowerPoint</Application>
  <PresentationFormat>Экран (4:3)</PresentationFormat>
  <Paragraphs>1358</Paragraphs>
  <Slides>9</Slides>
  <Notes>0</Notes>
  <HiddenSlides>6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Century Gothic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Zverdvd.org</dc:creator>
  <cp:lastModifiedBy>Russia IAMCP</cp:lastModifiedBy>
  <cp:revision>48</cp:revision>
  <dcterms:created xsi:type="dcterms:W3CDTF">2020-11-12T07:09:41Z</dcterms:created>
  <dcterms:modified xsi:type="dcterms:W3CDTF">2020-11-13T12:21:44Z</dcterms:modified>
</cp:coreProperties>
</file>